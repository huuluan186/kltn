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x="18288000" cy="10287000"/>
  <p:notesSz cx="6858000" cy="9144000"/>
  <p:embeddedFontLst>
    <p:embeddedFont>
      <p:font typeface="Arial Bold" charset="1" panose="020B0704020202020204"/>
      <p:regular r:id="rId43"/>
    </p:embeddedFont>
    <p:embeddedFont>
      <p:font typeface="Aptos Bold" charset="1" panose="020B0004020202020204"/>
      <p:regular r:id="rId44"/>
    </p:embeddedFont>
    <p:embeddedFont>
      <p:font typeface="Times New Roman Bold" charset="1" panose="02020803070505020304"/>
      <p:regular r:id="rId45"/>
    </p:embeddedFont>
    <p:embeddedFont>
      <p:font typeface="Aptos" charset="1" panose="020B0004020202020204"/>
      <p:regular r:id="rId46"/>
    </p:embeddedFont>
    <p:embeddedFont>
      <p:font typeface="Arial" charset="1" panose="020B0604020202020204"/>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notesMasters/notesMaster1.xml" Type="http://schemas.openxmlformats.org/officeDocument/2006/relationships/notesMaster"/><Relationship Id="rId41" Target="theme/theme2.xml" Type="http://schemas.openxmlformats.org/officeDocument/2006/relationships/theme"/><Relationship Id="rId42" Target="notesSlides/notesSlide1.xml" Type="http://schemas.openxmlformats.org/officeDocument/2006/relationships/notesSlide"/><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notesSlides/notesSlide2.xml" Type="http://schemas.openxmlformats.org/officeDocument/2006/relationships/notesSlide"/><Relationship Id="rId48" Target="fonts/font48.fntdata" Type="http://schemas.openxmlformats.org/officeDocument/2006/relationships/font"/><Relationship Id="rId49" Target="notesSlides/notesSlide3.xml" Type="http://schemas.openxmlformats.org/officeDocument/2006/relationships/notesSlide"/><Relationship Id="rId5" Target="tableStyles.xml" Type="http://schemas.openxmlformats.org/officeDocument/2006/relationships/tableStyles"/><Relationship Id="rId50" Target="notesSlides/notesSlide4.xml" Type="http://schemas.openxmlformats.org/officeDocument/2006/relationships/notesSlide"/><Relationship Id="rId51" Target="notesSlides/notesSlide5.xml" Type="http://schemas.openxmlformats.org/officeDocument/2006/relationships/notesSlide"/><Relationship Id="rId52" Target="notesSlides/notesSlide6.xml" Type="http://schemas.openxmlformats.org/officeDocument/2006/relationships/notesSlide"/><Relationship Id="rId53" Target="notesSlides/notesSlide7.xml" Type="http://schemas.openxmlformats.org/officeDocument/2006/relationships/notesSlide"/><Relationship Id="rId54" Target="notesSlides/notesSlide8.xml" Type="http://schemas.openxmlformats.org/officeDocument/2006/relationships/notesSlide"/><Relationship Id="rId55" Target="notesSlides/notesSlide9.xml" Type="http://schemas.openxmlformats.org/officeDocument/2006/relationships/notesSlide"/><Relationship Id="rId56" Target="notesSlides/notesSlide10.xml" Type="http://schemas.openxmlformats.org/officeDocument/2006/relationships/notesSlide"/><Relationship Id="rId57" Target="notesSlides/notesSlide11.xml" Type="http://schemas.openxmlformats.org/officeDocument/2006/relationships/notesSlide"/><Relationship Id="rId58" Target="notesSlides/notesSlide12.xml" Type="http://schemas.openxmlformats.org/officeDocument/2006/relationships/notesSlide"/><Relationship Id="rId59" Target="notesSlides/notesSlide13.xml" Type="http://schemas.openxmlformats.org/officeDocument/2006/relationships/notesSlide"/><Relationship Id="rId6" Target="slides/slide1.xml" Type="http://schemas.openxmlformats.org/officeDocument/2006/relationships/slide"/><Relationship Id="rId60" Target="notesSlides/notesSlide14.xml" Type="http://schemas.openxmlformats.org/officeDocument/2006/relationships/notesSlide"/><Relationship Id="rId61" Target="notesSlides/notesSlide15.xml" Type="http://schemas.openxmlformats.org/officeDocument/2006/relationships/notesSlide"/><Relationship Id="rId62" Target="notesSlides/notesSlide16.xml" Type="http://schemas.openxmlformats.org/officeDocument/2006/relationships/notesSlide"/><Relationship Id="rId63" Target="notesSlides/notesSlide17.xml" Type="http://schemas.openxmlformats.org/officeDocument/2006/relationships/notesSlide"/><Relationship Id="rId64" Target="notesSlides/notesSlide18.xml" Type="http://schemas.openxmlformats.org/officeDocument/2006/relationships/notesSlide"/><Relationship Id="rId65" Target="notesSlides/notesSlide19.xml" Type="http://schemas.openxmlformats.org/officeDocument/2006/relationships/notesSlide"/><Relationship Id="rId66" Target="notesSlides/notesSlide20.xml" Type="http://schemas.openxmlformats.org/officeDocument/2006/relationships/notesSlide"/><Relationship Id="rId67" Target="notesSlides/notesSlide21.xml" Type="http://schemas.openxmlformats.org/officeDocument/2006/relationships/notesSlide"/><Relationship Id="rId68" Target="notesSlides/notesSlide22.xml" Type="http://schemas.openxmlformats.org/officeDocument/2006/relationships/notesSlide"/><Relationship Id="rId69" Target="notesSlides/notesSlide23.xml" Type="http://schemas.openxmlformats.org/officeDocument/2006/relationships/notesSlide"/><Relationship Id="rId7" Target="slides/slide2.xml" Type="http://schemas.openxmlformats.org/officeDocument/2006/relationships/slide"/><Relationship Id="rId70" Target="notesSlides/notesSlide24.xml" Type="http://schemas.openxmlformats.org/officeDocument/2006/relationships/notesSlide"/><Relationship Id="rId71" Target="notesSlides/notesSlide25.xml" Type="http://schemas.openxmlformats.org/officeDocument/2006/relationships/notesSlide"/><Relationship Id="rId72" Target="notesSlides/notesSlide26.xml" Type="http://schemas.openxmlformats.org/officeDocument/2006/relationships/notesSlide"/><Relationship Id="rId73" Target="notesSlides/notesSlide27.xml" Type="http://schemas.openxmlformats.org/officeDocument/2006/relationships/notesSlide"/><Relationship Id="rId74" Target="notesSlides/notesSlide28.xml" Type="http://schemas.openxmlformats.org/officeDocument/2006/relationships/notesSlide"/><Relationship Id="rId75" Target="notesSlides/notesSlide29.xml" Type="http://schemas.openxmlformats.org/officeDocument/2006/relationships/notesSlide"/><Relationship Id="rId76" Target="notesSlides/notesSlide30.xml" Type="http://schemas.openxmlformats.org/officeDocument/2006/relationships/notesSlide"/><Relationship Id="rId77" Target="notesSlides/notesSlide31.xml" Type="http://schemas.openxmlformats.org/officeDocument/2006/relationships/notesSlide"/><Relationship Id="rId78" Target="notesSlides/notesSlide32.xml" Type="http://schemas.openxmlformats.org/officeDocument/2006/relationships/notesSlide"/><Relationship Id="rId79" Target="notesSlides/notesSlide33.xml" Type="http://schemas.openxmlformats.org/officeDocument/2006/relationships/notesSlide"/><Relationship Id="rId8" Target="slides/slide3.xml" Type="http://schemas.openxmlformats.org/officeDocument/2006/relationships/slide"/><Relationship Id="rId80" Target="notesSlides/notesSlide34.xml" Type="http://schemas.openxmlformats.org/officeDocument/2006/relationships/note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Kính thưa Hội đồng, kính thưa quý thầy cô. Em là Phạm Hữu Luân, sinh viên lớp DA22TTA, mã số 110122016. Được sự hướng dẫn của cô Phạm Thị Trúc Mai, hôm nay em xin trình bày đồ án tốt nghiệp với đề tài "Xây dựng hệ thống cảnh báo nguy cơ dịch bệnh theo mùa dựa trên dữ liệu y tế và thời tiết toàn cầu".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Phần trình bày gồm năm phần: tổng quan đề tài, cơ sở lý thuyết, phân tích và thiết kế hệ thống, kết quả thực hiện, và cuối cùng là kết luận cùng hướng phát triển.</a:t>
            </a:r>
          </a:p>
          <a:p>
            <a:r>
              <a:rPr lang="en-US"/>
              <a:t>Phần một và hai đặt nền lý thuyết: vì sao thời tiết ảnh hưởng tới dịch bệnh và em dùng công cụ gì để dự báo. Phần ba là kiến trúc và cách dữ liệu đươc sử dụng trong hệ thống. Phần bốn là trọng tâm, gồm toàn bộ số liệu mô hình và sản phẩm chạy thực tế. Phần năm em tự đánh giá mặt được, mặt còn hạn chế và hướng đi tiếp. Em vào phần một.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"Bước vào phần thứ nhất, Tổng quan đề tài. Như quý vị đã biết, các Bệnh truyền nhiễm theo mùa là gánh nặng y tế rất lớn. Riêng cúm mùa mỗi năm gây từ 290.000 đến 650.000 ca tử vong, còn sốt xuất huyết ghi nhận khoảng 390M ca nhiễm. Điểm chung của hai bệnh này là bùng phát theo chu kỳ, gắn chặt với biến động thời tiết. Và quan trọng hơn, giữa lúc thời tiết thay đổi và lúc dịch thực sự bùng lên luôn có một khoảng trễ, thường từ 2-14 bốn tuần. Khoảng trễ đó chính là thời gian quý báo để can thiệp sớm. Nhưng các hệ thống giám sát hiện nay, như FluNet của WHO, chủ yếu báo cáo số ca sau khi dịch đã xảy ra, và không kết hợp dữ liệu khí hậu để nhìn về phía trước. Đó là khoảng trống mà đề tài này muốn giải quyết.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Từ khoảng trống đó, em đặt ra bốn mục tiêu. Một là xây dựng pipeline tự động thu thập và đồng bộ dữ liệu y tế cùng khí hậu ERA5 ở quy mô toàn cầu. </a:t>
            </a:r>
          </a:p>
          <a:p>
            <a:r>
              <a:rPr lang="en-US"/>
              <a:t>- Hai là dùng hàm tương quan chéo CCF (Cross-Correlation Function) để định lượng chính xác độ trễ của từng biến thời tiết với từng bệnh, thay vì phỏng đoán. </a:t>
            </a:r>
          </a:p>
          <a:p>
            <a:r>
              <a:rPr lang="en-US"/>
              <a:t>- Ba là huấn luyện và so sánh nhiều thuật toán học máy, gồm LightGBM, Random Forest và XGBoost, để dự báo số ca từ một đến bốn tuần tới. </a:t>
            </a:r>
          </a:p>
          <a:p>
            <a:r>
              <a:rPr lang="en-US"/>
              <a:t>- Và bốn là đóng gói thành một dashboard, hiển thị bản đồ cảnh báo ba mức Thấp, Trung bình, Cao, để người dùng bình thường cũng đọc được.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Về dữ liệu, Hệ thống dựa trên ba nguồn dữ liệu. Số ca cúm lấy từ WHO FluNet, phủ 197 quốc gia, cập nhật theo tuần. Số ca sốt xuất huyết lấy từ OpenDengue v1.3, tập trung ở vùng nhiệt đới; riêng Brazil đã chiếm 46% tổng số ca toàn cầu, một sự lệch rất mạnh mà lát nữa em phải xử lý. Về khí hậu, em dùng bộ tái phân tích ERA5 của Trung tâm Dự báo Thời tiết hạn vừa châu Âu, cung cấp 18 biến như nhiệt độ, điểm sương, lượng mưa, ở độ phân giải 0.25 độ, đủ mịn để ghép nhất quán với dữ liệu bệnh (dùng cho giai đoạn huấn luyện 2010 đến 2019). </a:t>
            </a:r>
          </a:p>
          <a:p>
            <a:r>
              <a:rPr lang="en-US"/>
              <a:t>Bổ sung thêm, em dùng Open-Meteo để lấy dữ liệu khí hậu thời gian thực, cập nhật hàng ngày cho 163 quốc gia, phục vụ cho phần nowcast - dự báo tại thời điểm hiện tại, khi ERA5 chưa có dữ liệu mới.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Sang phần cơ sở lý thuyết. Vì sao thời tiết lại chi phối dịch bệnh, và cơ chế đó khác nhau giữa hai</a:t>
            </a:r>
          </a:p>
          <a:p>
            <a:r>
              <a:rPr lang="en-US"/>
              <a:t>bệnh. Với cúm, lớp vỏ lipid của virus bền hơn khi nhiệt độ và độ ẩm tuyệt đối thấp; trời lạnh làm</a:t>
            </a:r>
          </a:p>
          <a:p>
            <a:r>
              <a:rPr lang="en-US"/>
              <a:t>virus sống lâu hơn trong giọt bắn, nên đỉnh dịch rơi vào mùa đông. </a:t>
            </a:r>
          </a:p>
          <a:p>
            <a:r>
              <a:rPr lang="en-US"/>
              <a:t>- Với sốt xuất huyết, bệnh lây qua muỗi Aedes: mưa lớn tạo vũng nước đọng làm nơi sinh sản, còn nhiệt độ cao thúc đẩy vòng đời từ trứng --&gt; muỗi trưởng thành và rút ngắn thời gian ủ bệnh. Chính vì phải đi qua cả một vòng đời của muỗi nên sốt xuất huyết có khoảng trễ dài hơn cúm nhiều. Đây là điểm em sẽ chứng minh bằng số liệu ở phần kết quả.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Về công cụ dự báo, em không nhảy thẳng vào mô hình phức tạp mà đặt hai mốc cơ sở trước: Naive, tức lấy số ca cùng tuần năm trước, và Prophet, một mô hình chuỗi thời gian. Bất kỳ mô hình học máy nào cũng phải vượt được hai mốc này mới có ý nghĩa. </a:t>
            </a:r>
          </a:p>
          <a:p>
            <a:r>
              <a:rPr lang="en-US"/>
              <a:t>Sau đó em dùng ba thuật toán dựa trên cây quyết định là XGBoost, LightGBM và Random Forest, rồi dùng thư viện Optuna để tự động dò siêu tham số. Điểm em muốn nhấn mạnh là chiến lược đánh giá: em dùng walk-forward crossvalidation, cho mô hình trượt theo dòng thời gian, chỉ học quá khứ để dự báo tương lai, đúng như tình huống thực tế và tránh rò rỉ dữ liệu.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Mô hình cho ra một con số, ví dụ ba 31 ca, nhưng người dùng cần biết con số đó là an toàn</a:t>
            </a:r>
          </a:p>
          <a:p>
            <a:r>
              <a:rPr lang="en-US"/>
              <a:t>hay nguy hiểm. Em quy đổi bằng phương pháp Endemic Channel của Bortman 1999  (là tài liệu nền trong dịch tễ học về cách xây dựng endemic channel bằng dữ liệu lịch sử, Bài đã được trích dẫn khoảng 142 lần trên Google Scholar, đăng trên Pan American Journal of Public Health, một tạp chí Q2 theo SCImago với H-index 72): với mỗi quốc gia, tính đường nền là trung bình số ca lịch sử + độ lệch chuẩn theo từng</a:t>
            </a:r>
          </a:p>
          <a:p>
            <a:r>
              <a:rPr lang="en-US"/>
              <a:t>tuần trong năm. Số dự báo nằm dưới nền là mức Thấp, màu xanh; nằm trong dải chuẩn là Trung bình, màu vàng; vượt lên trên là Cao, màu đỏ. </a:t>
            </a:r>
          </a:p>
          <a:p>
            <a:r>
              <a:rPr lang="en-US"/>
              <a:t>Cách này có ưu điểm là ngưỡng riêng cho từng nước, và em tận dụng luôn kết quả của mô hình hồi quy để phân mức, không phải train thêm một mô hình phân loại riêng.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Chuyển sang phần thiết kế hệ thống. Toàn bộ những gì em vừa trình bày ở phần cơ sở lý thuyết — độ trễ khí hậu, các thuật toán cây và ngưỡng endemic channel — được lắp vào một kiến trúc thống nhất như sơ đồ này. Sơ đồ đọc từ trái sang phải theo đúng đường đi của dữ liệu. </a:t>
            </a:r>
          </a:p>
          <a:p>
            <a:r>
              <a:rPr lang="en-US"/>
              <a:t>- Ngoài cùng bên trái, khối 1 là thu thập dữ liệu từ bốn nguồn: WHO, OpenDengue, Open-Meteo và ERA5 của ECMWF. </a:t>
            </a:r>
          </a:p>
          <a:p>
            <a:r>
              <a:rPr lang="en-US"/>
              <a:t>- Dữ liệu thô đi sang khối hai là xử lý và ETL, gồm kiểm tra chất lượng, làm sạch và gộp, ánh xạ lưới khí hậu về từng quốc gia bằng KD-tree, rồi tổng hợp thành một dòng cho mỗi quốc gia mỗi tuần. </a:t>
            </a:r>
          </a:p>
          <a:p>
            <a:r>
              <a:rPr lang="en-US"/>
              <a:t>- Sang khối ba, hệ thống xây dựng đặc trưng: lag tự hồi quy kèm log1p, các đặc trưng thời tiết trễ, và bước gán nhãn endemic channel theo Bortman mà em vừa nói ở slide trước. Khối bốn là huấn luyện mô hình, chia hai nhánh hồi quy và phân loại. </a:t>
            </a:r>
          </a:p>
          <a:p>
            <a:r>
              <a:rPr lang="en-US"/>
              <a:t>- Kết quả huấn luyện đi vào khối năm là phục vụ và ứng dụng, gồm ba tầng: dữ liệu lưu ở PostgreSQL, backend FastAPI cung cấp các endpoint như risk-map và predict, và giao diện React vẽ bản đồ cảnh báo. </a:t>
            </a:r>
          </a:p>
          <a:p>
            <a:r>
              <a:rPr lang="en-US"/>
              <a:t>- Bên phải, khối sáu là giám sát MLOps: phát hiện data drift (hiện tượng phân phối của dữ liệu đầu vào thay đổi theo thời gian so với dữ liệu mà mô hình ML đã được huấn luyện ban đầu) và kích hoạt huấn luyện lại, chính là mũi tên nét đứt quay ngược về khối xử lý. </a:t>
            </a:r>
          </a:p>
          <a:p>
            <a:r>
              <a:rPr lang="en-US"/>
              <a:t>- Cuối cùng, cả sáu khối trên đều chạy trên tầng hạ tầng bên dưới bằng GitHub Actions và Docker Compose. Các slide tiếp theo sẽ đi sâu vào từng khối này.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Trước khi mô hình học được gì, mỗi nguồn phải đi qua một chuỗi bước lọc riêng. FluNet từ hơn 183k dòng thô, em lọc theo mốc thời gian còn khoảng 130K, và dựng cột mục tiêu bằng cách cộng 2 chủng cúm A và B, thay cho cột tổng vốn thiếu tới 44%. OpenDengue thì em chỉ giữ độ phân giải tuần, quy ngày về tuần ISO, và khi một tuần có nhiều định nghĩa ca thì ưu tiên Total trước, rồi mới tới Suspected (Nghi ngờ) và Confirmed, để mỗi tuần chỉ còn một con số. ERA5 đã được quy về từng quốc gia, em nói ở slide sau. Cuối cùng em outer join cúm với dengue để không mất nước nào chỉ có một bệnh, rồi Inner join với khí hậu.</a:t>
            </a:r>
          </a:p>
          <a:p>
            <a:r>
              <a:rPr lang="en-US"/>
              <a:t>Hai năm 2020 và 2021 bị loại vì giãn cách làm số ca cúm giảm gần như hoàn toàn một cách nhân tạo. Kết quả là tệp master hơn 61K dòng, một 163 quốc gia, giai đoạn 2010 đến 2019.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Trước khi mô hình học được gì, mỗi nguồn phải đi qua một chuỗi bước lọc riêng. FluNet từ hơn 183k dòng thô, em lọc theo mốc thời gian còn khoảng 130K, và dựng cột mục tiêu bằng cách cộng 2 chủng cúm A và B, thay cho cột tổng vốn thiếu tới 44%. OpenDengue thì em chỉ giữ độ phân giải tuần, quy ngày về tuần ISO, và khi một tuần có nhiều định nghĩa ca thì ưu tiên Total trước, rồi mới tới Suspected (Nghi ngờ) và Confirmed, để mỗi tuần chỉ còn một con số. ERA5 đã được quy về từng quốc gia, em nói ở slide sau. Cuối cùng em outer join cúm với dengue để không mất nước nào chỉ có một bệnh, rồi Inner join với khí hậu.</a:t>
            </a:r>
          </a:p>
          <a:p>
            <a:r>
              <a:rPr lang="en-US"/>
              <a:t>Hai năm 2020 và 2021 bị loại vì giãn cách làm số ca cúm giảm gần như hoàn toàn một cách nhân tạo. Kết quả là tệp master hơn 61K dòng, một 163 quốc gia, giai đoạn 2010 đến 2019.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Một trong những rào cản kỹ thuật là ghép nối dữ liệu khí hậu dạng lưới của ERA5 với dữ liệu ca bệnh theo biên giới quốc gia, vì lưới khí hậu không có sẵn cột quốc gia. Để giải quyết, em lấy ranh giới quốc gia từ bộ dữ liệu Natural Earth ở độ phân giải 50m, tính tâm hình học của từng nước, rồi dựng một KD-Tree trên tập tâm đó. Với thuật toán KD-Tree Nearest Centroid, mỗi ô lưới ERA5 được gán về quốc gia có tâm gần nhất, sau đó lấy trung bình các ô cùng một nước để ra giá trị khí hậu cấp quốc gia. Cách này xử lý toàn bộ lưới rất nhanh so với việc kiểm tra từng điểm nằm trong biên giới nào.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Về phía số ca bệnh, trên slide là hai biểu đồ histogram đặt cạnh nhau. Trục hoành là số ca bệnh mỗi tuần, trục tung là số lượng quan sát — tức số tuần/quốc gia rơi vào khoảng giá trị đó. Nhìn vào histogram bên trái — dữ liệu thô — cột đầu tiên gần số 0 cao vút, chiếm tuyệt đại đa số: đó là hàng trăm quốc gia nhỏ, mỗi tuần chỉ vài trăm ca. Nhưng đuôi kéo rất dài sang phải — đó là một vài nước như Brazil, vào tuần cao điểm có thể lên tới năm trăm nghìn ca sốt xuất huyết, trong khi Việt Nam chỉ khoảng năm trăm ca — chênh đúng một nghìn lần. Mô hình nhìn vào phân phối này sẽ bị 'choáng' bởi cái đuôi đó và gần như bỏ qua thông tin của phần lớn các nước còn lại.</a:t>
            </a:r>
          </a:p>
          <a:p>
            <a:r>
              <a:rPr lang="en-US"/>
              <a:t/>
            </a:r>
          </a:p>
          <a:p>
            <a:r>
              <a:rPr lang="en-US"/>
              <a:t>Giải pháp là phép biến đổi Log1p — lấy logarithm của (x + 1), cộng 1 để tránh log(0) khi tuần không có ca nào. Nhìn sang histogram bên phải — sau biến đổi — trục hoành giờ là giá trị log1p, các cột phân bố đều đặn và trải rộng, tạo đường cong gần giống hình chuông. 163 quốc gia đều nằm gọn trong dải 0–12, mô hình đặt trọng số công bằng cho tất cả và hội tụ ổn định hơn rất nhiều.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Bước quyết định chất lượng mô hình là xây dựng đặc trưng. Mỗi dòng tuần được bổ sung 18 đặc trưng, chia 5 nhóm. </a:t>
            </a:r>
          </a:p>
          <a:p>
            <a:r>
              <a:rPr lang="en-US"/>
              <a:t>+ Nhóm tự hồi quy là số ca một đến ba tuần trước, giữ quán tính xu hướng. </a:t>
            </a:r>
          </a:p>
          <a:p>
            <a:r>
              <a:rPr lang="en-US"/>
              <a:t>+ Nhóm trung bình trượt bốn và tám tuần để làm mượt nhiễu. </a:t>
            </a:r>
          </a:p>
          <a:p>
            <a:r>
              <a:rPr lang="en-US"/>
              <a:t>+ Nhóm xu thế gồm vận tốc và gia tốc, bắt tốc độ thay đổi số ca. + Nhóm khí hậu là các biến thời tiết được dịch đúng theo độ trễ mà CCF tìm ra. </a:t>
            </a:r>
          </a:p>
          <a:p>
            <a:r>
              <a:rPr lang="en-US"/>
              <a:t>+ Và nhóm thời gian mã hóa tính mùa bằng sin cos của tuần trong năm cùng thông tin bán cầu.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Còn một quyết định thiết kế quan trọng: dự báo nhiều tuần thì làm sao để sai số không dồn lại?</a:t>
            </a:r>
          </a:p>
          <a:p>
            <a:r>
              <a:rPr lang="en-US"/>
              <a:t>Cách phổ biến là đệ quy, lấy dự báo tuần t+1 làm đầu vào để đoán tuần t+2, nhưng cách này tích lũy sai số rất nhanh. </a:t>
            </a:r>
          </a:p>
          <a:p>
            <a:r>
              <a:rPr lang="en-US"/>
              <a:t>Em chọn hướng dự báo trực tiếp: duy trì bốn mô hình độc lập, mỗi mô hình chuyên đúng một tầm nhìn. Mô hình 1 chỉ học dự báo tuần kế tiếp, mô hình hai chuyên tuần thứ hai, cứ thế đến tuần thứ tư. Nhờ vậy mỗi tầm nhìn được tối ưu riêng, độ chính xác giữ được ngay cả khi dự báo xa, thay vì rơi nhanh như phương pháp đệ quy.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Về cơ sở dữ liệu, em dùng PostgreSQL và thiết kế theo hướng danh mục. </a:t>
            </a:r>
          </a:p>
          <a:p>
            <a:r>
              <a:rPr lang="en-US"/>
              <a:t>- Các bảng danh mục như countries, diseases được để mở: muốn thêm một bệnh mới chỉ cần một câu lệnh INSERT, không phải sửa lại cấu trúc. </a:t>
            </a:r>
          </a:p>
          <a:p>
            <a:r>
              <a:rPr lang="en-US"/>
              <a:t>- Số ca và số liệu khí hậu nằm ở các bảng dữ kiện là disease_cases và</a:t>
            </a:r>
          </a:p>
          <a:p>
            <a:r>
              <a:rPr lang="en-US"/>
              <a:t>weather_observations. </a:t>
            </a:r>
          </a:p>
          <a:p>
            <a:r>
              <a:rPr lang="en-US"/>
              <a:t>- Ngoài ra em tách riêng hai bảng predictions và model_versions để lưu lịch sử dự báo phục vụ back-test, và quản lý các phiên bản mô hình. Toàn bộ tuân thủ nguyên tắc ACID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Vào phần bốn, kết quả. Trước hết là câu trả lời cho khoảng trễ, từ phân tích tương quan chéo CCF, và kết quả rất khớp với lý thuyết sinh học ở phần đầu. - Cúm phản ứng nhanh: tương quan âm với nhiệt độ ở độ trễ 3 tuần, hệ số -0.37, và với bức xạ mặt trời ở độ trễ 7w; còn</a:t>
            </a:r>
          </a:p>
          <a:p>
            <a:r>
              <a:rPr lang="en-US"/>
              <a:t>lượng mưa gần như không tác động nên em loại bỏ. </a:t>
            </a:r>
          </a:p>
          <a:p>
            <a:r>
              <a:rPr lang="en-US"/>
              <a:t>- Sốt xuất huyết thì chậm hơn hẳn: tương quan dương với nhiệt độ ở độ trễ tới mười một tuần, với điểm sương tám tuần, lượng mưa sáu tuần. </a:t>
            </a:r>
          </a:p>
          <a:p>
            <a:r>
              <a:rPr lang="en-US"/>
              <a:t>Con số mười một tuần đó chính là thời gian để chu kỳ muỗi Aedes sinh sôi và truyền bệnh. Không phải em áp đặt, mà dữ liệu tự nói ra.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Tiếp theo là hiệu suất các mô hình, đo bằng walk-forward CV. Nhóm cây quyết định vượt hẳn baseline. Với cúm, Naive đạt R² 0.56, Prophet kh0.429, còn LightGBM lên tới 0.92 với RMSE 0.59. </a:t>
            </a:r>
          </a:p>
          <a:p>
            <a:r>
              <a:rPr lang="en-US"/>
              <a:t>-Với sốt xuất huyết có một chi tiết đáng chú ý: Prophet cho R² âm, âm không phẩy hai tám hai, dù nó là mô hình chuyên chuỗi thời gian; lý do là nó chỉ bắt được tính mùa mà bỏ lọt các tín hiệu khí hậu độ trễ dài. Random Forest thì đạt không phẩy chín ba tám. Dựa trên bảng này, em chọn LightGBM cho cúm vì nhanh và bắt đỉnh tốt, và chọn Random Forest cho sốt xuất huyết vì kháng nhiễu mạnh với dữ liệu thưa ở vùng nhiệt đới.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Để chứng minh mô hình không bị 'học vẹt' (overfitting), em xin phân tích cụ thể với mô hình dự báo Cúm qua 2 đồ thị trên slide.</a:t>
            </a:r>
          </a:p>
          <a:p>
            <a:r>
              <a:rPr lang="en-US"/>
              <a:t/>
            </a:r>
          </a:p>
          <a:p>
            <a:r>
              <a:rPr lang="en-US"/>
              <a:t>Đầu tiên, quý thầy cô nhìn vào biểu đồ cột bên trái — biểu diễn điểm R² của tập huấn luyện (màu xanh) và tập kiểm định (màu cam) trải dài qua 6 fold thời gian từ 2014 đến 2019. Có thể thấy, 2 cột xanh và cam ở mọi năm đều bám rất sát nhau, khoảng cách (gap) trung bình cực kỳ nhỏ, chỉ khoảng 0.0085. Điều này khẳng định hiệu suất mô hình rất đồng đều, không xảy ra tình trạng điểm cao ở tập huấn luyện nhưng lại sụt giảm mạnh trên dữ liệu mới.</a:t>
            </a:r>
          </a:p>
          <a:p>
            <a:r>
              <a:rPr lang="en-US"/>
              <a:t/>
            </a:r>
          </a:p>
          <a:p>
            <a:r>
              <a:rPr lang="en-US"/>
              <a:t>Tiếp theo, biểu đồ đường bên phải cung cấp góc nhìn sâu hơn vào quá trình học của mô hình (ví dụ năm 2019). Trục hoành là số lượng cây quyết định, trục tung là mức độ sai số RMSE. Ban đầu, cả đường Train (xanh) và Val (cam) đều cắm xuống dốc đứng. Điểm quan trọng nhất nằm ở phần đuôi: tại cột mốc tối ưu là 376 cây, cả 2 đường đều chững lại và chạy song song sát vào nhau, đường màu cam tuyệt đối không bị bật ngược đi lên. Sự hội tụ song song này là minh chứng trực quan nhất khẳng định model đã thực sự nắm bắt được quy luật chung của khí hậu và dịch bệnh, chứ không chỉ đơn thuần là ghi nhớ máy móc số liệu quá khứ.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Kịch bản tương tự cũng ghi nhận ở Sốt xuất huyết (Random Forest). Khoảng cách R² qua 3 năm duy trì rất hẹp (0.0196). Tuy nhiên ở biểu đồ đường, quý thầy cô có thể nhận thấy một điểm khác biệt: nếu ở Cúm 2 đường dính sát nhau, thì ở đây 2 đường chạy song song nhưng có khoảng cách trên-dưới rõ rệt.</a:t>
            </a:r>
          </a:p>
          <a:p>
            <a:r>
              <a:rPr lang="en-US"/>
              <a:t/>
            </a:r>
          </a:p>
          <a:p>
            <a:r>
              <a:rPr lang="en-US"/>
              <a:t>Lý do nằm ở trục hoành n_estimators — tức là số lượng cây quyết định độc lập. Đặc thù của thuật toán Random Forest là tập hợp các cây học rất sâu, nên sai số trên tập Train luôn thấp hơn hẳn. Dù vậy, điểm mấu chốt là đường Val (màu cam) vẫn chạy ngang, ổn định từ 20 đến 150 cây mà không hề bật ngược đi lên. Việc không bị phân kỳ này khẳng định mô hình hoàn toàn không bị overfitting. Sự hội tụ vững vàng ở cả 2 thuật toán chứng tỏ model đã nắm bắt đúng quy luật dịch bệnh, thay vì chỉ ghi nhớ máy móc dữ liệu.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Em tách riêng toàn bộ năm 2022 làm tập kiểm thử độc lập, mô hình chưa từng thấy 1 dòng nào của năm này. Đây là bài kiểm tra khắc nghiệt vì động lực dịch bệnh sau COVID đã thay đổi. </a:t>
            </a:r>
          </a:p>
          <a:p>
            <a:r>
              <a:rPr lang="en-US"/>
              <a:t>- Để trực quan hóa độ chính xác, mời quý thầy cô nhìn vào 2 biểu đồ phân tán (scatter plot) trên slide. Trục hoành là số ca bệnh thực tế (Actual), trục tung là số ca do mô hình dự báo (Predicted). Đường gạch đứt màu đỏ là quỹ đạo hoàn hảo, nơi dự báo trùng khớp 100% với thực tế. Quý thầy cô có thể thấy, các điểm dữ liệu dự báo của Cúm và Sốt xuất huyết đều quần tụ rất sát dọc theo đường chéo này, từ mức số ca thấp đến lúc bùng phát đỉnh dịch.</a:t>
            </a:r>
          </a:p>
          <a:p>
            <a:r>
              <a:rPr lang="en-US"/>
              <a:t>- Kết quả: mô hình Cúm giữ R² ở mức 0.9022, gần như không suy giảm; mô hình Sốt xuất huyết còn 0.9183, chỉ giảm nhẹ. Với em, đây là những con số đắt giá nhất của cả đồ án, vì nó chứng minh mô hình dùng được với dữ liệu thật trong tương lai, chứ không chỉ đẹp trên tập kiểm tra chéo.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này trả lời câu hỏi mô hình thực sự dựa vào đâu để dự báo, qua biểu đồ mức độ quan trọng đặc trưng của hai bệnh. Nhìn biểu đồ cúm bên trái, phân bố rất phẳng: đặc trưng cao nhất là vận tốc thay đổi số ca cũng chỉ 8.9%, còn đặc trưng thứ mười hai là 5.2%, không cái nào áp đảo. Nếu gom nhóm, các đặc trưng khí hậu trễ như điểm sương, độ ẩm, nhiệt độ và bức xạ ở độ trễ 1-7 tuần cộng lại khoảng 41%, ngang bằng nhóm tự hồi quy và động học khoảng 36%. Nghĩa là với cúm, thời tiết đóng góp trực tiếp và mạnh, đúng các mốc trễ mà phân tích CCF đã tìm ra; việc vận tốc và gia tốc đứng đầu cho thấy mô hình bắt điểm ngoặt chứ không chỉ nội suy mức nền.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Sang biểu đồ sốt xuất huyết thì bức tranh ngược lại, rất tập trung. Chỉ riêng hai trung bình trượt bốn tuần và tám tuần đã chiếm gần một nửa, và toàn bộ nhóm lịch sử số ca chiếm khoảng 96%, trong khi khí hậu chỉ còn khoảng 1.4%. Điều này phản ánh đặc điểm của sốt xuất huyết là sóng dịch kéo dài, quán tính cao nên tuần này gần giống nhiều tuần trước. Ở đây em xin nói thẳng một điểm dễ gây hiểu nhầm: tỉ trọng khí hậu thấp không có nghĩa thời tiết vô nghĩa với sốt xuất huyết, mà vì tín hiệu khí hậu trễ dài đã bị chính lịch sử số ca hấp thụ; số ca hôm nay vốn là hệ quả của thời tiết nhiều tuần trước, nên khi mô hình đã có trung bình trượt và lag thì phần khí hậu còn lại rất ít. Thêm nữa, Random Forest chia nhỏ mức quan trọng giữa các đặc trưng tương quan mạnh, làm khí hậu càng bị lu mờ. Đây cũng là lý do ở hướng phát triển em đề xuất bổ sung SHAP để tách rõ tác động khí hậu cho từng nước.</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Toàn bộ kết quả trên được đưa vào sản phẩm cuối. Đây là màn hình chính, bản đồ rủi ro toàn cầu.</a:t>
            </a:r>
          </a:p>
          <a:p>
            <a:r>
              <a:rPr lang="en-US"/>
              <a:t>Mỗi quốc gia được tô ba màu theo mức nguy cơ: đỏ là Cao, vàng Trung bình, xanh Thấp, còn xám</a:t>
            </a:r>
          </a:p>
          <a:p>
            <a:r>
              <a:rPr lang="en-US"/>
              <a:t>là chưa có dữ liệu. Bên trái là bộ lọc theo bệnh, theo tuần dự báo và theo khu vực. Bên phải, khi</a:t>
            </a:r>
          </a:p>
          <a:p>
            <a:r>
              <a:rPr lang="en-US"/>
              <a:t>chọn một nước, ở đây là Australia, hệ thống hiển thị mức rủi ro hiện tại và dự báo bốn tuần tới, mỗi</a:t>
            </a:r>
          </a:p>
          <a:p>
            <a:r>
              <a:rPr lang="en-US"/>
              <a:t>tuần kèm số ca ước tính và mức cảnh báo tương ứng. Người dùng chỉ cần nhìn màu là nắm được</a:t>
            </a:r>
          </a:p>
          <a:p>
            <a:r>
              <a:rPr lang="en-US"/>
              <a:t>tình hình, không cần hiểu mô hình bên dưới.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Bấm vào một quốc gia sẽ mở trang phân tích chi tiết. Trên cùng là bốn chỉ số nhanh: số ca dự báo,</a:t>
            </a:r>
          </a:p>
          <a:p>
            <a:r>
              <a:rPr lang="en-US"/>
              <a:t>nhóm rủi ro, xác suất rơi vào mức Cao, ở đây là năm mươi tám phẩy năm phần trăm, và độ tin cậy</a:t>
            </a:r>
          </a:p>
          <a:p>
            <a:r>
              <a:rPr lang="en-US"/>
              <a:t>dự báo tám mươi sáu phẩy sáu phần trăm. Bên dưới lần lượt là đường dự báo bốn tuần kèm dải tin cậy, một heatmap quy luật mùa vụ theo tuần và năm, đường xu hướng năm mươi hai tuần, và cuối cùng là bảng tín hiệu đầu vào của chính tuần này, cho thấy nhiệt độ, điểm sương, độ ẩm ở các độ trễ đang đóng góp bao nhiêu vào dự báo. Trang này để người dùng chuyên môn soi được vì sao lại có</a:t>
            </a:r>
          </a:p>
          <a:p>
            <a:r>
              <a:rPr lang="en-US"/>
              <a:t>cảnh báo.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Còn đây là tab phân tích ở cấp toàn hệ thống. Phần trên minh bạch hóa dữ liệu huấn luyện: giai</a:t>
            </a:r>
          </a:p>
          <a:p>
            <a:r>
              <a:rPr lang="en-US"/>
              <a:t>đoạn 2010 đến 2019, một trăm bốn mươi ba quốc gia, hơn năm mươi lăm nghìn quan sát, kèm phân bố ba nhãn nguy cơ. Phần dưới là top mười quốc gia nhiều ca nhất, biểu đồ hiệu năng mô hình theo bốn tầm nhìn dự báo, và biểu đồ mức quan trọng đặc trưng gom nhóm, trong đó khí hậu chiếm bốn mươi chín phần trăm, dịch tễ quá khứ ba mươi mốt phần trăm. Trang này giúp người xem đánh giá được độ tin cậy của hệ thống, chứ không chỉ nhìn kết quả.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Về vận hành, hệ thống không dừng ở máy cá nhân. Toàn bộ được đóng gói bằng Docker Compose thành năm dịch vụ chạy song song, như màn hình này: backend FastAPI, frontend, cơ sở dữ liệu Postgres, một dịch vụ seed nạp dữ liệu ban đầu, và một scheduler chạy tác vụ định kỳ. Chỉ cần một lệnh là dựng được cả hệ thống trên bất kỳ máy nào, không lo lệch môi trường.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Đi kèm là quy trình tích hợp liên tục bằng GitHub Actions. Mỗi lần em đẩy code lên, hệ thống tự</a:t>
            </a:r>
          </a:p>
          <a:p>
            <a:r>
              <a:rPr lang="en-US"/>
              <a:t>chạy ba việc: kiểm thử backend, kiểm thử frontend, rồi build Docker image, như lần chạy này thành công trong hai phút hai mươi chín giây. Nhờ vậy lỗi được phát hiện ngay khi commit, và bản đóng gói luôn ở trạng thái chạy được, thay vì để dồn đến cuối mới sửa.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Cuối cùng là tầng API. FastAPI tự sinh tài liệu Swagger theo chuẩn OpenAPI, như màn hình này,</a:t>
            </a:r>
          </a:p>
          <a:p>
            <a:r>
              <a:rPr lang="en-US"/>
              <a:t>gom các endpoint theo nhóm: health để kiểm tra tình trạng, rồi countries, diseases, dự báo và bản đồ cảnh báo. Nhờ tài liệu tự sinh, ai muốn tích hợp lại hệ thống này, hay một ứng dụng khác muốn gọi dữ liệu, đều thử được ngay trên trình duyệt mà không cần đọc mã nguồn.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Sang phần cuối, kết luận. </a:t>
            </a:r>
          </a:p>
          <a:p>
            <a:r>
              <a:rPr lang="en-US"/>
              <a:t>Về mặt hệ thống, đồ án đã tích hợp thành công ba nguồn dữ liệu lớn vào một khung thống nhất, với cơ sở dữ liệu mười lăm bảng và ánh xạ một trăm chín mươi bảy quốc gia bằng KD-Tree. Sản phẩm web cung cấp bản đồ cảnh báo cho một trăm sáu mươi ba quốc gia với độ trễ phản hồi chỉ mười đến ba mươi mili-giây, và pipeline tự động xử lý hơn mười bảy nghìn dòng trong khoảng bốn phút.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Về mặt mô hình, LightGBM đạt R² không phẩy chín không cho cúm, Random Forest đạt không phẩy chín tư cho sốt xuất huyết trên kiểm tra chéo, và giữ vững khi thử trên tập độc lập năm 2022. Khoảng cách train và validation dưới không phẩy không hai ở mọi fold cho thấy không có hiện tượng overfitting. Đây là những con số định lượng cụ thể mà đề tài chứng minh được, chứ không phải nhận định chung chung.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Em cũng xin nêu thẳng những hạn chế. </a:t>
            </a:r>
          </a:p>
          <a:p>
            <a:r>
              <a:rPr lang="en-US"/>
              <a:t>- Thứ nhất, vì không có nguồn dữ liệu sốt xuất huyết thời gian thực miễn phí, dữ liệu chỉ đến tuần thứ ba mươi sáu năm 2023 với năm mươi sáu quốc gia, nên</a:t>
            </a:r>
          </a:p>
          <a:p>
            <a:r>
              <a:rPr lang="en-US"/>
              <a:t>chưa so sánh song song được với cúm ở chế độ mới nhất. Thứ hai, cảnh báo mức nguy cơ cho bốn</a:t>
            </a:r>
          </a:p>
          <a:p>
            <a:r>
              <a:rPr lang="en-US"/>
              <a:t>tuần tới hiện suy ra từ ngưỡng Bortman, chưa huấn luyện một bộ phân loại riêng cho từng bước.</a:t>
            </a:r>
          </a:p>
          <a:p>
            <a:r>
              <a:rPr lang="en-US"/>
              <a:t>Thứ ba, mức quan trọng đặc trưng mới ở cấp toàn cục, chưa giải thích được cho từng nước, cần bổ</a:t>
            </a:r>
          </a:p>
          <a:p>
            <a:r>
              <a:rPr lang="en-US"/>
              <a:t>sung SHAP. Và riêng Việt Nam, do thiếu dữ liệu huấn luyện ổn định nên dự báo cho nước ta chưa</a:t>
            </a:r>
          </a:p>
          <a:p>
            <a:r>
              <a:rPr lang="en-US"/>
              <a:t>thực sự đáng tin.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Từ những hạn chế đó, em xác định bốn hướng phát triển. Một là bổ sung nguồn dữ liệu thời gian</a:t>
            </a:r>
          </a:p>
          <a:p>
            <a:r>
              <a:rPr lang="en-US"/>
              <a:t>thực, đặc biệt là dữ liệu sốt xuất huyết của Việt Nam từ Bộ Y tế, để hệ thống dùng được ngay trong</a:t>
            </a:r>
          </a:p>
          <a:p>
            <a:r>
              <a:rPr lang="en-US"/>
              <a:t>nước. Hai là huấn luyện một bộ phân loại nguy cơ riêng cho từng tầm nhìn dự báo, thay cho việc</a:t>
            </a:r>
          </a:p>
          <a:p>
            <a:r>
              <a:rPr lang="en-US"/>
              <a:t>suy từ ngưỡng như hiện nay. Ba là tích hợp SHAP để giải thích từng cảnh báo ở cấp quốc gia, tăng</a:t>
            </a:r>
          </a:p>
          <a:p>
            <a:r>
              <a:rPr lang="en-US"/>
              <a:t>độ tin cậy với người làm dịch tễ. Và bốn là hoàn thiện MLOps, gồm tự động huấn luyện lại khi có</a:t>
            </a:r>
          </a:p>
          <a:p>
            <a:r>
              <a:rPr lang="en-US"/>
              <a:t>dữ liệu mới và giám sát trôi mô hình, cùng mở rộng dự báo xuống cấp tỉnh thành và thêm các bệnh</a:t>
            </a:r>
          </a:p>
          <a:p>
            <a:r>
              <a:rPr lang="en-US"/>
              <a:t>như RSV hay sốt rét.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Phần trình bày của em đến đây kết thúc. Em xin chân thành cảm ơn cô Phạm Thị Trúc Mai đã tận</a:t>
            </a:r>
          </a:p>
          <a:p>
            <a:r>
              <a:rPr lang="en-US"/>
              <a:t>tình hướng dẫn, và cảm ơn quý thầy cô trong Hội đồng đã lắng nghe. Em rất mong nhận được các</a:t>
            </a:r>
          </a:p>
          <a:p>
            <a:r>
              <a:rPr lang="en-US"/>
              <a:t>câu hỏi và góp ý để hoàn thiện đề tài. Em xin trân trọng cảm ơn.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2" Target="../notesSlides/notesSlide7.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6.png" Type="http://schemas.openxmlformats.org/officeDocument/2006/relationships/image"/><Relationship Id="rId6" Target="../media/image15.png" Type="http://schemas.openxmlformats.org/officeDocument/2006/relationships/image"/><Relationship Id="rId7" Target="../media/image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2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23.png" Type="http://schemas.openxmlformats.org/officeDocument/2006/relationships/image"/><Relationship Id="rId8" Target="../media/image2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25.png" Type="http://schemas.openxmlformats.org/officeDocument/2006/relationships/image"/><Relationship Id="rId8" Target="../media/image2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2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2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29.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30.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31.png" Type="http://schemas.openxmlformats.org/officeDocument/2006/relationships/image"/><Relationship Id="rId8" Target="../media/image3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33.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34.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35.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media/image40.png" Type="http://schemas.openxmlformats.org/officeDocument/2006/relationships/image"/><Relationship Id="rId12" Target="../media/image41.svg" Type="http://schemas.openxmlformats.org/officeDocument/2006/relationships/image"/><Relationship Id="rId13" Target="../media/image42.png" Type="http://schemas.openxmlformats.org/officeDocument/2006/relationships/image"/><Relationship Id="rId14" Target="../media/image43.svg" Type="http://schemas.openxmlformats.org/officeDocument/2006/relationships/image"/><Relationship Id="rId15" Target="../media/image44.png" Type="http://schemas.openxmlformats.org/officeDocument/2006/relationships/image"/><Relationship Id="rId16" Target="../media/image45.svg" Type="http://schemas.openxmlformats.org/officeDocument/2006/relationships/image"/><Relationship Id="rId17" Target="../media/image46.png" Type="http://schemas.openxmlformats.org/officeDocument/2006/relationships/image"/><Relationship Id="rId18" Target="../media/image47.svg" Type="http://schemas.openxmlformats.org/officeDocument/2006/relationships/image"/><Relationship Id="rId19" Target="../media/image48.png" Type="http://schemas.openxmlformats.org/officeDocument/2006/relationships/image"/><Relationship Id="rId2" Target="../notesSlides/notesSlide33.xml" Type="http://schemas.openxmlformats.org/officeDocument/2006/relationships/notesSlide"/><Relationship Id="rId20" Target="../media/image49.svg" Type="http://schemas.openxmlformats.org/officeDocument/2006/relationships/imag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6.png" Type="http://schemas.openxmlformats.org/officeDocument/2006/relationships/image"/><Relationship Id="rId7" Target="../media/image36.png" Type="http://schemas.openxmlformats.org/officeDocument/2006/relationships/image"/><Relationship Id="rId8" Target="../media/image37.svg" Type="http://schemas.openxmlformats.org/officeDocument/2006/relationships/image"/><Relationship Id="rId9" Target="../media/image38.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35171" y="4661796"/>
            <a:ext cx="18288000" cy="2408002"/>
            <a:chOff x="0" y="0"/>
            <a:chExt cx="24384000" cy="3210669"/>
          </a:xfrm>
        </p:grpSpPr>
        <p:sp>
          <p:nvSpPr>
            <p:cNvPr name="Freeform 7" id="7"/>
            <p:cNvSpPr/>
            <p:nvPr/>
          </p:nvSpPr>
          <p:spPr>
            <a:xfrm flipH="false" flipV="false" rot="0">
              <a:off x="0" y="0"/>
              <a:ext cx="24383997" cy="3210674"/>
            </a:xfrm>
            <a:custGeom>
              <a:avLst/>
              <a:gdLst/>
              <a:ahLst/>
              <a:cxnLst/>
              <a:rect r="r" b="b" t="t" l="l"/>
              <a:pathLst>
                <a:path h="3210674" w="24383997">
                  <a:moveTo>
                    <a:pt x="0" y="0"/>
                  </a:moveTo>
                  <a:lnTo>
                    <a:pt x="24383997" y="0"/>
                  </a:lnTo>
                  <a:lnTo>
                    <a:pt x="24383997" y="3210674"/>
                  </a:lnTo>
                  <a:lnTo>
                    <a:pt x="0" y="3210674"/>
                  </a:lnTo>
                  <a:close/>
                </a:path>
              </a:pathLst>
            </a:custGeom>
            <a:blipFill>
              <a:blip r:embed="rId5">
                <a:alphaModFix amt="0"/>
              </a:blip>
              <a:stretch>
                <a:fillRect l="0" t="-70951" r="21361" b="-61790"/>
              </a:stretch>
            </a:blipFill>
          </p:spPr>
        </p:sp>
        <p:sp>
          <p:nvSpPr>
            <p:cNvPr name="TextBox 8" id="8"/>
            <p:cNvSpPr txBox="true"/>
            <p:nvPr/>
          </p:nvSpPr>
          <p:spPr>
            <a:xfrm>
              <a:off x="0" y="28575"/>
              <a:ext cx="24384000" cy="3182094"/>
            </a:xfrm>
            <a:prstGeom prst="rect">
              <a:avLst/>
            </a:prstGeom>
          </p:spPr>
          <p:txBody>
            <a:bodyPr anchor="b" rtlCol="false" tIns="0" lIns="0" bIns="0" rIns="0"/>
            <a:lstStyle/>
            <a:p>
              <a:pPr algn="ctr">
                <a:lnSpc>
                  <a:spcPts val="5400"/>
                </a:lnSpc>
              </a:pPr>
              <a:r>
                <a:rPr lang="en-US" sz="5000" b="true">
                  <a:solidFill>
                    <a:srgbClr val="053384"/>
                  </a:solidFill>
                  <a:latin typeface="Arial Bold"/>
                  <a:ea typeface="Arial Bold"/>
                  <a:cs typeface="Arial Bold"/>
                  <a:sym typeface="Arial Bold"/>
                </a:rPr>
                <a:t>XÂY DỰNG HỆ THỐNG CẢNH BÁO </a:t>
              </a:r>
            </a:p>
            <a:p>
              <a:pPr algn="ctr">
                <a:lnSpc>
                  <a:spcPts val="5400"/>
                </a:lnSpc>
              </a:pPr>
              <a:r>
                <a:rPr lang="en-US" sz="5000" b="true">
                  <a:solidFill>
                    <a:srgbClr val="053384"/>
                  </a:solidFill>
                  <a:latin typeface="Arial Bold"/>
                  <a:ea typeface="Arial Bold"/>
                  <a:cs typeface="Arial Bold"/>
                  <a:sym typeface="Arial Bold"/>
                </a:rPr>
                <a:t>NGUY CƠ DỊCH BỆNH THEO MÙA </a:t>
              </a:r>
            </a:p>
            <a:p>
              <a:pPr algn="ctr">
                <a:lnSpc>
                  <a:spcPts val="5400"/>
                </a:lnSpc>
              </a:pPr>
              <a:r>
                <a:rPr lang="en-US" sz="5000" b="true">
                  <a:solidFill>
                    <a:srgbClr val="053384"/>
                  </a:solidFill>
                  <a:latin typeface="Arial Bold"/>
                  <a:ea typeface="Arial Bold"/>
                  <a:cs typeface="Arial Bold"/>
                  <a:sym typeface="Arial Bold"/>
                </a:rPr>
                <a:t>DỰA TRÊN DỮ LIỆU Y TẾ VÀ THỜI TIẾT TOÀN CẦU</a:t>
              </a:r>
            </a:p>
          </p:txBody>
        </p:sp>
      </p:grpSp>
      <p:grpSp>
        <p:nvGrpSpPr>
          <p:cNvPr name="Group 9" id="9"/>
          <p:cNvGrpSpPr/>
          <p:nvPr/>
        </p:nvGrpSpPr>
        <p:grpSpPr>
          <a:xfrm rot="0">
            <a:off x="8329793" y="1562405"/>
            <a:ext cx="1558061" cy="1558061"/>
            <a:chOff x="0" y="0"/>
            <a:chExt cx="2077415" cy="2077415"/>
          </a:xfrm>
        </p:grpSpPr>
        <p:sp>
          <p:nvSpPr>
            <p:cNvPr name="Freeform 10" id="10"/>
            <p:cNvSpPr/>
            <p:nvPr/>
          </p:nvSpPr>
          <p:spPr>
            <a:xfrm flipH="false" flipV="false" rot="0">
              <a:off x="0" y="0"/>
              <a:ext cx="2077466" cy="2077466"/>
            </a:xfrm>
            <a:custGeom>
              <a:avLst/>
              <a:gdLst/>
              <a:ahLst/>
              <a:cxnLst/>
              <a:rect r="r" b="b" t="t" l="l"/>
              <a:pathLst>
                <a:path h="2077466" w="2077466">
                  <a:moveTo>
                    <a:pt x="0" y="0"/>
                  </a:moveTo>
                  <a:lnTo>
                    <a:pt x="2077466" y="0"/>
                  </a:lnTo>
                  <a:lnTo>
                    <a:pt x="2077466" y="2077466"/>
                  </a:lnTo>
                  <a:lnTo>
                    <a:pt x="0" y="2077466"/>
                  </a:lnTo>
                  <a:lnTo>
                    <a:pt x="0" y="0"/>
                  </a:lnTo>
                  <a:close/>
                </a:path>
              </a:pathLst>
            </a:custGeom>
            <a:blipFill>
              <a:blip r:embed="rId6"/>
              <a:stretch>
                <a:fillRect l="0" t="0" r="2" b="2"/>
              </a:stretch>
            </a:blipFill>
          </p:spPr>
        </p:sp>
      </p:grpSp>
      <p:sp>
        <p:nvSpPr>
          <p:cNvPr name="TextBox 11" id="11"/>
          <p:cNvSpPr txBox="true"/>
          <p:nvPr/>
        </p:nvSpPr>
        <p:spPr>
          <a:xfrm rot="0">
            <a:off x="2635920" y="3518421"/>
            <a:ext cx="13016151" cy="1085850"/>
          </a:xfrm>
          <a:prstGeom prst="rect">
            <a:avLst/>
          </a:prstGeom>
        </p:spPr>
        <p:txBody>
          <a:bodyPr anchor="t" rtlCol="false" tIns="0" lIns="0" bIns="0" rIns="0">
            <a:spAutoFit/>
          </a:bodyPr>
          <a:lstStyle/>
          <a:p>
            <a:pPr algn="ctr">
              <a:lnSpc>
                <a:spcPts val="4320"/>
              </a:lnSpc>
            </a:pPr>
            <a:r>
              <a:rPr lang="en-US" sz="3600" b="true">
                <a:solidFill>
                  <a:srgbClr val="000000"/>
                </a:solidFill>
                <a:latin typeface="Aptos Bold"/>
                <a:ea typeface="Aptos Bold"/>
                <a:cs typeface="Aptos Bold"/>
                <a:sym typeface="Aptos Bold"/>
              </a:rPr>
              <a:t>BÁO CÁO</a:t>
            </a:r>
          </a:p>
          <a:p>
            <a:pPr algn="ctr">
              <a:lnSpc>
                <a:spcPts val="4320"/>
              </a:lnSpc>
            </a:pPr>
            <a:r>
              <a:rPr lang="en-US" sz="3600" b="true">
                <a:solidFill>
                  <a:srgbClr val="000000"/>
                </a:solidFill>
                <a:latin typeface="Aptos Bold"/>
                <a:ea typeface="Aptos Bold"/>
                <a:cs typeface="Aptos Bold"/>
                <a:sym typeface="Aptos Bold"/>
              </a:rPr>
              <a:t>ĐỒ ÁN TỐT NGHIỆP</a:t>
            </a:r>
          </a:p>
        </p:txBody>
      </p:sp>
      <p:sp>
        <p:nvSpPr>
          <p:cNvPr name="TextBox 12" id="12"/>
          <p:cNvSpPr txBox="true"/>
          <p:nvPr/>
        </p:nvSpPr>
        <p:spPr>
          <a:xfrm rot="0">
            <a:off x="8456409" y="3107550"/>
            <a:ext cx="1304839" cy="296942"/>
          </a:xfrm>
          <a:prstGeom prst="rect">
            <a:avLst/>
          </a:prstGeom>
        </p:spPr>
        <p:txBody>
          <a:bodyPr anchor="t" rtlCol="false" tIns="0" lIns="0" bIns="0" rIns="0">
            <a:spAutoFit/>
          </a:bodyPr>
          <a:lstStyle/>
          <a:p>
            <a:pPr algn="l">
              <a:lnSpc>
                <a:spcPts val="1800"/>
              </a:lnSpc>
            </a:pPr>
            <a:r>
              <a:rPr lang="en-US" sz="1500" b="true">
                <a:solidFill>
                  <a:srgbClr val="FF0000"/>
                </a:solidFill>
                <a:latin typeface="Times New Roman Bold"/>
                <a:ea typeface="Times New Roman Bold"/>
                <a:cs typeface="Times New Roman Bold"/>
                <a:sym typeface="Times New Roman Bold"/>
              </a:rPr>
              <a:t>ISO 9001:2015</a:t>
            </a:r>
          </a:p>
        </p:txBody>
      </p:sp>
      <p:sp>
        <p:nvSpPr>
          <p:cNvPr name="TextBox 13" id="13"/>
          <p:cNvSpPr txBox="true"/>
          <p:nvPr/>
        </p:nvSpPr>
        <p:spPr>
          <a:xfrm rot="0">
            <a:off x="2044760" y="7444026"/>
            <a:ext cx="7221160" cy="409575"/>
          </a:xfrm>
          <a:prstGeom prst="rect">
            <a:avLst/>
          </a:prstGeom>
        </p:spPr>
        <p:txBody>
          <a:bodyPr anchor="t" rtlCol="false" tIns="0" lIns="0" bIns="0" rIns="0">
            <a:spAutoFit/>
          </a:bodyPr>
          <a:lstStyle/>
          <a:p>
            <a:pPr algn="l">
              <a:lnSpc>
                <a:spcPts val="3240"/>
              </a:lnSpc>
            </a:pPr>
            <a:r>
              <a:rPr lang="en-US" sz="2700">
                <a:solidFill>
                  <a:srgbClr val="000000"/>
                </a:solidFill>
                <a:latin typeface="Aptos"/>
                <a:ea typeface="Aptos"/>
                <a:cs typeface="Aptos"/>
                <a:sym typeface="Aptos"/>
              </a:rPr>
              <a:t>Giảng viên hướng dẫn: </a:t>
            </a:r>
            <a:r>
              <a:rPr lang="en-US" sz="2700" b="true">
                <a:solidFill>
                  <a:srgbClr val="000000"/>
                </a:solidFill>
                <a:latin typeface="Aptos Bold"/>
                <a:ea typeface="Aptos Bold"/>
                <a:cs typeface="Aptos Bold"/>
                <a:sym typeface="Aptos Bold"/>
              </a:rPr>
              <a:t>ThS. Phạm Thị Trúc Mai</a:t>
            </a:r>
          </a:p>
        </p:txBody>
      </p:sp>
      <p:sp>
        <p:nvSpPr>
          <p:cNvPr name="TextBox 14" id="14"/>
          <p:cNvSpPr txBox="true"/>
          <p:nvPr/>
        </p:nvSpPr>
        <p:spPr>
          <a:xfrm rot="0">
            <a:off x="9979295" y="7444026"/>
            <a:ext cx="7221160" cy="1228725"/>
          </a:xfrm>
          <a:prstGeom prst="rect">
            <a:avLst/>
          </a:prstGeom>
        </p:spPr>
        <p:txBody>
          <a:bodyPr anchor="t" rtlCol="false" tIns="0" lIns="0" bIns="0" rIns="0">
            <a:spAutoFit/>
          </a:bodyPr>
          <a:lstStyle/>
          <a:p>
            <a:pPr algn="l">
              <a:lnSpc>
                <a:spcPts val="3240"/>
              </a:lnSpc>
            </a:pPr>
            <a:r>
              <a:rPr lang="en-US" sz="2700">
                <a:solidFill>
                  <a:srgbClr val="000000"/>
                </a:solidFill>
                <a:latin typeface="Aptos"/>
                <a:ea typeface="Aptos"/>
                <a:cs typeface="Aptos"/>
                <a:sym typeface="Aptos"/>
              </a:rPr>
              <a:t>Sinh viên thực hiện: </a:t>
            </a:r>
            <a:r>
              <a:rPr lang="en-US" sz="2700" b="true">
                <a:solidFill>
                  <a:srgbClr val="000000"/>
                </a:solidFill>
                <a:latin typeface="Aptos Bold"/>
                <a:ea typeface="Aptos Bold"/>
                <a:cs typeface="Aptos Bold"/>
                <a:sym typeface="Aptos Bold"/>
              </a:rPr>
              <a:t>Phạm Hữu Luân</a:t>
            </a:r>
          </a:p>
          <a:p>
            <a:pPr algn="l">
              <a:lnSpc>
                <a:spcPts val="3240"/>
              </a:lnSpc>
            </a:pPr>
            <a:r>
              <a:rPr lang="en-US" sz="2700">
                <a:solidFill>
                  <a:srgbClr val="000000"/>
                </a:solidFill>
                <a:latin typeface="Aptos"/>
                <a:ea typeface="Aptos"/>
                <a:cs typeface="Aptos"/>
                <a:sym typeface="Aptos"/>
              </a:rPr>
              <a:t>Mã số sinh viên: </a:t>
            </a:r>
            <a:r>
              <a:rPr lang="en-US" sz="2700" b="true">
                <a:solidFill>
                  <a:srgbClr val="000000"/>
                </a:solidFill>
                <a:latin typeface="Aptos Bold"/>
                <a:ea typeface="Aptos Bold"/>
                <a:cs typeface="Aptos Bold"/>
                <a:sym typeface="Aptos Bold"/>
              </a:rPr>
              <a:t>110122016</a:t>
            </a:r>
          </a:p>
          <a:p>
            <a:pPr algn="l">
              <a:lnSpc>
                <a:spcPts val="3240"/>
              </a:lnSpc>
            </a:pPr>
            <a:r>
              <a:rPr lang="en-US" sz="2700">
                <a:solidFill>
                  <a:srgbClr val="000000"/>
                </a:solidFill>
                <a:latin typeface="Aptos"/>
                <a:ea typeface="Aptos"/>
                <a:cs typeface="Aptos"/>
                <a:sym typeface="Aptos"/>
              </a:rPr>
              <a:t>Mã lớp: </a:t>
            </a:r>
            <a:r>
              <a:rPr lang="en-US" sz="2700" b="true">
                <a:solidFill>
                  <a:srgbClr val="000000"/>
                </a:solidFill>
                <a:latin typeface="Aptos Bold"/>
                <a:ea typeface="Aptos Bold"/>
                <a:cs typeface="Aptos Bold"/>
                <a:sym typeface="Aptos Bold"/>
              </a:rPr>
              <a:t>DA22TTA</a:t>
            </a:r>
          </a:p>
        </p:txBody>
      </p:sp>
      <p:sp>
        <p:nvSpPr>
          <p:cNvPr name="TextBox 15" id="15"/>
          <p:cNvSpPr txBox="true"/>
          <p:nvPr/>
        </p:nvSpPr>
        <p:spPr>
          <a:xfrm rot="0">
            <a:off x="2635929" y="335813"/>
            <a:ext cx="13016151" cy="990600"/>
          </a:xfrm>
          <a:prstGeom prst="rect">
            <a:avLst/>
          </a:prstGeom>
        </p:spPr>
        <p:txBody>
          <a:bodyPr anchor="t" rtlCol="false" tIns="0" lIns="0" bIns="0" rIns="0">
            <a:spAutoFit/>
          </a:bodyPr>
          <a:lstStyle/>
          <a:p>
            <a:pPr algn="ctr">
              <a:lnSpc>
                <a:spcPts val="3960"/>
              </a:lnSpc>
            </a:pPr>
            <a:r>
              <a:rPr lang="en-US" sz="3300">
                <a:solidFill>
                  <a:srgbClr val="000000"/>
                </a:solidFill>
                <a:latin typeface="Aptos"/>
                <a:ea typeface="Aptos"/>
                <a:cs typeface="Aptos"/>
                <a:sym typeface="Aptos"/>
              </a:rPr>
              <a:t>ĐẠI HỌC TRÀ VINH</a:t>
            </a:r>
          </a:p>
          <a:p>
            <a:pPr algn="ctr">
              <a:lnSpc>
                <a:spcPts val="3960"/>
              </a:lnSpc>
            </a:pPr>
            <a:r>
              <a:rPr lang="en-US" sz="3300" b="true">
                <a:solidFill>
                  <a:srgbClr val="000000"/>
                </a:solidFill>
                <a:latin typeface="Aptos Bold"/>
                <a:ea typeface="Aptos Bold"/>
                <a:cs typeface="Aptos Bold"/>
                <a:sym typeface="Aptos Bold"/>
              </a:rPr>
              <a:t>TRƯỜNG KỸ THUẬT VÀ CÔNG NGHỆ</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6297952" y="9566777"/>
            <a:ext cx="732748" cy="515436"/>
            <a:chOff x="0" y="0"/>
            <a:chExt cx="923317" cy="649487"/>
          </a:xfrm>
        </p:grpSpPr>
        <p:sp>
          <p:nvSpPr>
            <p:cNvPr name="Freeform 7" id="7"/>
            <p:cNvSpPr/>
            <p:nvPr/>
          </p:nvSpPr>
          <p:spPr>
            <a:xfrm flipH="false" flipV="false" rot="0">
              <a:off x="0" y="0"/>
              <a:ext cx="923317" cy="649487"/>
            </a:xfrm>
            <a:custGeom>
              <a:avLst/>
              <a:gdLst/>
              <a:ahLst/>
              <a:cxnLst/>
              <a:rect r="r" b="b" t="t" l="l"/>
              <a:pathLst>
                <a:path h="649487" w="923317">
                  <a:moveTo>
                    <a:pt x="0" y="0"/>
                  </a:moveTo>
                  <a:lnTo>
                    <a:pt x="923317" y="0"/>
                  </a:lnTo>
                  <a:lnTo>
                    <a:pt x="923317" y="649487"/>
                  </a:lnTo>
                  <a:lnTo>
                    <a:pt x="0" y="649487"/>
                  </a:lnTo>
                  <a:close/>
                </a:path>
              </a:pathLst>
            </a:custGeom>
            <a:blipFill>
              <a:blip r:embed="rId5">
                <a:alphaModFix amt="0"/>
              </a:blip>
              <a:stretch>
                <a:fillRect l="0" t="-108378" r="-494205" b="-120812"/>
              </a:stretch>
            </a:blipFill>
          </p:spPr>
        </p:sp>
        <p:sp>
          <p:nvSpPr>
            <p:cNvPr name="TextBox 8" id="8"/>
            <p:cNvSpPr txBox="true"/>
            <p:nvPr/>
          </p:nvSpPr>
          <p:spPr>
            <a:xfrm>
              <a:off x="0" y="0"/>
              <a:ext cx="923317" cy="649487"/>
            </a:xfrm>
            <a:prstGeom prst="rect">
              <a:avLst/>
            </a:prstGeom>
          </p:spPr>
          <p:txBody>
            <a:bodyPr anchor="ctr" rtlCol="false" tIns="0" lIns="0" bIns="0" rIns="0"/>
            <a:lstStyle/>
            <a:p>
              <a:pPr algn="r">
                <a:lnSpc>
                  <a:spcPts val="2639"/>
                </a:lnSpc>
              </a:pPr>
              <a:r>
                <a:rPr lang="en-US" sz="2199">
                  <a:solidFill>
                    <a:srgbClr val="767676"/>
                  </a:solidFill>
                  <a:latin typeface="Aptos"/>
                  <a:ea typeface="Aptos"/>
                  <a:cs typeface="Aptos"/>
                  <a:sym typeface="Aptos"/>
                </a:rPr>
                <a:t>1</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TextBox 11" id="11"/>
          <p:cNvSpPr txBox="true"/>
          <p:nvPr/>
        </p:nvSpPr>
        <p:spPr>
          <a:xfrm rot="0">
            <a:off x="293484" y="573510"/>
            <a:ext cx="3048000"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NỘI DUNG</a:t>
            </a:r>
          </a:p>
        </p:txBody>
      </p:sp>
      <p:sp>
        <p:nvSpPr>
          <p:cNvPr name="TextBox 12" id="12"/>
          <p:cNvSpPr txBox="true"/>
          <p:nvPr/>
        </p:nvSpPr>
        <p:spPr>
          <a:xfrm rot="0">
            <a:off x="2128628" y="2776080"/>
            <a:ext cx="11210173" cy="527771"/>
          </a:xfrm>
          <a:prstGeom prst="rect">
            <a:avLst/>
          </a:prstGeom>
        </p:spPr>
        <p:txBody>
          <a:bodyPr anchor="t" rtlCol="false" tIns="0" lIns="0" bIns="0" rIns="0">
            <a:spAutoFit/>
          </a:bodyPr>
          <a:lstStyle/>
          <a:p>
            <a:pPr algn="l">
              <a:lnSpc>
                <a:spcPts val="3600"/>
              </a:lnSpc>
            </a:pPr>
            <a:r>
              <a:rPr lang="en-US" sz="3000" b="true">
                <a:solidFill>
                  <a:srgbClr val="000000"/>
                </a:solidFill>
                <a:latin typeface="Arial Bold"/>
                <a:ea typeface="Arial Bold"/>
                <a:cs typeface="Arial Bold"/>
                <a:sym typeface="Arial Bold"/>
              </a:rPr>
              <a:t>I.</a:t>
            </a:r>
            <a:r>
              <a:rPr lang="en-US" sz="3000">
                <a:solidFill>
                  <a:srgbClr val="000000"/>
                </a:solidFill>
                <a:latin typeface="Arial"/>
                <a:ea typeface="Arial"/>
                <a:cs typeface="Arial"/>
                <a:sym typeface="Arial"/>
              </a:rPr>
              <a:t> TỔNG QUAN ĐỀ TÀI</a:t>
            </a:r>
          </a:p>
        </p:txBody>
      </p:sp>
      <p:sp>
        <p:nvSpPr>
          <p:cNvPr name="TextBox 13" id="13"/>
          <p:cNvSpPr txBox="true"/>
          <p:nvPr/>
        </p:nvSpPr>
        <p:spPr>
          <a:xfrm rot="0">
            <a:off x="2128637" y="3976411"/>
            <a:ext cx="11938835" cy="476250"/>
          </a:xfrm>
          <a:prstGeom prst="rect">
            <a:avLst/>
          </a:prstGeom>
        </p:spPr>
        <p:txBody>
          <a:bodyPr anchor="t" rtlCol="false" tIns="0" lIns="0" bIns="0" rIns="0">
            <a:spAutoFit/>
          </a:bodyPr>
          <a:lstStyle/>
          <a:p>
            <a:pPr algn="l">
              <a:lnSpc>
                <a:spcPts val="3600"/>
              </a:lnSpc>
            </a:pPr>
            <a:r>
              <a:rPr lang="en-US" sz="3000" b="true">
                <a:solidFill>
                  <a:srgbClr val="000000"/>
                </a:solidFill>
                <a:latin typeface="Arial Bold"/>
                <a:ea typeface="Arial Bold"/>
                <a:cs typeface="Arial Bold"/>
                <a:sym typeface="Arial Bold"/>
              </a:rPr>
              <a:t>II.</a:t>
            </a:r>
            <a:r>
              <a:rPr lang="en-US" sz="3000">
                <a:solidFill>
                  <a:srgbClr val="000000"/>
                </a:solidFill>
                <a:latin typeface="Arial"/>
                <a:ea typeface="Arial"/>
                <a:cs typeface="Arial"/>
                <a:sym typeface="Arial"/>
              </a:rPr>
              <a:t> CƠ SỞ LÝ THUYẾT</a:t>
            </a:r>
          </a:p>
        </p:txBody>
      </p:sp>
      <p:sp>
        <p:nvSpPr>
          <p:cNvPr name="TextBox 14" id="14"/>
          <p:cNvSpPr txBox="true"/>
          <p:nvPr/>
        </p:nvSpPr>
        <p:spPr>
          <a:xfrm rot="0">
            <a:off x="2128637" y="6377073"/>
            <a:ext cx="12581773" cy="476250"/>
          </a:xfrm>
          <a:prstGeom prst="rect">
            <a:avLst/>
          </a:prstGeom>
        </p:spPr>
        <p:txBody>
          <a:bodyPr anchor="t" rtlCol="false" tIns="0" lIns="0" bIns="0" rIns="0">
            <a:spAutoFit/>
          </a:bodyPr>
          <a:lstStyle/>
          <a:p>
            <a:pPr algn="l">
              <a:lnSpc>
                <a:spcPts val="3600"/>
              </a:lnSpc>
            </a:pPr>
            <a:r>
              <a:rPr lang="en-US" sz="3000" b="true">
                <a:solidFill>
                  <a:srgbClr val="000000"/>
                </a:solidFill>
                <a:latin typeface="Arial Bold"/>
                <a:ea typeface="Arial Bold"/>
                <a:cs typeface="Arial Bold"/>
                <a:sym typeface="Arial Bold"/>
              </a:rPr>
              <a:t>IV.</a:t>
            </a:r>
            <a:r>
              <a:rPr lang="en-US" sz="3000">
                <a:solidFill>
                  <a:srgbClr val="000000"/>
                </a:solidFill>
                <a:latin typeface="Arial"/>
                <a:ea typeface="Arial"/>
                <a:cs typeface="Arial"/>
                <a:sym typeface="Arial"/>
              </a:rPr>
              <a:t> KẾT QUẢ THỰC HIỆN</a:t>
            </a:r>
          </a:p>
        </p:txBody>
      </p:sp>
      <p:sp>
        <p:nvSpPr>
          <p:cNvPr name="TextBox 15" id="15"/>
          <p:cNvSpPr txBox="true"/>
          <p:nvPr/>
        </p:nvSpPr>
        <p:spPr>
          <a:xfrm rot="0">
            <a:off x="2128637" y="5176742"/>
            <a:ext cx="11467348" cy="476250"/>
          </a:xfrm>
          <a:prstGeom prst="rect">
            <a:avLst/>
          </a:prstGeom>
        </p:spPr>
        <p:txBody>
          <a:bodyPr anchor="t" rtlCol="false" tIns="0" lIns="0" bIns="0" rIns="0">
            <a:spAutoFit/>
          </a:bodyPr>
          <a:lstStyle/>
          <a:p>
            <a:pPr algn="l">
              <a:lnSpc>
                <a:spcPts val="3600"/>
              </a:lnSpc>
            </a:pPr>
            <a:r>
              <a:rPr lang="en-US" sz="3000" b="true">
                <a:solidFill>
                  <a:srgbClr val="000000"/>
                </a:solidFill>
                <a:latin typeface="Arial Bold"/>
                <a:ea typeface="Arial Bold"/>
                <a:cs typeface="Arial Bold"/>
                <a:sym typeface="Arial Bold"/>
              </a:rPr>
              <a:t>III.</a:t>
            </a:r>
            <a:r>
              <a:rPr lang="en-US" sz="3000">
                <a:solidFill>
                  <a:srgbClr val="000000"/>
                </a:solidFill>
                <a:latin typeface="Arial"/>
                <a:ea typeface="Arial"/>
                <a:cs typeface="Arial"/>
                <a:sym typeface="Arial"/>
              </a:rPr>
              <a:t> PHÂN TÍCH VÀ THIẾT KẾ HỆ THỐNG</a:t>
            </a:r>
          </a:p>
        </p:txBody>
      </p:sp>
      <p:sp>
        <p:nvSpPr>
          <p:cNvPr name="TextBox 16" id="16"/>
          <p:cNvSpPr txBox="true"/>
          <p:nvPr/>
        </p:nvSpPr>
        <p:spPr>
          <a:xfrm rot="0">
            <a:off x="2128637" y="7578928"/>
            <a:ext cx="11467348" cy="476250"/>
          </a:xfrm>
          <a:prstGeom prst="rect">
            <a:avLst/>
          </a:prstGeom>
        </p:spPr>
        <p:txBody>
          <a:bodyPr anchor="t" rtlCol="false" tIns="0" lIns="0" bIns="0" rIns="0">
            <a:spAutoFit/>
          </a:bodyPr>
          <a:lstStyle/>
          <a:p>
            <a:pPr algn="l">
              <a:lnSpc>
                <a:spcPts val="3600"/>
              </a:lnSpc>
            </a:pPr>
            <a:r>
              <a:rPr lang="en-US" sz="3000" b="true">
                <a:solidFill>
                  <a:srgbClr val="000000"/>
                </a:solidFill>
                <a:latin typeface="Arial Bold"/>
                <a:ea typeface="Arial Bold"/>
                <a:cs typeface="Arial Bold"/>
                <a:sym typeface="Arial Bold"/>
              </a:rPr>
              <a:t>V.</a:t>
            </a:r>
            <a:r>
              <a:rPr lang="en-US" sz="3000">
                <a:solidFill>
                  <a:srgbClr val="000000"/>
                </a:solidFill>
                <a:latin typeface="Arial"/>
                <a:ea typeface="Arial"/>
                <a:cs typeface="Arial"/>
                <a:sym typeface="Arial"/>
              </a:rPr>
              <a:t> KẾT LUẬN VÀ HƯỚNG PHÁT TRIỂN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2</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TextBox 11" id="11"/>
          <p:cNvSpPr txBox="true"/>
          <p:nvPr/>
        </p:nvSpPr>
        <p:spPr>
          <a:xfrm rot="0">
            <a:off x="293484" y="573510"/>
            <a:ext cx="17303001" cy="804777"/>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 TỔNG QUAN ĐỀ TÀI</a:t>
            </a:r>
          </a:p>
        </p:txBody>
      </p:sp>
      <p:sp>
        <p:nvSpPr>
          <p:cNvPr name="TextBox 12" id="12"/>
          <p:cNvSpPr txBox="true"/>
          <p:nvPr/>
        </p:nvSpPr>
        <p:spPr>
          <a:xfrm rot="0">
            <a:off x="293484" y="1873558"/>
            <a:ext cx="11210173" cy="571500"/>
          </a:xfrm>
          <a:prstGeom prst="rect">
            <a:avLst/>
          </a:prstGeom>
        </p:spPr>
        <p:txBody>
          <a:bodyPr anchor="t" rtlCol="false" tIns="0" lIns="0" bIns="0" rIns="0">
            <a:spAutoFit/>
          </a:bodyPr>
          <a:lstStyle/>
          <a:p>
            <a:pPr algn="l">
              <a:lnSpc>
                <a:spcPts val="4319"/>
              </a:lnSpc>
            </a:pPr>
            <a:r>
              <a:rPr lang="en-US" sz="3599" b="true">
                <a:solidFill>
                  <a:srgbClr val="FF751F"/>
                </a:solidFill>
                <a:latin typeface="Arial Bold"/>
                <a:ea typeface="Arial Bold"/>
                <a:cs typeface="Arial Bold"/>
                <a:sym typeface="Arial Bold"/>
              </a:rPr>
              <a:t>1.1. Lý do chọn đề tài</a:t>
            </a:r>
          </a:p>
        </p:txBody>
      </p:sp>
      <p:grpSp>
        <p:nvGrpSpPr>
          <p:cNvPr name="Group 13" id="13"/>
          <p:cNvGrpSpPr/>
          <p:nvPr/>
        </p:nvGrpSpPr>
        <p:grpSpPr>
          <a:xfrm rot="0">
            <a:off x="451072" y="3533763"/>
            <a:ext cx="4042589" cy="4877853"/>
            <a:chOff x="0" y="0"/>
            <a:chExt cx="5390118" cy="6503803"/>
          </a:xfrm>
        </p:grpSpPr>
        <p:grpSp>
          <p:nvGrpSpPr>
            <p:cNvPr name="Group 14" id="14"/>
            <p:cNvGrpSpPr/>
            <p:nvPr/>
          </p:nvGrpSpPr>
          <p:grpSpPr>
            <a:xfrm rot="0">
              <a:off x="0" y="1741702"/>
              <a:ext cx="5390118" cy="4762101"/>
              <a:chOff x="0" y="0"/>
              <a:chExt cx="1052742" cy="930084"/>
            </a:xfrm>
          </p:grpSpPr>
          <p:sp>
            <p:nvSpPr>
              <p:cNvPr name="Freeform 15" id="15"/>
              <p:cNvSpPr/>
              <p:nvPr/>
            </p:nvSpPr>
            <p:spPr>
              <a:xfrm flipH="false" flipV="false" rot="0">
                <a:off x="0" y="0"/>
                <a:ext cx="1052742" cy="930084"/>
              </a:xfrm>
              <a:custGeom>
                <a:avLst/>
                <a:gdLst/>
                <a:ahLst/>
                <a:cxnLst/>
                <a:rect r="r" b="b" t="t" l="l"/>
                <a:pathLst>
                  <a:path h="930084" w="1052742">
                    <a:moveTo>
                      <a:pt x="42611" y="0"/>
                    </a:moveTo>
                    <a:lnTo>
                      <a:pt x="1010130" y="0"/>
                    </a:lnTo>
                    <a:cubicBezTo>
                      <a:pt x="1021432" y="0"/>
                      <a:pt x="1032270" y="4489"/>
                      <a:pt x="1040261" y="12481"/>
                    </a:cubicBezTo>
                    <a:cubicBezTo>
                      <a:pt x="1048252" y="20472"/>
                      <a:pt x="1052742" y="31310"/>
                      <a:pt x="1052742" y="42611"/>
                    </a:cubicBezTo>
                    <a:lnTo>
                      <a:pt x="1052742" y="887473"/>
                    </a:lnTo>
                    <a:cubicBezTo>
                      <a:pt x="1052742" y="898774"/>
                      <a:pt x="1048252" y="909612"/>
                      <a:pt x="1040261" y="917603"/>
                    </a:cubicBezTo>
                    <a:cubicBezTo>
                      <a:pt x="1032270" y="925594"/>
                      <a:pt x="1021432" y="930084"/>
                      <a:pt x="1010130" y="930084"/>
                    </a:cubicBezTo>
                    <a:lnTo>
                      <a:pt x="42611" y="930084"/>
                    </a:lnTo>
                    <a:cubicBezTo>
                      <a:pt x="31310" y="930084"/>
                      <a:pt x="20472" y="925594"/>
                      <a:pt x="12481" y="917603"/>
                    </a:cubicBezTo>
                    <a:cubicBezTo>
                      <a:pt x="4489" y="909612"/>
                      <a:pt x="0" y="898774"/>
                      <a:pt x="0" y="887473"/>
                    </a:cubicBezTo>
                    <a:lnTo>
                      <a:pt x="0" y="42611"/>
                    </a:lnTo>
                    <a:cubicBezTo>
                      <a:pt x="0" y="31310"/>
                      <a:pt x="4489" y="20472"/>
                      <a:pt x="12481" y="12481"/>
                    </a:cubicBezTo>
                    <a:cubicBezTo>
                      <a:pt x="20472" y="4489"/>
                      <a:pt x="31310" y="0"/>
                      <a:pt x="42611" y="0"/>
                    </a:cubicBezTo>
                    <a:close/>
                  </a:path>
                </a:pathLst>
              </a:custGeom>
              <a:solidFill>
                <a:srgbClr val="FFFFFF"/>
              </a:solidFill>
              <a:ln w="38100" cap="rnd">
                <a:solidFill>
                  <a:srgbClr val="053384"/>
                </a:solidFill>
                <a:prstDash val="solid"/>
                <a:round/>
              </a:ln>
            </p:spPr>
          </p:sp>
          <p:sp>
            <p:nvSpPr>
              <p:cNvPr name="TextBox 16" id="16"/>
              <p:cNvSpPr txBox="true"/>
              <p:nvPr/>
            </p:nvSpPr>
            <p:spPr>
              <a:xfrm>
                <a:off x="0" y="-28575"/>
                <a:ext cx="1052742" cy="958659"/>
              </a:xfrm>
              <a:prstGeom prst="rect">
                <a:avLst/>
              </a:prstGeom>
            </p:spPr>
            <p:txBody>
              <a:bodyPr anchor="ctr" rtlCol="false" tIns="50800" lIns="50800" bIns="50800" rIns="50800"/>
              <a:lstStyle/>
              <a:p>
                <a:pPr algn="just">
                  <a:lnSpc>
                    <a:spcPts val="3960"/>
                  </a:lnSpc>
                </a:pPr>
                <a:r>
                  <a:rPr lang="en-US" sz="3300">
                    <a:solidFill>
                      <a:srgbClr val="000000"/>
                    </a:solidFill>
                    <a:latin typeface="Arial"/>
                    <a:ea typeface="Arial"/>
                    <a:cs typeface="Arial"/>
                    <a:sym typeface="Arial"/>
                  </a:rPr>
                  <a:t>Cúm mùa và sốt xuất huyết gây thiệt hại lớn về sinh mạng và kinh tế.</a:t>
                </a:r>
              </a:p>
            </p:txBody>
          </p:sp>
        </p:grpSp>
        <p:sp>
          <p:nvSpPr>
            <p:cNvPr name="Freeform 17" id="17"/>
            <p:cNvSpPr/>
            <p:nvPr/>
          </p:nvSpPr>
          <p:spPr>
            <a:xfrm flipH="false" flipV="false" rot="0">
              <a:off x="0" y="0"/>
              <a:ext cx="5390118" cy="1279303"/>
            </a:xfrm>
            <a:custGeom>
              <a:avLst/>
              <a:gdLst/>
              <a:ahLst/>
              <a:cxnLst/>
              <a:rect r="r" b="b" t="t" l="l"/>
              <a:pathLst>
                <a:path h="1279303" w="5390118">
                  <a:moveTo>
                    <a:pt x="0" y="0"/>
                  </a:moveTo>
                  <a:lnTo>
                    <a:pt x="5390118" y="0"/>
                  </a:lnTo>
                  <a:lnTo>
                    <a:pt x="5390118" y="1279303"/>
                  </a:lnTo>
                  <a:lnTo>
                    <a:pt x="0" y="1279303"/>
                  </a:lnTo>
                  <a:lnTo>
                    <a:pt x="0" y="0"/>
                  </a:lnTo>
                  <a:close/>
                </a:path>
              </a:pathLst>
            </a:custGeom>
            <a:blipFill>
              <a:blip r:embed="rId7">
                <a:extLst>
                  <a:ext uri="{96DAC541-7B7A-43D3-8B79-37D633B846F1}">
                    <asvg:svgBlip xmlns:asvg="http://schemas.microsoft.com/office/drawing/2016/SVG/main" r:embed="rId8"/>
                  </a:ext>
                </a:extLst>
              </a:blip>
              <a:stretch>
                <a:fillRect l="0" t="-5156" r="0" b="-5156"/>
              </a:stretch>
            </a:blipFill>
          </p:spPr>
        </p:sp>
        <p:sp>
          <p:nvSpPr>
            <p:cNvPr name="TextBox 18" id="18"/>
            <p:cNvSpPr txBox="true"/>
            <p:nvPr/>
          </p:nvSpPr>
          <p:spPr>
            <a:xfrm rot="0">
              <a:off x="252662" y="342354"/>
              <a:ext cx="4884795" cy="534553"/>
            </a:xfrm>
            <a:prstGeom prst="rect">
              <a:avLst/>
            </a:prstGeom>
          </p:spPr>
          <p:txBody>
            <a:bodyPr anchor="t" rtlCol="false" tIns="0" lIns="0" bIns="0" rIns="0">
              <a:spAutoFit/>
            </a:bodyPr>
            <a:lstStyle/>
            <a:p>
              <a:pPr algn="ctr">
                <a:lnSpc>
                  <a:spcPts val="3233"/>
                </a:lnSpc>
              </a:pPr>
              <a:r>
                <a:rPr lang="en-US" b="true" sz="2309">
                  <a:solidFill>
                    <a:srgbClr val="053384"/>
                  </a:solidFill>
                  <a:latin typeface="Arial Bold"/>
                  <a:ea typeface="Arial Bold"/>
                  <a:cs typeface="Arial Bold"/>
                  <a:sym typeface="Arial Bold"/>
                </a:rPr>
                <a:t>Gánh nặng y tế toàn cầu</a:t>
              </a:r>
            </a:p>
          </p:txBody>
        </p:sp>
      </p:grpSp>
      <p:grpSp>
        <p:nvGrpSpPr>
          <p:cNvPr name="Group 19" id="19"/>
          <p:cNvGrpSpPr/>
          <p:nvPr/>
        </p:nvGrpSpPr>
        <p:grpSpPr>
          <a:xfrm rot="0">
            <a:off x="4899111" y="3533763"/>
            <a:ext cx="4042589" cy="4877853"/>
            <a:chOff x="0" y="0"/>
            <a:chExt cx="5390118" cy="6503803"/>
          </a:xfrm>
        </p:grpSpPr>
        <p:grpSp>
          <p:nvGrpSpPr>
            <p:cNvPr name="Group 20" id="20"/>
            <p:cNvGrpSpPr/>
            <p:nvPr/>
          </p:nvGrpSpPr>
          <p:grpSpPr>
            <a:xfrm rot="0">
              <a:off x="0" y="1741702"/>
              <a:ext cx="5390118" cy="4762101"/>
              <a:chOff x="0" y="0"/>
              <a:chExt cx="1052742" cy="930084"/>
            </a:xfrm>
          </p:grpSpPr>
          <p:sp>
            <p:nvSpPr>
              <p:cNvPr name="Freeform 21" id="21"/>
              <p:cNvSpPr/>
              <p:nvPr/>
            </p:nvSpPr>
            <p:spPr>
              <a:xfrm flipH="false" flipV="false" rot="0">
                <a:off x="0" y="0"/>
                <a:ext cx="1052742" cy="930084"/>
              </a:xfrm>
              <a:custGeom>
                <a:avLst/>
                <a:gdLst/>
                <a:ahLst/>
                <a:cxnLst/>
                <a:rect r="r" b="b" t="t" l="l"/>
                <a:pathLst>
                  <a:path h="930084" w="1052742">
                    <a:moveTo>
                      <a:pt x="42611" y="0"/>
                    </a:moveTo>
                    <a:lnTo>
                      <a:pt x="1010130" y="0"/>
                    </a:lnTo>
                    <a:cubicBezTo>
                      <a:pt x="1021432" y="0"/>
                      <a:pt x="1032270" y="4489"/>
                      <a:pt x="1040261" y="12481"/>
                    </a:cubicBezTo>
                    <a:cubicBezTo>
                      <a:pt x="1048252" y="20472"/>
                      <a:pt x="1052742" y="31310"/>
                      <a:pt x="1052742" y="42611"/>
                    </a:cubicBezTo>
                    <a:lnTo>
                      <a:pt x="1052742" y="887473"/>
                    </a:lnTo>
                    <a:cubicBezTo>
                      <a:pt x="1052742" y="898774"/>
                      <a:pt x="1048252" y="909612"/>
                      <a:pt x="1040261" y="917603"/>
                    </a:cubicBezTo>
                    <a:cubicBezTo>
                      <a:pt x="1032270" y="925594"/>
                      <a:pt x="1021432" y="930084"/>
                      <a:pt x="1010130" y="930084"/>
                    </a:cubicBezTo>
                    <a:lnTo>
                      <a:pt x="42611" y="930084"/>
                    </a:lnTo>
                    <a:cubicBezTo>
                      <a:pt x="31310" y="930084"/>
                      <a:pt x="20472" y="925594"/>
                      <a:pt x="12481" y="917603"/>
                    </a:cubicBezTo>
                    <a:cubicBezTo>
                      <a:pt x="4489" y="909612"/>
                      <a:pt x="0" y="898774"/>
                      <a:pt x="0" y="887473"/>
                    </a:cubicBezTo>
                    <a:lnTo>
                      <a:pt x="0" y="42611"/>
                    </a:lnTo>
                    <a:cubicBezTo>
                      <a:pt x="0" y="31310"/>
                      <a:pt x="4489" y="20472"/>
                      <a:pt x="12481" y="12481"/>
                    </a:cubicBezTo>
                    <a:cubicBezTo>
                      <a:pt x="20472" y="4489"/>
                      <a:pt x="31310" y="0"/>
                      <a:pt x="42611" y="0"/>
                    </a:cubicBezTo>
                    <a:close/>
                  </a:path>
                </a:pathLst>
              </a:custGeom>
              <a:solidFill>
                <a:srgbClr val="FFFFFF"/>
              </a:solidFill>
              <a:ln w="38100" cap="rnd">
                <a:solidFill>
                  <a:srgbClr val="053384"/>
                </a:solidFill>
                <a:prstDash val="solid"/>
                <a:round/>
              </a:ln>
            </p:spPr>
          </p:sp>
          <p:sp>
            <p:nvSpPr>
              <p:cNvPr name="TextBox 22" id="22"/>
              <p:cNvSpPr txBox="true"/>
              <p:nvPr/>
            </p:nvSpPr>
            <p:spPr>
              <a:xfrm>
                <a:off x="0" y="-28575"/>
                <a:ext cx="1052742" cy="958659"/>
              </a:xfrm>
              <a:prstGeom prst="rect">
                <a:avLst/>
              </a:prstGeom>
            </p:spPr>
            <p:txBody>
              <a:bodyPr anchor="ctr" rtlCol="false" tIns="50800" lIns="50800" bIns="50800" rIns="50800"/>
              <a:lstStyle/>
              <a:p>
                <a:pPr algn="just">
                  <a:lnSpc>
                    <a:spcPts val="3960"/>
                  </a:lnSpc>
                </a:pPr>
                <a:r>
                  <a:rPr lang="en-US" sz="3300">
                    <a:solidFill>
                      <a:srgbClr val="000000"/>
                    </a:solidFill>
                    <a:latin typeface="Arial"/>
                    <a:ea typeface="Arial"/>
                    <a:cs typeface="Arial"/>
                    <a:sym typeface="Arial"/>
                  </a:rPr>
                  <a:t>Sự bùng phát dịch bệnh gắn liền với biến động nhiệt độ, lượng mưa, độ ẩm.</a:t>
                </a:r>
              </a:p>
            </p:txBody>
          </p:sp>
        </p:grpSp>
        <p:sp>
          <p:nvSpPr>
            <p:cNvPr name="Freeform 23" id="23"/>
            <p:cNvSpPr/>
            <p:nvPr/>
          </p:nvSpPr>
          <p:spPr>
            <a:xfrm flipH="false" flipV="false" rot="0">
              <a:off x="0" y="0"/>
              <a:ext cx="5390118" cy="1279303"/>
            </a:xfrm>
            <a:custGeom>
              <a:avLst/>
              <a:gdLst/>
              <a:ahLst/>
              <a:cxnLst/>
              <a:rect r="r" b="b" t="t" l="l"/>
              <a:pathLst>
                <a:path h="1279303" w="5390118">
                  <a:moveTo>
                    <a:pt x="0" y="0"/>
                  </a:moveTo>
                  <a:lnTo>
                    <a:pt x="5390118" y="0"/>
                  </a:lnTo>
                  <a:lnTo>
                    <a:pt x="5390118" y="1279303"/>
                  </a:lnTo>
                  <a:lnTo>
                    <a:pt x="0" y="1279303"/>
                  </a:lnTo>
                  <a:lnTo>
                    <a:pt x="0" y="0"/>
                  </a:lnTo>
                  <a:close/>
                </a:path>
              </a:pathLst>
            </a:custGeom>
            <a:blipFill>
              <a:blip r:embed="rId7">
                <a:extLst>
                  <a:ext uri="{96DAC541-7B7A-43D3-8B79-37D633B846F1}">
                    <asvg:svgBlip xmlns:asvg="http://schemas.microsoft.com/office/drawing/2016/SVG/main" r:embed="rId8"/>
                  </a:ext>
                </a:extLst>
              </a:blip>
              <a:stretch>
                <a:fillRect l="0" t="-5156" r="0" b="-5156"/>
              </a:stretch>
            </a:blipFill>
          </p:spPr>
        </p:sp>
        <p:sp>
          <p:nvSpPr>
            <p:cNvPr name="TextBox 24" id="24"/>
            <p:cNvSpPr txBox="true"/>
            <p:nvPr/>
          </p:nvSpPr>
          <p:spPr>
            <a:xfrm rot="0">
              <a:off x="252662" y="72621"/>
              <a:ext cx="4884795" cy="1080653"/>
            </a:xfrm>
            <a:prstGeom prst="rect">
              <a:avLst/>
            </a:prstGeom>
          </p:spPr>
          <p:txBody>
            <a:bodyPr anchor="t" rtlCol="false" tIns="0" lIns="0" bIns="0" rIns="0">
              <a:spAutoFit/>
            </a:bodyPr>
            <a:lstStyle/>
            <a:p>
              <a:pPr algn="ctr">
                <a:lnSpc>
                  <a:spcPts val="3233"/>
                </a:lnSpc>
              </a:pPr>
              <a:r>
                <a:rPr lang="en-US" sz="2309" b="true">
                  <a:solidFill>
                    <a:srgbClr val="053384"/>
                  </a:solidFill>
                  <a:latin typeface="Arial Bold"/>
                  <a:ea typeface="Arial Bold"/>
                  <a:cs typeface="Arial Bold"/>
                  <a:sym typeface="Arial Bold"/>
                </a:rPr>
                <a:t>Mối</a:t>
              </a:r>
              <a:r>
                <a:rPr lang="en-US" b="true" sz="2309">
                  <a:solidFill>
                    <a:srgbClr val="053384"/>
                  </a:solidFill>
                  <a:latin typeface="Arial Bold"/>
                  <a:ea typeface="Arial Bold"/>
                  <a:cs typeface="Arial Bold"/>
                  <a:sym typeface="Arial Bold"/>
                </a:rPr>
                <a:t> liên hệ mật thiết với khí hậu</a:t>
              </a:r>
            </a:p>
          </p:txBody>
        </p:sp>
      </p:grpSp>
      <p:grpSp>
        <p:nvGrpSpPr>
          <p:cNvPr name="Group 25" id="25"/>
          <p:cNvGrpSpPr/>
          <p:nvPr/>
        </p:nvGrpSpPr>
        <p:grpSpPr>
          <a:xfrm rot="0">
            <a:off x="9346300" y="3533763"/>
            <a:ext cx="4042589" cy="4877853"/>
            <a:chOff x="0" y="0"/>
            <a:chExt cx="5390118" cy="6503803"/>
          </a:xfrm>
        </p:grpSpPr>
        <p:grpSp>
          <p:nvGrpSpPr>
            <p:cNvPr name="Group 26" id="26"/>
            <p:cNvGrpSpPr/>
            <p:nvPr/>
          </p:nvGrpSpPr>
          <p:grpSpPr>
            <a:xfrm rot="0">
              <a:off x="0" y="1741702"/>
              <a:ext cx="5390118" cy="4762101"/>
              <a:chOff x="0" y="0"/>
              <a:chExt cx="1052742" cy="930084"/>
            </a:xfrm>
          </p:grpSpPr>
          <p:sp>
            <p:nvSpPr>
              <p:cNvPr name="Freeform 27" id="27"/>
              <p:cNvSpPr/>
              <p:nvPr/>
            </p:nvSpPr>
            <p:spPr>
              <a:xfrm flipH="false" flipV="false" rot="0">
                <a:off x="0" y="0"/>
                <a:ext cx="1052742" cy="930084"/>
              </a:xfrm>
              <a:custGeom>
                <a:avLst/>
                <a:gdLst/>
                <a:ahLst/>
                <a:cxnLst/>
                <a:rect r="r" b="b" t="t" l="l"/>
                <a:pathLst>
                  <a:path h="930084" w="1052742">
                    <a:moveTo>
                      <a:pt x="42611" y="0"/>
                    </a:moveTo>
                    <a:lnTo>
                      <a:pt x="1010130" y="0"/>
                    </a:lnTo>
                    <a:cubicBezTo>
                      <a:pt x="1021432" y="0"/>
                      <a:pt x="1032270" y="4489"/>
                      <a:pt x="1040261" y="12481"/>
                    </a:cubicBezTo>
                    <a:cubicBezTo>
                      <a:pt x="1048252" y="20472"/>
                      <a:pt x="1052742" y="31310"/>
                      <a:pt x="1052742" y="42611"/>
                    </a:cubicBezTo>
                    <a:lnTo>
                      <a:pt x="1052742" y="887473"/>
                    </a:lnTo>
                    <a:cubicBezTo>
                      <a:pt x="1052742" y="898774"/>
                      <a:pt x="1048252" y="909612"/>
                      <a:pt x="1040261" y="917603"/>
                    </a:cubicBezTo>
                    <a:cubicBezTo>
                      <a:pt x="1032270" y="925594"/>
                      <a:pt x="1021432" y="930084"/>
                      <a:pt x="1010130" y="930084"/>
                    </a:cubicBezTo>
                    <a:lnTo>
                      <a:pt x="42611" y="930084"/>
                    </a:lnTo>
                    <a:cubicBezTo>
                      <a:pt x="31310" y="930084"/>
                      <a:pt x="20472" y="925594"/>
                      <a:pt x="12481" y="917603"/>
                    </a:cubicBezTo>
                    <a:cubicBezTo>
                      <a:pt x="4489" y="909612"/>
                      <a:pt x="0" y="898774"/>
                      <a:pt x="0" y="887473"/>
                    </a:cubicBezTo>
                    <a:lnTo>
                      <a:pt x="0" y="42611"/>
                    </a:lnTo>
                    <a:cubicBezTo>
                      <a:pt x="0" y="31310"/>
                      <a:pt x="4489" y="20472"/>
                      <a:pt x="12481" y="12481"/>
                    </a:cubicBezTo>
                    <a:cubicBezTo>
                      <a:pt x="20472" y="4489"/>
                      <a:pt x="31310" y="0"/>
                      <a:pt x="42611" y="0"/>
                    </a:cubicBezTo>
                    <a:close/>
                  </a:path>
                </a:pathLst>
              </a:custGeom>
              <a:solidFill>
                <a:srgbClr val="FFFFFF"/>
              </a:solidFill>
              <a:ln w="38100" cap="rnd">
                <a:solidFill>
                  <a:srgbClr val="053384"/>
                </a:solidFill>
                <a:prstDash val="solid"/>
                <a:round/>
              </a:ln>
            </p:spPr>
          </p:sp>
          <p:sp>
            <p:nvSpPr>
              <p:cNvPr name="TextBox 28" id="28"/>
              <p:cNvSpPr txBox="true"/>
              <p:nvPr/>
            </p:nvSpPr>
            <p:spPr>
              <a:xfrm>
                <a:off x="0" y="-28575"/>
                <a:ext cx="1052742" cy="958659"/>
              </a:xfrm>
              <a:prstGeom prst="rect">
                <a:avLst/>
              </a:prstGeom>
            </p:spPr>
            <p:txBody>
              <a:bodyPr anchor="ctr" rtlCol="false" tIns="50800" lIns="50800" bIns="50800" rIns="50800"/>
              <a:lstStyle/>
              <a:p>
                <a:pPr algn="just">
                  <a:lnSpc>
                    <a:spcPts val="3960"/>
                  </a:lnSpc>
                </a:pPr>
                <a:r>
                  <a:rPr lang="en-US" sz="3300">
                    <a:solidFill>
                      <a:srgbClr val="000000"/>
                    </a:solidFill>
                    <a:latin typeface="Arial"/>
                    <a:ea typeface="Arial"/>
                    <a:cs typeface="Arial"/>
                    <a:sym typeface="Arial"/>
                  </a:rPr>
                  <a:t>Tồn tại khoảng thời gian trễ giữa thay đổi thời tiết và gia tăng ca bệnh.</a:t>
                </a:r>
              </a:p>
            </p:txBody>
          </p:sp>
        </p:grpSp>
        <p:sp>
          <p:nvSpPr>
            <p:cNvPr name="Freeform 29" id="29"/>
            <p:cNvSpPr/>
            <p:nvPr/>
          </p:nvSpPr>
          <p:spPr>
            <a:xfrm flipH="false" flipV="false" rot="0">
              <a:off x="0" y="0"/>
              <a:ext cx="5390118" cy="1279303"/>
            </a:xfrm>
            <a:custGeom>
              <a:avLst/>
              <a:gdLst/>
              <a:ahLst/>
              <a:cxnLst/>
              <a:rect r="r" b="b" t="t" l="l"/>
              <a:pathLst>
                <a:path h="1279303" w="5390118">
                  <a:moveTo>
                    <a:pt x="0" y="0"/>
                  </a:moveTo>
                  <a:lnTo>
                    <a:pt x="5390118" y="0"/>
                  </a:lnTo>
                  <a:lnTo>
                    <a:pt x="5390118" y="1279303"/>
                  </a:lnTo>
                  <a:lnTo>
                    <a:pt x="0" y="1279303"/>
                  </a:lnTo>
                  <a:lnTo>
                    <a:pt x="0" y="0"/>
                  </a:lnTo>
                  <a:close/>
                </a:path>
              </a:pathLst>
            </a:custGeom>
            <a:blipFill>
              <a:blip r:embed="rId7">
                <a:extLst>
                  <a:ext uri="{96DAC541-7B7A-43D3-8B79-37D633B846F1}">
                    <asvg:svgBlip xmlns:asvg="http://schemas.microsoft.com/office/drawing/2016/SVG/main" r:embed="rId8"/>
                  </a:ext>
                </a:extLst>
              </a:blip>
              <a:stretch>
                <a:fillRect l="0" t="-5156" r="0" b="-5156"/>
              </a:stretch>
            </a:blipFill>
          </p:spPr>
        </p:sp>
        <p:sp>
          <p:nvSpPr>
            <p:cNvPr name="TextBox 30" id="30"/>
            <p:cNvSpPr txBox="true"/>
            <p:nvPr/>
          </p:nvSpPr>
          <p:spPr>
            <a:xfrm rot="0">
              <a:off x="252662" y="342354"/>
              <a:ext cx="4884795" cy="534553"/>
            </a:xfrm>
            <a:prstGeom prst="rect">
              <a:avLst/>
            </a:prstGeom>
          </p:spPr>
          <p:txBody>
            <a:bodyPr anchor="t" rtlCol="false" tIns="0" lIns="0" bIns="0" rIns="0">
              <a:spAutoFit/>
            </a:bodyPr>
            <a:lstStyle/>
            <a:p>
              <a:pPr algn="ctr">
                <a:lnSpc>
                  <a:spcPts val="3233"/>
                </a:lnSpc>
              </a:pPr>
              <a:r>
                <a:rPr lang="en-US" sz="2309" b="true">
                  <a:solidFill>
                    <a:srgbClr val="053384"/>
                  </a:solidFill>
                  <a:latin typeface="Arial Bold"/>
                  <a:ea typeface="Arial Bold"/>
                  <a:cs typeface="Arial Bold"/>
                  <a:sym typeface="Arial Bold"/>
                </a:rPr>
                <a:t>La</a:t>
              </a:r>
              <a:r>
                <a:rPr lang="en-US" b="true" sz="2309">
                  <a:solidFill>
                    <a:srgbClr val="053384"/>
                  </a:solidFill>
                  <a:latin typeface="Arial Bold"/>
                  <a:ea typeface="Arial Bold"/>
                  <a:cs typeface="Arial Bold"/>
                  <a:sym typeface="Arial Bold"/>
                </a:rPr>
                <a:t>g time</a:t>
              </a:r>
            </a:p>
          </p:txBody>
        </p:sp>
      </p:grpSp>
      <p:grpSp>
        <p:nvGrpSpPr>
          <p:cNvPr name="Group 31" id="31"/>
          <p:cNvGrpSpPr/>
          <p:nvPr/>
        </p:nvGrpSpPr>
        <p:grpSpPr>
          <a:xfrm rot="0">
            <a:off x="13794340" y="3533763"/>
            <a:ext cx="4042589" cy="4877853"/>
            <a:chOff x="0" y="0"/>
            <a:chExt cx="5390118" cy="6503803"/>
          </a:xfrm>
        </p:grpSpPr>
        <p:grpSp>
          <p:nvGrpSpPr>
            <p:cNvPr name="Group 32" id="32"/>
            <p:cNvGrpSpPr/>
            <p:nvPr/>
          </p:nvGrpSpPr>
          <p:grpSpPr>
            <a:xfrm rot="0">
              <a:off x="0" y="1741702"/>
              <a:ext cx="5390118" cy="4762101"/>
              <a:chOff x="0" y="0"/>
              <a:chExt cx="1052742" cy="930084"/>
            </a:xfrm>
          </p:grpSpPr>
          <p:sp>
            <p:nvSpPr>
              <p:cNvPr name="Freeform 33" id="33"/>
              <p:cNvSpPr/>
              <p:nvPr/>
            </p:nvSpPr>
            <p:spPr>
              <a:xfrm flipH="false" flipV="false" rot="0">
                <a:off x="0" y="0"/>
                <a:ext cx="1052742" cy="930084"/>
              </a:xfrm>
              <a:custGeom>
                <a:avLst/>
                <a:gdLst/>
                <a:ahLst/>
                <a:cxnLst/>
                <a:rect r="r" b="b" t="t" l="l"/>
                <a:pathLst>
                  <a:path h="930084" w="1052742">
                    <a:moveTo>
                      <a:pt x="42611" y="0"/>
                    </a:moveTo>
                    <a:lnTo>
                      <a:pt x="1010130" y="0"/>
                    </a:lnTo>
                    <a:cubicBezTo>
                      <a:pt x="1021432" y="0"/>
                      <a:pt x="1032270" y="4489"/>
                      <a:pt x="1040261" y="12481"/>
                    </a:cubicBezTo>
                    <a:cubicBezTo>
                      <a:pt x="1048252" y="20472"/>
                      <a:pt x="1052742" y="31310"/>
                      <a:pt x="1052742" y="42611"/>
                    </a:cubicBezTo>
                    <a:lnTo>
                      <a:pt x="1052742" y="887473"/>
                    </a:lnTo>
                    <a:cubicBezTo>
                      <a:pt x="1052742" y="898774"/>
                      <a:pt x="1048252" y="909612"/>
                      <a:pt x="1040261" y="917603"/>
                    </a:cubicBezTo>
                    <a:cubicBezTo>
                      <a:pt x="1032270" y="925594"/>
                      <a:pt x="1021432" y="930084"/>
                      <a:pt x="1010130" y="930084"/>
                    </a:cubicBezTo>
                    <a:lnTo>
                      <a:pt x="42611" y="930084"/>
                    </a:lnTo>
                    <a:cubicBezTo>
                      <a:pt x="31310" y="930084"/>
                      <a:pt x="20472" y="925594"/>
                      <a:pt x="12481" y="917603"/>
                    </a:cubicBezTo>
                    <a:cubicBezTo>
                      <a:pt x="4489" y="909612"/>
                      <a:pt x="0" y="898774"/>
                      <a:pt x="0" y="887473"/>
                    </a:cubicBezTo>
                    <a:lnTo>
                      <a:pt x="0" y="42611"/>
                    </a:lnTo>
                    <a:cubicBezTo>
                      <a:pt x="0" y="31310"/>
                      <a:pt x="4489" y="20472"/>
                      <a:pt x="12481" y="12481"/>
                    </a:cubicBezTo>
                    <a:cubicBezTo>
                      <a:pt x="20472" y="4489"/>
                      <a:pt x="31310" y="0"/>
                      <a:pt x="42611" y="0"/>
                    </a:cubicBezTo>
                    <a:close/>
                  </a:path>
                </a:pathLst>
              </a:custGeom>
              <a:solidFill>
                <a:srgbClr val="FFFFFF"/>
              </a:solidFill>
              <a:ln w="38100" cap="rnd">
                <a:solidFill>
                  <a:srgbClr val="053384"/>
                </a:solidFill>
                <a:prstDash val="solid"/>
                <a:round/>
              </a:ln>
            </p:spPr>
          </p:sp>
          <p:sp>
            <p:nvSpPr>
              <p:cNvPr name="TextBox 34" id="34"/>
              <p:cNvSpPr txBox="true"/>
              <p:nvPr/>
            </p:nvSpPr>
            <p:spPr>
              <a:xfrm>
                <a:off x="0" y="-28575"/>
                <a:ext cx="1052742" cy="958659"/>
              </a:xfrm>
              <a:prstGeom prst="rect">
                <a:avLst/>
              </a:prstGeom>
            </p:spPr>
            <p:txBody>
              <a:bodyPr anchor="ctr" rtlCol="false" tIns="50800" lIns="50800" bIns="50800" rIns="50800"/>
              <a:lstStyle/>
              <a:p>
                <a:pPr algn="just">
                  <a:lnSpc>
                    <a:spcPts val="3960"/>
                  </a:lnSpc>
                </a:pPr>
                <a:r>
                  <a:rPr lang="en-US" sz="3300">
                    <a:solidFill>
                      <a:srgbClr val="000000"/>
                    </a:solidFill>
                    <a:latin typeface="Arial"/>
                    <a:ea typeface="Arial"/>
                    <a:cs typeface="Arial"/>
                    <a:sym typeface="Arial"/>
                  </a:rPr>
                  <a:t>Cúm mùa và sốt xuất huyết gây thiệt hại lớn về sinh mạng và kinh tế</a:t>
                </a:r>
              </a:p>
            </p:txBody>
          </p:sp>
        </p:grpSp>
        <p:sp>
          <p:nvSpPr>
            <p:cNvPr name="Freeform 35" id="35"/>
            <p:cNvSpPr/>
            <p:nvPr/>
          </p:nvSpPr>
          <p:spPr>
            <a:xfrm flipH="false" flipV="false" rot="0">
              <a:off x="0" y="0"/>
              <a:ext cx="5390118" cy="1279303"/>
            </a:xfrm>
            <a:custGeom>
              <a:avLst/>
              <a:gdLst/>
              <a:ahLst/>
              <a:cxnLst/>
              <a:rect r="r" b="b" t="t" l="l"/>
              <a:pathLst>
                <a:path h="1279303" w="5390118">
                  <a:moveTo>
                    <a:pt x="0" y="0"/>
                  </a:moveTo>
                  <a:lnTo>
                    <a:pt x="5390118" y="0"/>
                  </a:lnTo>
                  <a:lnTo>
                    <a:pt x="5390118" y="1279303"/>
                  </a:lnTo>
                  <a:lnTo>
                    <a:pt x="0" y="1279303"/>
                  </a:lnTo>
                  <a:lnTo>
                    <a:pt x="0" y="0"/>
                  </a:lnTo>
                  <a:close/>
                </a:path>
              </a:pathLst>
            </a:custGeom>
            <a:blipFill>
              <a:blip r:embed="rId7">
                <a:extLst>
                  <a:ext uri="{96DAC541-7B7A-43D3-8B79-37D633B846F1}">
                    <asvg:svgBlip xmlns:asvg="http://schemas.microsoft.com/office/drawing/2016/SVG/main" r:embed="rId8"/>
                  </a:ext>
                </a:extLst>
              </a:blip>
              <a:stretch>
                <a:fillRect l="0" t="-5156" r="0" b="-5156"/>
              </a:stretch>
            </a:blipFill>
          </p:spPr>
        </p:sp>
        <p:sp>
          <p:nvSpPr>
            <p:cNvPr name="TextBox 36" id="36"/>
            <p:cNvSpPr txBox="true"/>
            <p:nvPr/>
          </p:nvSpPr>
          <p:spPr>
            <a:xfrm rot="0">
              <a:off x="252662" y="72621"/>
              <a:ext cx="4884795" cy="1080653"/>
            </a:xfrm>
            <a:prstGeom prst="rect">
              <a:avLst/>
            </a:prstGeom>
          </p:spPr>
          <p:txBody>
            <a:bodyPr anchor="t" rtlCol="false" tIns="0" lIns="0" bIns="0" rIns="0">
              <a:spAutoFit/>
            </a:bodyPr>
            <a:lstStyle/>
            <a:p>
              <a:pPr algn="ctr">
                <a:lnSpc>
                  <a:spcPts val="3233"/>
                </a:lnSpc>
              </a:pPr>
              <a:r>
                <a:rPr lang="en-US" sz="2309" b="true">
                  <a:solidFill>
                    <a:srgbClr val="053384"/>
                  </a:solidFill>
                  <a:latin typeface="Arial Bold"/>
                  <a:ea typeface="Arial Bold"/>
                  <a:cs typeface="Arial Bold"/>
                  <a:sym typeface="Arial Bold"/>
                </a:rPr>
                <a:t>Thiếu sót</a:t>
              </a:r>
              <a:r>
                <a:rPr lang="en-US" b="true" sz="2309">
                  <a:solidFill>
                    <a:srgbClr val="053384"/>
                  </a:solidFill>
                  <a:latin typeface="Arial Bold"/>
                  <a:ea typeface="Arial Bold"/>
                  <a:cs typeface="Arial Bold"/>
                  <a:sym typeface="Arial Bold"/>
                </a:rPr>
                <a:t> của hệ thống hiện tại</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3</a:t>
              </a:r>
            </a:p>
          </p:txBody>
        </p:sp>
      </p:grpSp>
      <p:sp>
        <p:nvSpPr>
          <p:cNvPr name="TextBox 9" id="9"/>
          <p:cNvSpPr txBox="true"/>
          <p:nvPr/>
        </p:nvSpPr>
        <p:spPr>
          <a:xfrm rot="0">
            <a:off x="293484" y="573510"/>
            <a:ext cx="17303001" cy="804777"/>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 TỔNG QUAN ĐỀ TÀI</a:t>
            </a:r>
          </a:p>
        </p:txBody>
      </p:sp>
      <p:sp>
        <p:nvSpPr>
          <p:cNvPr name="TextBox 10" id="10"/>
          <p:cNvSpPr txBox="true"/>
          <p:nvPr/>
        </p:nvSpPr>
        <p:spPr>
          <a:xfrm rot="0">
            <a:off x="293484" y="1873558"/>
            <a:ext cx="11210173" cy="571500"/>
          </a:xfrm>
          <a:prstGeom prst="rect">
            <a:avLst/>
          </a:prstGeom>
        </p:spPr>
        <p:txBody>
          <a:bodyPr anchor="t" rtlCol="false" tIns="0" lIns="0" bIns="0" rIns="0">
            <a:spAutoFit/>
          </a:bodyPr>
          <a:lstStyle/>
          <a:p>
            <a:pPr algn="l">
              <a:lnSpc>
                <a:spcPts val="4319"/>
              </a:lnSpc>
            </a:pPr>
            <a:r>
              <a:rPr lang="en-US" sz="3599" b="true">
                <a:solidFill>
                  <a:srgbClr val="FF751F"/>
                </a:solidFill>
                <a:latin typeface="Arial Bold"/>
                <a:ea typeface="Arial Bold"/>
                <a:cs typeface="Arial Bold"/>
                <a:sym typeface="Arial Bold"/>
              </a:rPr>
              <a:t>1.2. Mục tiêu nghiên cứu</a:t>
            </a:r>
          </a:p>
        </p:txBody>
      </p:sp>
      <p:grpSp>
        <p:nvGrpSpPr>
          <p:cNvPr name="Group 11" id="11"/>
          <p:cNvGrpSpPr/>
          <p:nvPr/>
        </p:nvGrpSpPr>
        <p:grpSpPr>
          <a:xfrm rot="0">
            <a:off x="0" y="1378287"/>
            <a:ext cx="4682928" cy="137160"/>
            <a:chOff x="0" y="0"/>
            <a:chExt cx="6243904" cy="182880"/>
          </a:xfrm>
        </p:grpSpPr>
        <p:sp>
          <p:nvSpPr>
            <p:cNvPr name="Freeform 12" id="12"/>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TextBox 13" id="13"/>
          <p:cNvSpPr txBox="true"/>
          <p:nvPr/>
        </p:nvSpPr>
        <p:spPr>
          <a:xfrm rot="0">
            <a:off x="820103" y="2673734"/>
            <a:ext cx="16210598" cy="6629401"/>
          </a:xfrm>
          <a:prstGeom prst="rect">
            <a:avLst/>
          </a:prstGeom>
        </p:spPr>
        <p:txBody>
          <a:bodyPr anchor="t" rtlCol="false" tIns="0" lIns="0" bIns="0" rIns="0">
            <a:spAutoFit/>
          </a:bodyPr>
          <a:lstStyle/>
          <a:p>
            <a:pPr algn="just" marL="755647" indent="-377824" lvl="1">
              <a:lnSpc>
                <a:spcPts val="5249"/>
              </a:lnSpc>
              <a:buFont typeface="Arial"/>
              <a:buChar char="•"/>
            </a:pPr>
            <a:r>
              <a:rPr lang="en-US" b="true" sz="3499">
                <a:solidFill>
                  <a:srgbClr val="000000"/>
                </a:solidFill>
                <a:latin typeface="Arial Bold"/>
                <a:ea typeface="Arial Bold"/>
                <a:cs typeface="Arial Bold"/>
                <a:sym typeface="Arial Bold"/>
              </a:rPr>
              <a:t>Tự</a:t>
            </a:r>
            <a:r>
              <a:rPr lang="en-US" b="true" sz="3499">
                <a:solidFill>
                  <a:srgbClr val="000000"/>
                </a:solidFill>
                <a:latin typeface="Arial Bold"/>
                <a:ea typeface="Arial Bold"/>
                <a:cs typeface="Arial Bold"/>
                <a:sym typeface="Arial Bold"/>
              </a:rPr>
              <a:t> động hóa dữ liệu</a:t>
            </a:r>
            <a:r>
              <a:rPr lang="en-US" sz="3499">
                <a:solidFill>
                  <a:srgbClr val="000000"/>
                </a:solidFill>
                <a:latin typeface="Arial"/>
                <a:ea typeface="Arial"/>
                <a:cs typeface="Arial"/>
                <a:sym typeface="Arial"/>
              </a:rPr>
              <a:t>: Xây dựng quy trình (pipeline) tự động thu thập và đồng bộ hóa khối lượng lớn dữ liệu y tế và khí hậu toàn cầu.</a:t>
            </a:r>
          </a:p>
          <a:p>
            <a:pPr algn="just" marL="755647" indent="-377824" lvl="1">
              <a:lnSpc>
                <a:spcPts val="5249"/>
              </a:lnSpc>
              <a:buFont typeface="Arial"/>
              <a:buChar char="•"/>
            </a:pPr>
            <a:r>
              <a:rPr lang="en-US" b="true" sz="3499">
                <a:solidFill>
                  <a:srgbClr val="000000"/>
                </a:solidFill>
                <a:latin typeface="Arial Bold"/>
                <a:ea typeface="Arial Bold"/>
                <a:cs typeface="Arial Bold"/>
                <a:sym typeface="Arial Bold"/>
              </a:rPr>
              <a:t>Phân tích định lượng</a:t>
            </a:r>
            <a:r>
              <a:rPr lang="en-US" sz="3499">
                <a:solidFill>
                  <a:srgbClr val="000000"/>
                </a:solidFill>
                <a:latin typeface="Arial"/>
                <a:ea typeface="Arial"/>
                <a:cs typeface="Arial"/>
                <a:sym typeface="Arial"/>
              </a:rPr>
              <a:t>: Ứng dụng hàm tương quan chéo (CCF) để xác định chính xác độ trễ của từng biến số khí hậu đối với sự bùng phát dịch bệnh.</a:t>
            </a:r>
          </a:p>
          <a:p>
            <a:pPr algn="just" marL="755647" indent="-377824" lvl="1">
              <a:lnSpc>
                <a:spcPts val="5249"/>
              </a:lnSpc>
              <a:buFont typeface="Arial"/>
              <a:buChar char="•"/>
            </a:pPr>
            <a:r>
              <a:rPr lang="en-US" b="true" sz="3499">
                <a:solidFill>
                  <a:srgbClr val="000000"/>
                </a:solidFill>
                <a:latin typeface="Arial Bold"/>
                <a:ea typeface="Arial Bold"/>
                <a:cs typeface="Arial Bold"/>
                <a:sym typeface="Arial Bold"/>
              </a:rPr>
              <a:t>Xây dựng mô hình</a:t>
            </a:r>
            <a:r>
              <a:rPr lang="en-US" sz="3499">
                <a:solidFill>
                  <a:srgbClr val="000000"/>
                </a:solidFill>
                <a:latin typeface="Arial"/>
                <a:ea typeface="Arial"/>
                <a:cs typeface="Arial"/>
                <a:sym typeface="Arial"/>
              </a:rPr>
              <a:t>: So sánh và tối ưu hóa các thuật toán học máy (LightGBM, Random Forest, XGBoost) để dự báo số ca bệnh từ 1 đến 4 tuần tiếp theo.</a:t>
            </a:r>
          </a:p>
          <a:p>
            <a:pPr algn="just" marL="755647" indent="-377824" lvl="1">
              <a:lnSpc>
                <a:spcPts val="5249"/>
              </a:lnSpc>
              <a:buFont typeface="Arial"/>
              <a:buChar char="•"/>
            </a:pPr>
            <a:r>
              <a:rPr lang="en-US" b="true" sz="3499">
                <a:solidFill>
                  <a:srgbClr val="000000"/>
                </a:solidFill>
                <a:latin typeface="Arial Bold"/>
                <a:ea typeface="Arial Bold"/>
                <a:cs typeface="Arial Bold"/>
                <a:sym typeface="Arial Bold"/>
              </a:rPr>
              <a:t>Triển khai ứng dụng</a:t>
            </a:r>
            <a:r>
              <a:rPr lang="en-US" sz="3499">
                <a:solidFill>
                  <a:srgbClr val="000000"/>
                </a:solidFill>
                <a:latin typeface="Arial"/>
                <a:ea typeface="Arial"/>
                <a:cs typeface="Arial"/>
                <a:sym typeface="Arial"/>
              </a:rPr>
              <a:t>: Xây dựng hệ thống Dashboard hiển thị bản đồ cảnh báo nguy cơ 3 mức độ (Thấp, Trung bình, Cao) phục vụ cộng đồng.</a:t>
            </a:r>
          </a:p>
          <a:p>
            <a:pPr algn="just">
              <a:lnSpc>
                <a:spcPts val="629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4</a:t>
              </a:r>
            </a:p>
          </p:txBody>
        </p:sp>
      </p:grpSp>
      <p:grpSp>
        <p:nvGrpSpPr>
          <p:cNvPr name="Group 9" id="9"/>
          <p:cNvGrpSpPr/>
          <p:nvPr/>
        </p:nvGrpSpPr>
        <p:grpSpPr>
          <a:xfrm rot="0">
            <a:off x="0" y="137828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graphicFrame>
        <p:nvGraphicFramePr>
          <p:cNvPr name="Table 11" id="11"/>
          <p:cNvGraphicFramePr>
            <a:graphicFrameLocks noGrp="true"/>
          </p:cNvGraphicFramePr>
          <p:nvPr/>
        </p:nvGraphicFramePr>
        <p:xfrm>
          <a:off x="2015561" y="2968933"/>
          <a:ext cx="14256879" cy="6400800"/>
        </p:xfrm>
        <a:graphic>
          <a:graphicData uri="http://schemas.openxmlformats.org/drawingml/2006/table">
            <a:tbl>
              <a:tblPr/>
              <a:tblGrid>
                <a:gridCol w="3795411"/>
                <a:gridCol w="3795411"/>
                <a:gridCol w="6666057"/>
              </a:tblGrid>
              <a:tr h="1379813">
                <a:tc>
                  <a:txBody>
                    <a:bodyPr anchor="t" rtlCol="false"/>
                    <a:lstStyle/>
                    <a:p>
                      <a:pPr algn="ctr">
                        <a:lnSpc>
                          <a:spcPts val="3499"/>
                        </a:lnSpc>
                        <a:defRPr/>
                      </a:pPr>
                      <a:r>
                        <a:rPr lang="en-US" sz="2499" b="true">
                          <a:solidFill>
                            <a:srgbClr val="000000"/>
                          </a:solidFill>
                          <a:latin typeface="Arial Bold"/>
                          <a:ea typeface="Arial Bold"/>
                          <a:cs typeface="Arial Bold"/>
                          <a:sym typeface="Arial Bold"/>
                        </a:rPr>
                        <a:t>Nguồn Dữ Liệu</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solidFill>
                      <a:srgbClr val="FFEBCD"/>
                    </a:solidFill>
                  </a:tcPr>
                </a:tc>
                <a:tc>
                  <a:txBody>
                    <a:bodyPr anchor="t" rtlCol="false"/>
                    <a:lstStyle/>
                    <a:p>
                      <a:pPr algn="ctr">
                        <a:lnSpc>
                          <a:spcPts val="3499"/>
                        </a:lnSpc>
                        <a:defRPr/>
                      </a:pPr>
                      <a:r>
                        <a:rPr lang="en-US" sz="2499" b="true">
                          <a:solidFill>
                            <a:srgbClr val="000000"/>
                          </a:solidFill>
                          <a:latin typeface="Arial Bold"/>
                          <a:ea typeface="Arial Bold"/>
                          <a:cs typeface="Arial Bold"/>
                          <a:sym typeface="Arial Bold"/>
                        </a:rPr>
                        <a:t>Loại Dữ Liệu / Tính chất</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solidFill>
                      <a:srgbClr val="FFEBCD"/>
                    </a:solidFill>
                  </a:tcPr>
                </a:tc>
                <a:tc>
                  <a:txBody>
                    <a:bodyPr anchor="t" rtlCol="false"/>
                    <a:lstStyle/>
                    <a:p>
                      <a:pPr algn="ctr">
                        <a:lnSpc>
                          <a:spcPts val="3499"/>
                        </a:lnSpc>
                        <a:defRPr/>
                      </a:pPr>
                      <a:r>
                        <a:rPr lang="en-US" sz="2499" b="true">
                          <a:solidFill>
                            <a:srgbClr val="000000"/>
                          </a:solidFill>
                          <a:latin typeface="Arial Bold"/>
                          <a:ea typeface="Arial Bold"/>
                          <a:cs typeface="Arial Bold"/>
                          <a:sym typeface="Arial Bold"/>
                        </a:rPr>
                        <a:t>Đặc điểm và Phạm vi bao phủ</a:t>
                      </a:r>
                      <a:endParaRPr lang="en-US" sz="1100"/>
                    </a:p>
                    <a:p>
                      <a:pPr algn="ctr">
                        <a:lnSpc>
                          <a:spcPts val="3499"/>
                        </a:lnSpc>
                      </a:pPr>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solidFill>
                      <a:srgbClr val="FFEBCD"/>
                    </a:solidFill>
                  </a:tcPr>
                </a:tc>
              </a:tr>
              <a:tr h="1379813">
                <a:tc>
                  <a:txBody>
                    <a:bodyPr anchor="t" rtlCol="false"/>
                    <a:lstStyle/>
                    <a:p>
                      <a:pPr algn="ctr">
                        <a:lnSpc>
                          <a:spcPts val="3499"/>
                        </a:lnSpc>
                        <a:defRPr/>
                      </a:pPr>
                      <a:r>
                        <a:rPr lang="en-US" b="true" sz="2499">
                          <a:solidFill>
                            <a:srgbClr val="000000"/>
                          </a:solidFill>
                          <a:latin typeface="Arial Bold"/>
                          <a:ea typeface="Arial Bold"/>
                          <a:cs typeface="Arial Bold"/>
                          <a:sym typeface="Arial Bold"/>
                        </a:rPr>
                        <a:t>WHO FluNet</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Arial"/>
                          <a:ea typeface="Arial"/>
                          <a:cs typeface="Arial"/>
                          <a:sym typeface="Arial"/>
                        </a:rPr>
                        <a:t>Số ca Cúm mùa (Influenza A/B)</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Arial"/>
                          <a:ea typeface="Arial"/>
                          <a:cs typeface="Arial"/>
                          <a:sym typeface="Arial"/>
                        </a:rPr>
                        <a:t>Dữ liệu uy tín, phủ sóng rộng rãi 197 quốc gia. Cập nhật theo tuần.</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r>
              <a:tr h="1820587">
                <a:tc>
                  <a:txBody>
                    <a:bodyPr anchor="t" rtlCol="false"/>
                    <a:lstStyle/>
                    <a:p>
                      <a:pPr algn="ctr">
                        <a:lnSpc>
                          <a:spcPts val="3499"/>
                        </a:lnSpc>
                        <a:defRPr/>
                      </a:pPr>
                      <a:r>
                        <a:rPr lang="en-US" sz="2499" b="true">
                          <a:solidFill>
                            <a:srgbClr val="000000"/>
                          </a:solidFill>
                          <a:latin typeface="Arial Bold"/>
                          <a:ea typeface="Arial Bold"/>
                          <a:cs typeface="Arial Bold"/>
                          <a:sym typeface="Arial Bold"/>
                        </a:rPr>
                        <a:t>OpenDengue v1.3</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Arial"/>
                          <a:ea typeface="Arial"/>
                          <a:cs typeface="Arial"/>
                          <a:sym typeface="Arial"/>
                        </a:rPr>
                        <a:t>Số ca Sốt xuất huyết (Dengue)</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Arial"/>
                          <a:ea typeface="Arial"/>
                          <a:cs typeface="Arial"/>
                          <a:sym typeface="Arial"/>
                        </a:rPr>
                        <a:t>Tập trung mạnh ở các nước nhiệt đới. Riêng Brazil chiếm 46% tổng ca bệnh toàn cầu.</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r>
              <a:tr h="1820587">
                <a:tc>
                  <a:txBody>
                    <a:bodyPr anchor="t" rtlCol="false"/>
                    <a:lstStyle/>
                    <a:p>
                      <a:pPr algn="ctr">
                        <a:lnSpc>
                          <a:spcPts val="3499"/>
                        </a:lnSpc>
                        <a:defRPr/>
                      </a:pPr>
                      <a:r>
                        <a:rPr lang="en-US" sz="2499" b="true">
                          <a:solidFill>
                            <a:srgbClr val="000000"/>
                          </a:solidFill>
                          <a:latin typeface="Arial Bold"/>
                          <a:ea typeface="Arial Bold"/>
                          <a:cs typeface="Arial Bold"/>
                          <a:sym typeface="Arial Bold"/>
                        </a:rPr>
                        <a:t>ERA5 (ECMWF)</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Arial"/>
                          <a:ea typeface="Arial"/>
                          <a:cs typeface="Arial"/>
                          <a:sym typeface="Arial"/>
                        </a:rPr>
                        <a:t>Bộ tái phân tích khí hậu toàn cầu</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Arial"/>
                          <a:ea typeface="Arial"/>
                          <a:cs typeface="Arial"/>
                          <a:sym typeface="Arial"/>
                        </a:rPr>
                        <a:t>Cung cấp 18 biến số khí hậu (nhiệt độ, lượng mưa...) với độ phân giải không gian cực cao (0.25° × 0.25°).</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r>
            </a:tbl>
          </a:graphicData>
        </a:graphic>
      </p:graphicFrame>
      <p:sp>
        <p:nvSpPr>
          <p:cNvPr name="TextBox 12" id="12"/>
          <p:cNvSpPr txBox="true"/>
          <p:nvPr/>
        </p:nvSpPr>
        <p:spPr>
          <a:xfrm rot="0">
            <a:off x="293484" y="573510"/>
            <a:ext cx="17303001" cy="804777"/>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 TỔNG QUAN ĐỀ TÀI</a:t>
            </a:r>
          </a:p>
        </p:txBody>
      </p:sp>
      <p:sp>
        <p:nvSpPr>
          <p:cNvPr name="TextBox 13" id="13"/>
          <p:cNvSpPr txBox="true"/>
          <p:nvPr/>
        </p:nvSpPr>
        <p:spPr>
          <a:xfrm rot="0">
            <a:off x="293484" y="1873558"/>
            <a:ext cx="11210173" cy="571500"/>
          </a:xfrm>
          <a:prstGeom prst="rect">
            <a:avLst/>
          </a:prstGeom>
        </p:spPr>
        <p:txBody>
          <a:bodyPr anchor="t" rtlCol="false" tIns="0" lIns="0" bIns="0" rIns="0">
            <a:spAutoFit/>
          </a:bodyPr>
          <a:lstStyle/>
          <a:p>
            <a:pPr algn="l">
              <a:lnSpc>
                <a:spcPts val="4319"/>
              </a:lnSpc>
            </a:pPr>
            <a:r>
              <a:rPr lang="en-US" sz="3599" b="true">
                <a:solidFill>
                  <a:srgbClr val="FF751F"/>
                </a:solidFill>
                <a:latin typeface="Arial Bold"/>
                <a:ea typeface="Arial Bold"/>
                <a:cs typeface="Arial Bold"/>
                <a:sym typeface="Arial Bold"/>
              </a:rPr>
              <a:t>1.3. Nguồn dữ liệu sử dụng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5</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Freeform 11" id="11"/>
          <p:cNvSpPr/>
          <p:nvPr/>
        </p:nvSpPr>
        <p:spPr>
          <a:xfrm flipH="false" flipV="false" rot="0">
            <a:off x="2310328" y="2701350"/>
            <a:ext cx="13667343" cy="7107018"/>
          </a:xfrm>
          <a:custGeom>
            <a:avLst/>
            <a:gdLst/>
            <a:ahLst/>
            <a:cxnLst/>
            <a:rect r="r" b="b" t="t" l="l"/>
            <a:pathLst>
              <a:path h="7107018" w="13667343">
                <a:moveTo>
                  <a:pt x="0" y="0"/>
                </a:moveTo>
                <a:lnTo>
                  <a:pt x="13667344" y="0"/>
                </a:lnTo>
                <a:lnTo>
                  <a:pt x="13667344" y="7107019"/>
                </a:lnTo>
                <a:lnTo>
                  <a:pt x="0" y="71070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293484" y="573510"/>
            <a:ext cx="6289774"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II. CƠ SỞ LÝ THUYẾT</a:t>
            </a:r>
          </a:p>
        </p:txBody>
      </p:sp>
      <p:sp>
        <p:nvSpPr>
          <p:cNvPr name="TextBox 13" id="13"/>
          <p:cNvSpPr txBox="true"/>
          <p:nvPr/>
        </p:nvSpPr>
        <p:spPr>
          <a:xfrm rot="0">
            <a:off x="293484" y="1873558"/>
            <a:ext cx="14518611" cy="571500"/>
          </a:xfrm>
          <a:prstGeom prst="rect">
            <a:avLst/>
          </a:prstGeom>
        </p:spPr>
        <p:txBody>
          <a:bodyPr anchor="t" rtlCol="false" tIns="0" lIns="0" bIns="0" rIns="0">
            <a:spAutoFit/>
          </a:bodyPr>
          <a:lstStyle/>
          <a:p>
            <a:pPr algn="l">
              <a:lnSpc>
                <a:spcPts val="4319"/>
              </a:lnSpc>
            </a:pPr>
            <a:r>
              <a:rPr lang="en-US" sz="3599" b="true">
                <a:solidFill>
                  <a:srgbClr val="FF751F"/>
                </a:solidFill>
                <a:latin typeface="Arial Bold"/>
                <a:ea typeface="Arial Bold"/>
                <a:cs typeface="Arial Bold"/>
                <a:sym typeface="Arial Bold"/>
              </a:rPr>
              <a:t>2.1. Cơ chế sinh học về tác động của khí hậu lên dịch bệnh</a:t>
            </a:r>
          </a:p>
        </p:txBody>
      </p:sp>
      <p:sp>
        <p:nvSpPr>
          <p:cNvPr name="TextBox 14" id="14"/>
          <p:cNvSpPr txBox="true"/>
          <p:nvPr/>
        </p:nvSpPr>
        <p:spPr>
          <a:xfrm rot="0">
            <a:off x="4041994" y="3295454"/>
            <a:ext cx="2761556" cy="695325"/>
          </a:xfrm>
          <a:prstGeom prst="rect">
            <a:avLst/>
          </a:prstGeom>
        </p:spPr>
        <p:txBody>
          <a:bodyPr anchor="t" rtlCol="false" tIns="0" lIns="0" bIns="0" rIns="0">
            <a:spAutoFit/>
          </a:bodyPr>
          <a:lstStyle/>
          <a:p>
            <a:pPr algn="l">
              <a:lnSpc>
                <a:spcPts val="5399"/>
              </a:lnSpc>
              <a:spcBef>
                <a:spcPct val="0"/>
              </a:spcBef>
            </a:pPr>
            <a:r>
              <a:rPr lang="en-US" b="true" sz="4499">
                <a:solidFill>
                  <a:srgbClr val="FFFFFF"/>
                </a:solidFill>
                <a:latin typeface="Arial Bold"/>
                <a:ea typeface="Arial Bold"/>
                <a:cs typeface="Arial Bold"/>
                <a:sym typeface="Arial Bold"/>
              </a:rPr>
              <a:t>CÚM MÙA</a:t>
            </a:r>
          </a:p>
        </p:txBody>
      </p:sp>
      <p:sp>
        <p:nvSpPr>
          <p:cNvPr name="TextBox 15" id="15"/>
          <p:cNvSpPr txBox="true"/>
          <p:nvPr/>
        </p:nvSpPr>
        <p:spPr>
          <a:xfrm rot="0">
            <a:off x="10423674" y="3295454"/>
            <a:ext cx="4984453" cy="695325"/>
          </a:xfrm>
          <a:prstGeom prst="rect">
            <a:avLst/>
          </a:prstGeom>
        </p:spPr>
        <p:txBody>
          <a:bodyPr anchor="t" rtlCol="false" tIns="0" lIns="0" bIns="0" rIns="0">
            <a:spAutoFit/>
          </a:bodyPr>
          <a:lstStyle/>
          <a:p>
            <a:pPr algn="l">
              <a:lnSpc>
                <a:spcPts val="5399"/>
              </a:lnSpc>
              <a:spcBef>
                <a:spcPct val="0"/>
              </a:spcBef>
            </a:pPr>
            <a:r>
              <a:rPr lang="en-US" b="true" sz="4499">
                <a:solidFill>
                  <a:srgbClr val="FFFFFF"/>
                </a:solidFill>
                <a:latin typeface="Arial Bold"/>
                <a:ea typeface="Arial Bold"/>
                <a:cs typeface="Arial Bold"/>
                <a:sym typeface="Arial Bold"/>
              </a:rPr>
              <a:t>SỐT XUẤT HUYẾT</a:t>
            </a:r>
          </a:p>
        </p:txBody>
      </p:sp>
      <p:sp>
        <p:nvSpPr>
          <p:cNvPr name="TextBox 16" id="16"/>
          <p:cNvSpPr txBox="true"/>
          <p:nvPr/>
        </p:nvSpPr>
        <p:spPr>
          <a:xfrm rot="0">
            <a:off x="2595785" y="5201920"/>
            <a:ext cx="6270477" cy="4056380"/>
          </a:xfrm>
          <a:prstGeom prst="rect">
            <a:avLst/>
          </a:prstGeom>
        </p:spPr>
        <p:txBody>
          <a:bodyPr anchor="t" rtlCol="false" tIns="0" lIns="0" bIns="0" rIns="0">
            <a:spAutoFit/>
          </a:bodyPr>
          <a:lstStyle/>
          <a:p>
            <a:pPr algn="l" marL="690879" indent="-345439" lvl="1">
              <a:lnSpc>
                <a:spcPts val="3999"/>
              </a:lnSpc>
              <a:buFont typeface="Arial"/>
              <a:buChar char="•"/>
            </a:pPr>
            <a:r>
              <a:rPr lang="en-US" sz="3199">
                <a:solidFill>
                  <a:srgbClr val="000000"/>
                </a:solidFill>
                <a:latin typeface="Arial"/>
                <a:ea typeface="Arial"/>
                <a:cs typeface="Arial"/>
                <a:sym typeface="Arial"/>
              </a:rPr>
              <a:t>Lớp vỏ l</a:t>
            </a:r>
            <a:r>
              <a:rPr lang="en-US" sz="3199">
                <a:solidFill>
                  <a:srgbClr val="000000"/>
                </a:solidFill>
                <a:latin typeface="Arial"/>
                <a:ea typeface="Arial"/>
                <a:cs typeface="Arial"/>
                <a:sym typeface="Arial"/>
              </a:rPr>
              <a:t>ipid của virus cúm bền vững hơn khi nhiệt độ và độ ẩm tuyệt đối thấp.</a:t>
            </a:r>
          </a:p>
          <a:p>
            <a:pPr algn="l" marL="690879" indent="-345439" lvl="1">
              <a:lnSpc>
                <a:spcPts val="3999"/>
              </a:lnSpc>
              <a:buFont typeface="Arial"/>
              <a:buChar char="•"/>
            </a:pPr>
            <a:r>
              <a:rPr lang="en-US" sz="3199">
                <a:solidFill>
                  <a:srgbClr val="000000"/>
                </a:solidFill>
                <a:latin typeface="Arial"/>
                <a:ea typeface="Arial"/>
                <a:cs typeface="Arial"/>
                <a:sym typeface="Arial"/>
              </a:rPr>
              <a:t>Thời tiết lạnh làm tăng thời gian sống của virus trong không khí (giọt bắn), gây ra đỉnh dịch vào mùa đông.</a:t>
            </a:r>
          </a:p>
          <a:p>
            <a:pPr algn="l">
              <a:lnSpc>
                <a:spcPts val="3999"/>
              </a:lnSpc>
            </a:pPr>
          </a:p>
        </p:txBody>
      </p:sp>
      <p:sp>
        <p:nvSpPr>
          <p:cNvPr name="TextBox 17" id="17"/>
          <p:cNvSpPr txBox="true"/>
          <p:nvPr/>
        </p:nvSpPr>
        <p:spPr>
          <a:xfrm rot="0">
            <a:off x="9368327" y="5105400"/>
            <a:ext cx="6270477" cy="4561205"/>
          </a:xfrm>
          <a:prstGeom prst="rect">
            <a:avLst/>
          </a:prstGeom>
        </p:spPr>
        <p:txBody>
          <a:bodyPr anchor="t" rtlCol="false" tIns="0" lIns="0" bIns="0" rIns="0">
            <a:spAutoFit/>
          </a:bodyPr>
          <a:lstStyle/>
          <a:p>
            <a:pPr algn="l" marL="690879" indent="-345439" lvl="1">
              <a:lnSpc>
                <a:spcPts val="3999"/>
              </a:lnSpc>
              <a:buFont typeface="Arial"/>
              <a:buChar char="•"/>
            </a:pPr>
            <a:r>
              <a:rPr lang="en-US" sz="3199">
                <a:solidFill>
                  <a:srgbClr val="000000"/>
                </a:solidFill>
                <a:latin typeface="Arial"/>
                <a:ea typeface="Arial"/>
                <a:cs typeface="Arial"/>
                <a:sym typeface="Arial"/>
              </a:rPr>
              <a:t>Lây qua muỗ</a:t>
            </a:r>
            <a:r>
              <a:rPr lang="en-US" sz="3199">
                <a:solidFill>
                  <a:srgbClr val="000000"/>
                </a:solidFill>
                <a:latin typeface="Arial"/>
                <a:ea typeface="Arial"/>
                <a:cs typeface="Arial"/>
                <a:sym typeface="Arial"/>
              </a:rPr>
              <a:t>i Aedes (Aedes aegypti, Aedes albopictus).</a:t>
            </a:r>
          </a:p>
          <a:p>
            <a:pPr algn="l" marL="690879" indent="-345439" lvl="1">
              <a:lnSpc>
                <a:spcPts val="3999"/>
              </a:lnSpc>
              <a:buFont typeface="Arial"/>
              <a:buChar char="•"/>
            </a:pPr>
            <a:r>
              <a:rPr lang="en-US" sz="3199">
                <a:solidFill>
                  <a:srgbClr val="000000"/>
                </a:solidFill>
                <a:latin typeface="Arial"/>
                <a:ea typeface="Arial"/>
                <a:cs typeface="Arial"/>
                <a:sym typeface="Arial"/>
              </a:rPr>
              <a:t>Vòng đời sinh thái (từ trứng đến muỗi trưởng thành) và thời gian ủ bệnh phụ thuộc trực tiếp vào nhiệt độ cao và lượng mưa lớn tạo các vũng nước đọng.</a:t>
            </a:r>
          </a:p>
          <a:p>
            <a:pPr algn="l">
              <a:lnSpc>
                <a:spcPts val="399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6</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Freeform 11" id="11"/>
          <p:cNvSpPr/>
          <p:nvPr/>
        </p:nvSpPr>
        <p:spPr>
          <a:xfrm flipH="false" flipV="false" rot="0">
            <a:off x="2214525" y="2549833"/>
            <a:ext cx="13858950" cy="7275949"/>
          </a:xfrm>
          <a:custGeom>
            <a:avLst/>
            <a:gdLst/>
            <a:ahLst/>
            <a:cxnLst/>
            <a:rect r="r" b="b" t="t" l="l"/>
            <a:pathLst>
              <a:path h="7275949" w="13858950">
                <a:moveTo>
                  <a:pt x="0" y="0"/>
                </a:moveTo>
                <a:lnTo>
                  <a:pt x="13858950" y="0"/>
                </a:lnTo>
                <a:lnTo>
                  <a:pt x="13858950" y="7275949"/>
                </a:lnTo>
                <a:lnTo>
                  <a:pt x="0" y="72759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8115300" y="5209222"/>
            <a:ext cx="2057400" cy="2057400"/>
          </a:xfrm>
          <a:custGeom>
            <a:avLst/>
            <a:gdLst/>
            <a:ahLst/>
            <a:cxnLst/>
            <a:rect r="r" b="b" t="t" l="l"/>
            <a:pathLst>
              <a:path h="2057400" w="2057400">
                <a:moveTo>
                  <a:pt x="0" y="0"/>
                </a:moveTo>
                <a:lnTo>
                  <a:pt x="2057400" y="0"/>
                </a:lnTo>
                <a:lnTo>
                  <a:pt x="2057400" y="2057401"/>
                </a:lnTo>
                <a:lnTo>
                  <a:pt x="0" y="20574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293484" y="573510"/>
            <a:ext cx="6289774"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II. CƠ SỞ LÝ THUYẾT</a:t>
            </a:r>
          </a:p>
        </p:txBody>
      </p:sp>
      <p:sp>
        <p:nvSpPr>
          <p:cNvPr name="TextBox 14" id="14"/>
          <p:cNvSpPr txBox="true"/>
          <p:nvPr/>
        </p:nvSpPr>
        <p:spPr>
          <a:xfrm rot="0">
            <a:off x="293484" y="1755457"/>
            <a:ext cx="14518611" cy="571500"/>
          </a:xfrm>
          <a:prstGeom prst="rect">
            <a:avLst/>
          </a:prstGeom>
        </p:spPr>
        <p:txBody>
          <a:bodyPr anchor="t" rtlCol="false" tIns="0" lIns="0" bIns="0" rIns="0">
            <a:spAutoFit/>
          </a:bodyPr>
          <a:lstStyle/>
          <a:p>
            <a:pPr algn="l">
              <a:lnSpc>
                <a:spcPts val="4319"/>
              </a:lnSpc>
            </a:pPr>
            <a:r>
              <a:rPr lang="en-US" sz="3599" b="true">
                <a:solidFill>
                  <a:srgbClr val="FF751F"/>
                </a:solidFill>
                <a:latin typeface="Arial Bold"/>
                <a:ea typeface="Arial Bold"/>
                <a:cs typeface="Arial Bold"/>
                <a:sym typeface="Arial Bold"/>
              </a:rPr>
              <a:t>2.2. Thuật toán Học máy &amp; Phương pháp đánh giá</a:t>
            </a:r>
          </a:p>
        </p:txBody>
      </p:sp>
      <p:sp>
        <p:nvSpPr>
          <p:cNvPr name="TextBox 15" id="15"/>
          <p:cNvSpPr txBox="true"/>
          <p:nvPr/>
        </p:nvSpPr>
        <p:spPr>
          <a:xfrm rot="0">
            <a:off x="2549318" y="2765107"/>
            <a:ext cx="5914757" cy="523875"/>
          </a:xfrm>
          <a:prstGeom prst="rect">
            <a:avLst/>
          </a:prstGeom>
        </p:spPr>
        <p:txBody>
          <a:bodyPr anchor="t" rtlCol="false" tIns="0" lIns="0" bIns="0" rIns="0">
            <a:spAutoFit/>
          </a:bodyPr>
          <a:lstStyle/>
          <a:p>
            <a:pPr algn="ctr">
              <a:lnSpc>
                <a:spcPts val="3959"/>
              </a:lnSpc>
              <a:spcBef>
                <a:spcPct val="0"/>
              </a:spcBef>
            </a:pPr>
            <a:r>
              <a:rPr lang="en-US" b="true" sz="3299">
                <a:solidFill>
                  <a:srgbClr val="FFFFFF"/>
                </a:solidFill>
                <a:latin typeface="Arial Bold"/>
                <a:ea typeface="Arial Bold"/>
                <a:cs typeface="Arial Bold"/>
                <a:sym typeface="Arial Bold"/>
              </a:rPr>
              <a:t>Baseline model</a:t>
            </a:r>
          </a:p>
        </p:txBody>
      </p:sp>
      <p:sp>
        <p:nvSpPr>
          <p:cNvPr name="TextBox 16" id="16"/>
          <p:cNvSpPr txBox="true"/>
          <p:nvPr/>
        </p:nvSpPr>
        <p:spPr>
          <a:xfrm rot="0">
            <a:off x="9958522" y="2765107"/>
            <a:ext cx="5914757" cy="523875"/>
          </a:xfrm>
          <a:prstGeom prst="rect">
            <a:avLst/>
          </a:prstGeom>
        </p:spPr>
        <p:txBody>
          <a:bodyPr anchor="t" rtlCol="false" tIns="0" lIns="0" bIns="0" rIns="0">
            <a:spAutoFit/>
          </a:bodyPr>
          <a:lstStyle/>
          <a:p>
            <a:pPr algn="ctr">
              <a:lnSpc>
                <a:spcPts val="3959"/>
              </a:lnSpc>
              <a:spcBef>
                <a:spcPct val="0"/>
              </a:spcBef>
            </a:pPr>
            <a:r>
              <a:rPr lang="en-US" b="true" sz="3299">
                <a:solidFill>
                  <a:srgbClr val="FFFFFF"/>
                </a:solidFill>
                <a:latin typeface="Arial Bold"/>
                <a:ea typeface="Arial Bold"/>
                <a:cs typeface="Arial Bold"/>
                <a:sym typeface="Arial Bold"/>
              </a:rPr>
              <a:t>Tree-based model</a:t>
            </a:r>
          </a:p>
        </p:txBody>
      </p:sp>
      <p:sp>
        <p:nvSpPr>
          <p:cNvPr name="TextBox 17" id="17"/>
          <p:cNvSpPr txBox="true"/>
          <p:nvPr/>
        </p:nvSpPr>
        <p:spPr>
          <a:xfrm rot="0">
            <a:off x="10158719" y="6442710"/>
            <a:ext cx="5914757" cy="523875"/>
          </a:xfrm>
          <a:prstGeom prst="rect">
            <a:avLst/>
          </a:prstGeom>
        </p:spPr>
        <p:txBody>
          <a:bodyPr anchor="t" rtlCol="false" tIns="0" lIns="0" bIns="0" rIns="0">
            <a:spAutoFit/>
          </a:bodyPr>
          <a:lstStyle/>
          <a:p>
            <a:pPr algn="ctr">
              <a:lnSpc>
                <a:spcPts val="3959"/>
              </a:lnSpc>
              <a:spcBef>
                <a:spcPct val="0"/>
              </a:spcBef>
            </a:pPr>
            <a:r>
              <a:rPr lang="en-US" b="true" sz="3299">
                <a:solidFill>
                  <a:srgbClr val="FFFFFF"/>
                </a:solidFill>
                <a:latin typeface="Arial Bold"/>
                <a:ea typeface="Arial Bold"/>
                <a:cs typeface="Arial Bold"/>
                <a:sym typeface="Arial Bold"/>
              </a:rPr>
              <a:t>Chiến lược đánh giá</a:t>
            </a:r>
          </a:p>
        </p:txBody>
      </p:sp>
      <p:sp>
        <p:nvSpPr>
          <p:cNvPr name="TextBox 18" id="18"/>
          <p:cNvSpPr txBox="true"/>
          <p:nvPr/>
        </p:nvSpPr>
        <p:spPr>
          <a:xfrm rot="0">
            <a:off x="1725550" y="6442710"/>
            <a:ext cx="5914757" cy="523875"/>
          </a:xfrm>
          <a:prstGeom prst="rect">
            <a:avLst/>
          </a:prstGeom>
        </p:spPr>
        <p:txBody>
          <a:bodyPr anchor="t" rtlCol="false" tIns="0" lIns="0" bIns="0" rIns="0">
            <a:spAutoFit/>
          </a:bodyPr>
          <a:lstStyle/>
          <a:p>
            <a:pPr algn="ctr">
              <a:lnSpc>
                <a:spcPts val="3959"/>
              </a:lnSpc>
              <a:spcBef>
                <a:spcPct val="0"/>
              </a:spcBef>
            </a:pPr>
            <a:r>
              <a:rPr lang="en-US" b="true" sz="3299">
                <a:solidFill>
                  <a:srgbClr val="FFFFFF"/>
                </a:solidFill>
                <a:latin typeface="Arial Bold"/>
                <a:ea typeface="Arial Bold"/>
                <a:cs typeface="Arial Bold"/>
                <a:sym typeface="Arial Bold"/>
              </a:rPr>
              <a:t>Tinh chỉnh mô hình</a:t>
            </a:r>
          </a:p>
        </p:txBody>
      </p:sp>
      <p:sp>
        <p:nvSpPr>
          <p:cNvPr name="TextBox 19" id="19"/>
          <p:cNvSpPr txBox="true"/>
          <p:nvPr/>
        </p:nvSpPr>
        <p:spPr>
          <a:xfrm rot="0">
            <a:off x="2749457" y="3884771"/>
            <a:ext cx="4482866" cy="1000125"/>
          </a:xfrm>
          <a:prstGeom prst="rect">
            <a:avLst/>
          </a:prstGeom>
        </p:spPr>
        <p:txBody>
          <a:bodyPr anchor="t" rtlCol="false" tIns="0" lIns="0" bIns="0" rIns="0">
            <a:spAutoFit/>
          </a:bodyPr>
          <a:lstStyle/>
          <a:p>
            <a:pPr algn="l">
              <a:lnSpc>
                <a:spcPts val="3839"/>
              </a:lnSpc>
              <a:spcBef>
                <a:spcPct val="0"/>
              </a:spcBef>
            </a:pPr>
            <a:r>
              <a:rPr lang="en-US" sz="3199">
                <a:solidFill>
                  <a:srgbClr val="000000"/>
                </a:solidFill>
                <a:latin typeface="Arial"/>
                <a:ea typeface="Arial"/>
                <a:cs typeface="Arial"/>
                <a:sym typeface="Arial"/>
              </a:rPr>
              <a:t>Naive và Prophet (mô hình time-series)</a:t>
            </a:r>
          </a:p>
        </p:txBody>
      </p:sp>
      <p:sp>
        <p:nvSpPr>
          <p:cNvPr name="TextBox 20" id="20"/>
          <p:cNvSpPr txBox="true"/>
          <p:nvPr/>
        </p:nvSpPr>
        <p:spPr>
          <a:xfrm rot="0">
            <a:off x="11166086" y="3884771"/>
            <a:ext cx="4482866" cy="1000125"/>
          </a:xfrm>
          <a:prstGeom prst="rect">
            <a:avLst/>
          </a:prstGeom>
        </p:spPr>
        <p:txBody>
          <a:bodyPr anchor="t" rtlCol="false" tIns="0" lIns="0" bIns="0" rIns="0">
            <a:spAutoFit/>
          </a:bodyPr>
          <a:lstStyle/>
          <a:p>
            <a:pPr algn="r">
              <a:lnSpc>
                <a:spcPts val="3839"/>
              </a:lnSpc>
              <a:spcBef>
                <a:spcPct val="0"/>
              </a:spcBef>
            </a:pPr>
            <a:r>
              <a:rPr lang="en-US" sz="3199">
                <a:solidFill>
                  <a:srgbClr val="000000"/>
                </a:solidFill>
                <a:latin typeface="Arial"/>
                <a:ea typeface="Arial"/>
                <a:cs typeface="Arial"/>
                <a:sym typeface="Arial"/>
              </a:rPr>
              <a:t>XGB</a:t>
            </a:r>
            <a:r>
              <a:rPr lang="en-US" sz="3199">
                <a:solidFill>
                  <a:srgbClr val="000000"/>
                </a:solidFill>
                <a:latin typeface="Arial"/>
                <a:ea typeface="Arial"/>
                <a:cs typeface="Arial"/>
                <a:sym typeface="Arial"/>
              </a:rPr>
              <a:t>oost, LightGBM, Random Forest</a:t>
            </a:r>
          </a:p>
        </p:txBody>
      </p:sp>
      <p:sp>
        <p:nvSpPr>
          <p:cNvPr name="TextBox 21" id="21"/>
          <p:cNvSpPr txBox="true"/>
          <p:nvPr/>
        </p:nvSpPr>
        <p:spPr>
          <a:xfrm rot="0">
            <a:off x="2749457" y="7772400"/>
            <a:ext cx="4482866" cy="1485900"/>
          </a:xfrm>
          <a:prstGeom prst="rect">
            <a:avLst/>
          </a:prstGeom>
        </p:spPr>
        <p:txBody>
          <a:bodyPr anchor="t" rtlCol="false" tIns="0" lIns="0" bIns="0" rIns="0">
            <a:spAutoFit/>
          </a:bodyPr>
          <a:lstStyle/>
          <a:p>
            <a:pPr algn="l">
              <a:lnSpc>
                <a:spcPts val="3839"/>
              </a:lnSpc>
              <a:spcBef>
                <a:spcPct val="0"/>
              </a:spcBef>
            </a:pPr>
            <a:r>
              <a:rPr lang="en-US" sz="3199">
                <a:solidFill>
                  <a:srgbClr val="000000"/>
                </a:solidFill>
                <a:latin typeface="Arial"/>
                <a:ea typeface="Arial"/>
                <a:cs typeface="Arial"/>
                <a:sym typeface="Arial"/>
              </a:rPr>
              <a:t>Sử dụng thư</a:t>
            </a:r>
            <a:r>
              <a:rPr lang="en-US" sz="3199">
                <a:solidFill>
                  <a:srgbClr val="000000"/>
                </a:solidFill>
                <a:latin typeface="Arial"/>
                <a:ea typeface="Arial"/>
                <a:cs typeface="Arial"/>
                <a:sym typeface="Arial"/>
              </a:rPr>
              <a:t> viện Optuna để tìm kiếm cấu hình tối ưu tự động</a:t>
            </a:r>
          </a:p>
        </p:txBody>
      </p:sp>
      <p:sp>
        <p:nvSpPr>
          <p:cNvPr name="TextBox 22" id="22"/>
          <p:cNvSpPr txBox="true"/>
          <p:nvPr/>
        </p:nvSpPr>
        <p:spPr>
          <a:xfrm rot="0">
            <a:off x="11166086" y="7772400"/>
            <a:ext cx="4482866" cy="1000125"/>
          </a:xfrm>
          <a:prstGeom prst="rect">
            <a:avLst/>
          </a:prstGeom>
        </p:spPr>
        <p:txBody>
          <a:bodyPr anchor="t" rtlCol="false" tIns="0" lIns="0" bIns="0" rIns="0">
            <a:spAutoFit/>
          </a:bodyPr>
          <a:lstStyle/>
          <a:p>
            <a:pPr algn="r">
              <a:lnSpc>
                <a:spcPts val="3839"/>
              </a:lnSpc>
              <a:spcBef>
                <a:spcPct val="0"/>
              </a:spcBef>
            </a:pPr>
            <a:r>
              <a:rPr lang="en-US" sz="3199">
                <a:solidFill>
                  <a:srgbClr val="000000"/>
                </a:solidFill>
                <a:latin typeface="Arial"/>
                <a:ea typeface="Arial"/>
                <a:cs typeface="Arial"/>
                <a:sym typeface="Arial"/>
              </a:rPr>
              <a:t>Walk-forward Cross-V</a:t>
            </a:r>
            <a:r>
              <a:rPr lang="en-US" sz="3199">
                <a:solidFill>
                  <a:srgbClr val="000000"/>
                </a:solidFill>
                <a:latin typeface="Arial"/>
                <a:ea typeface="Arial"/>
                <a:cs typeface="Arial"/>
                <a:sym typeface="Arial"/>
              </a:rPr>
              <a:t>alidation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7</a:t>
              </a:r>
            </a:p>
          </p:txBody>
        </p:sp>
      </p:grpSp>
      <p:sp>
        <p:nvSpPr>
          <p:cNvPr name="TextBox 9" id="9"/>
          <p:cNvSpPr txBox="true"/>
          <p:nvPr/>
        </p:nvSpPr>
        <p:spPr>
          <a:xfrm rot="0">
            <a:off x="293484" y="573510"/>
            <a:ext cx="6289774"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II. CƠ SỞ LÝ THUYẾT</a:t>
            </a:r>
          </a:p>
        </p:txBody>
      </p:sp>
      <p:sp>
        <p:nvSpPr>
          <p:cNvPr name="TextBox 10" id="10"/>
          <p:cNvSpPr txBox="true"/>
          <p:nvPr/>
        </p:nvSpPr>
        <p:spPr>
          <a:xfrm rot="0">
            <a:off x="293484" y="1873558"/>
            <a:ext cx="11210173" cy="571500"/>
          </a:xfrm>
          <a:prstGeom prst="rect">
            <a:avLst/>
          </a:prstGeom>
        </p:spPr>
        <p:txBody>
          <a:bodyPr anchor="t" rtlCol="false" tIns="0" lIns="0" bIns="0" rIns="0">
            <a:spAutoFit/>
          </a:bodyPr>
          <a:lstStyle/>
          <a:p>
            <a:pPr algn="l">
              <a:lnSpc>
                <a:spcPts val="4319"/>
              </a:lnSpc>
            </a:pPr>
            <a:r>
              <a:rPr lang="en-US" sz="3599" b="true">
                <a:solidFill>
                  <a:srgbClr val="FF751F"/>
                </a:solidFill>
                <a:latin typeface="Arial Bold"/>
                <a:ea typeface="Arial Bold"/>
                <a:cs typeface="Arial Bold"/>
                <a:sym typeface="Arial Bold"/>
              </a:rPr>
              <a:t>2.3. Phương pháp quy đổi mức nguy cơ</a:t>
            </a:r>
          </a:p>
        </p:txBody>
      </p:sp>
      <p:grpSp>
        <p:nvGrpSpPr>
          <p:cNvPr name="Group 11" id="11"/>
          <p:cNvGrpSpPr/>
          <p:nvPr/>
        </p:nvGrpSpPr>
        <p:grpSpPr>
          <a:xfrm rot="0">
            <a:off x="0" y="1423997"/>
            <a:ext cx="4682928" cy="137160"/>
            <a:chOff x="0" y="0"/>
            <a:chExt cx="6243904" cy="182880"/>
          </a:xfrm>
        </p:grpSpPr>
        <p:sp>
          <p:nvSpPr>
            <p:cNvPr name="Freeform 12" id="12"/>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TextBox 13" id="13"/>
          <p:cNvSpPr txBox="true"/>
          <p:nvPr/>
        </p:nvSpPr>
        <p:spPr>
          <a:xfrm rot="0">
            <a:off x="1028700" y="2778433"/>
            <a:ext cx="15372581" cy="6297191"/>
          </a:xfrm>
          <a:prstGeom prst="rect">
            <a:avLst/>
          </a:prstGeom>
        </p:spPr>
        <p:txBody>
          <a:bodyPr anchor="t" rtlCol="false" tIns="0" lIns="0" bIns="0" rIns="0">
            <a:spAutoFit/>
          </a:bodyPr>
          <a:lstStyle/>
          <a:p>
            <a:pPr algn="just" marL="671383" indent="-335692" lvl="1">
              <a:lnSpc>
                <a:spcPts val="5597"/>
              </a:lnSpc>
              <a:buFont typeface="Arial"/>
              <a:buChar char="•"/>
            </a:pPr>
            <a:r>
              <a:rPr lang="en-US" b="true" sz="3109">
                <a:solidFill>
                  <a:srgbClr val="000000"/>
                </a:solidFill>
                <a:latin typeface="Arial Bold"/>
                <a:ea typeface="Arial Bold"/>
                <a:cs typeface="Arial Bold"/>
                <a:sym typeface="Arial Bold"/>
              </a:rPr>
              <a:t>Khái niệm</a:t>
            </a:r>
            <a:r>
              <a:rPr lang="en-US" sz="3109">
                <a:solidFill>
                  <a:srgbClr val="000000"/>
                </a:solidFill>
                <a:latin typeface="Arial"/>
                <a:ea typeface="Arial"/>
                <a:cs typeface="Arial"/>
                <a:sym typeface="Arial"/>
              </a:rPr>
              <a:t>: Dựa trên phương pháp Endemic Channel của Bortman (1999).</a:t>
            </a:r>
          </a:p>
          <a:p>
            <a:pPr algn="just" marL="671383" indent="-335692" lvl="1">
              <a:lnSpc>
                <a:spcPts val="5597"/>
              </a:lnSpc>
              <a:buFont typeface="Arial"/>
              <a:buChar char="•"/>
            </a:pPr>
            <a:r>
              <a:rPr lang="en-US" b="true" sz="3109">
                <a:solidFill>
                  <a:srgbClr val="000000"/>
                </a:solidFill>
                <a:latin typeface="Arial Bold"/>
                <a:ea typeface="Arial Bold"/>
                <a:cs typeface="Arial Bold"/>
                <a:sym typeface="Arial Bold"/>
              </a:rPr>
              <a:t>Cách hoạt động</a:t>
            </a:r>
            <a:r>
              <a:rPr lang="en-US" sz="3109">
                <a:solidFill>
                  <a:srgbClr val="000000"/>
                </a:solidFill>
                <a:latin typeface="Arial"/>
                <a:ea typeface="Arial"/>
                <a:cs typeface="Arial"/>
                <a:sym typeface="Arial"/>
              </a:rPr>
              <a:t>: Thiết lập đường cơ sở dựa trên trung bình số ca mắc bệnh lịch sử cộng với độ lệch chuẩn của từng quốc gia/khu vực.</a:t>
            </a:r>
          </a:p>
          <a:p>
            <a:pPr algn="just" marL="671383" indent="-335692" lvl="1">
              <a:lnSpc>
                <a:spcPts val="5597"/>
              </a:lnSpc>
              <a:buFont typeface="Arial"/>
              <a:buChar char="•"/>
            </a:pPr>
            <a:r>
              <a:rPr lang="en-US" b="true" sz="3109">
                <a:solidFill>
                  <a:srgbClr val="000000"/>
                </a:solidFill>
                <a:latin typeface="Arial Bold"/>
                <a:ea typeface="Arial Bold"/>
                <a:cs typeface="Arial Bold"/>
                <a:sym typeface="Arial Bold"/>
              </a:rPr>
              <a:t>Mục đích</a:t>
            </a:r>
            <a:r>
              <a:rPr lang="en-US" sz="3109">
                <a:solidFill>
                  <a:srgbClr val="000000"/>
                </a:solidFill>
                <a:latin typeface="Arial"/>
                <a:ea typeface="Arial"/>
                <a:cs typeface="Arial"/>
                <a:sym typeface="Arial"/>
              </a:rPr>
              <a:t>: Thay vì xây dựng bộ phân loại riêng lẻ (Classifier), hệ thống dùng trực tiếp kết quả dự báo của mô hình hồi quy (Regressor) để đối chiếu với các ngưỡng này, từ đó đưa ra cảnh báo:</a:t>
            </a:r>
          </a:p>
          <a:p>
            <a:pPr algn="just" marL="1342766" indent="-447589" lvl="2">
              <a:lnSpc>
                <a:spcPts val="5597"/>
              </a:lnSpc>
              <a:buFont typeface="Arial"/>
              <a:buChar char="⚬"/>
            </a:pPr>
            <a:r>
              <a:rPr lang="en-US" sz="3109">
                <a:solidFill>
                  <a:srgbClr val="000000"/>
                </a:solidFill>
                <a:latin typeface="Arial"/>
                <a:ea typeface="Arial"/>
                <a:cs typeface="Arial"/>
                <a:sym typeface="Arial"/>
              </a:rPr>
              <a:t>Màu Xanh</a:t>
            </a:r>
            <a:r>
              <a:rPr lang="en-US" sz="3109">
                <a:solidFill>
                  <a:srgbClr val="000000"/>
                </a:solidFill>
                <a:latin typeface="Arial"/>
                <a:ea typeface="Arial"/>
                <a:cs typeface="Arial"/>
                <a:sym typeface="Arial"/>
              </a:rPr>
              <a:t> (</a:t>
            </a:r>
            <a:r>
              <a:rPr lang="en-US" b="true" sz="3109">
                <a:solidFill>
                  <a:srgbClr val="00BF63"/>
                </a:solidFill>
                <a:latin typeface="Arial Bold"/>
                <a:ea typeface="Arial Bold"/>
                <a:cs typeface="Arial Bold"/>
                <a:sym typeface="Arial Bold"/>
              </a:rPr>
              <a:t>Low</a:t>
            </a:r>
            <a:r>
              <a:rPr lang="en-US" sz="3109">
                <a:solidFill>
                  <a:srgbClr val="000000"/>
                </a:solidFill>
                <a:latin typeface="Arial"/>
                <a:ea typeface="Arial"/>
                <a:cs typeface="Arial"/>
                <a:sym typeface="Arial"/>
              </a:rPr>
              <a:t>): An toàn, dưới ngưỡng cơ sở.</a:t>
            </a:r>
          </a:p>
          <a:p>
            <a:pPr algn="just" marL="1342766" indent="-447589" lvl="2">
              <a:lnSpc>
                <a:spcPts val="5597"/>
              </a:lnSpc>
              <a:buFont typeface="Arial"/>
              <a:buChar char="⚬"/>
            </a:pPr>
            <a:r>
              <a:rPr lang="en-US" sz="3109">
                <a:solidFill>
                  <a:srgbClr val="000000"/>
                </a:solidFill>
                <a:latin typeface="Arial"/>
                <a:ea typeface="Arial"/>
                <a:cs typeface="Arial"/>
                <a:sym typeface="Arial"/>
              </a:rPr>
              <a:t>Màu Vàng</a:t>
            </a:r>
            <a:r>
              <a:rPr lang="en-US" sz="3109">
                <a:solidFill>
                  <a:srgbClr val="000000"/>
                </a:solidFill>
                <a:latin typeface="Arial"/>
                <a:ea typeface="Arial"/>
                <a:cs typeface="Arial"/>
                <a:sym typeface="Arial"/>
              </a:rPr>
              <a:t> (</a:t>
            </a:r>
            <a:r>
              <a:rPr lang="en-US" b="true" sz="3109">
                <a:solidFill>
                  <a:srgbClr val="FF914D"/>
                </a:solidFill>
                <a:latin typeface="Arial Bold"/>
                <a:ea typeface="Arial Bold"/>
                <a:cs typeface="Arial Bold"/>
                <a:sym typeface="Arial Bold"/>
              </a:rPr>
              <a:t>Medium</a:t>
            </a:r>
            <a:r>
              <a:rPr lang="en-US" sz="3109">
                <a:solidFill>
                  <a:srgbClr val="000000"/>
                </a:solidFill>
                <a:latin typeface="Arial"/>
                <a:ea typeface="Arial"/>
                <a:cs typeface="Arial"/>
                <a:sym typeface="Arial"/>
              </a:rPr>
              <a:t>): Cảnh giác, nằm trong dải chuẩn dịch tễ.</a:t>
            </a:r>
          </a:p>
          <a:p>
            <a:pPr algn="just" marL="1342766" indent="-447589" lvl="2">
              <a:lnSpc>
                <a:spcPts val="5597"/>
              </a:lnSpc>
              <a:buFont typeface="Arial"/>
              <a:buChar char="⚬"/>
            </a:pPr>
            <a:r>
              <a:rPr lang="en-US" sz="3109">
                <a:solidFill>
                  <a:srgbClr val="000000"/>
                </a:solidFill>
                <a:latin typeface="Arial"/>
                <a:ea typeface="Arial"/>
                <a:cs typeface="Arial"/>
                <a:sym typeface="Arial"/>
              </a:rPr>
              <a:t>Màu Đỏ</a:t>
            </a:r>
            <a:r>
              <a:rPr lang="en-US" sz="3109">
                <a:solidFill>
                  <a:srgbClr val="000000"/>
                </a:solidFill>
                <a:latin typeface="Arial"/>
                <a:ea typeface="Arial"/>
                <a:cs typeface="Arial"/>
                <a:sym typeface="Arial"/>
              </a:rPr>
              <a:t> (</a:t>
            </a:r>
            <a:r>
              <a:rPr lang="en-US" b="true" sz="3109">
                <a:solidFill>
                  <a:srgbClr val="FF3131"/>
                </a:solidFill>
                <a:latin typeface="Arial Bold"/>
                <a:ea typeface="Arial Bold"/>
                <a:cs typeface="Arial Bold"/>
                <a:sym typeface="Arial Bold"/>
              </a:rPr>
              <a:t>High</a:t>
            </a:r>
            <a:r>
              <a:rPr lang="en-US" sz="3109">
                <a:solidFill>
                  <a:srgbClr val="000000"/>
                </a:solidFill>
                <a:latin typeface="Arial"/>
                <a:ea typeface="Arial"/>
                <a:cs typeface="Arial"/>
                <a:sym typeface="Arial"/>
              </a:rPr>
              <a:t>): Nguy hiểm, vượt ngưỡng báo động dịch.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sp>
        <p:nvSpPr>
          <p:cNvPr name="TextBox 6" id="6"/>
          <p:cNvSpPr txBox="true"/>
          <p:nvPr/>
        </p:nvSpPr>
        <p:spPr>
          <a:xfrm rot="0">
            <a:off x="293484" y="573510"/>
            <a:ext cx="11515130" cy="14668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III. PHÂN TÍCH VÀ THIẾT KẾ HỆ THỐNG</a:t>
            </a:r>
          </a:p>
          <a:p>
            <a:pPr algn="l">
              <a:lnSpc>
                <a:spcPts val="5759"/>
              </a:lnSpc>
            </a:pPr>
          </a:p>
        </p:txBody>
      </p:sp>
      <p:grpSp>
        <p:nvGrpSpPr>
          <p:cNvPr name="Group 7" id="7"/>
          <p:cNvGrpSpPr/>
          <p:nvPr/>
        </p:nvGrpSpPr>
        <p:grpSpPr>
          <a:xfrm rot="0">
            <a:off x="0" y="1423997"/>
            <a:ext cx="4682928" cy="137160"/>
            <a:chOff x="0" y="0"/>
            <a:chExt cx="6243904" cy="182880"/>
          </a:xfrm>
        </p:grpSpPr>
        <p:sp>
          <p:nvSpPr>
            <p:cNvPr name="Freeform 8" id="8"/>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5"/>
              <a:stretch>
                <a:fillRect l="0" t="6" r="-244622" b="-789145"/>
              </a:stretch>
            </a:blipFill>
          </p:spPr>
        </p:sp>
      </p:grpSp>
      <p:sp>
        <p:nvSpPr>
          <p:cNvPr name="Freeform 9" id="9"/>
          <p:cNvSpPr/>
          <p:nvPr/>
        </p:nvSpPr>
        <p:spPr>
          <a:xfrm flipH="false" flipV="false" rot="0">
            <a:off x="0" y="2059640"/>
            <a:ext cx="18288000" cy="7890273"/>
          </a:xfrm>
          <a:custGeom>
            <a:avLst/>
            <a:gdLst/>
            <a:ahLst/>
            <a:cxnLst/>
            <a:rect r="r" b="b" t="t" l="l"/>
            <a:pathLst>
              <a:path h="7890273" w="18288000">
                <a:moveTo>
                  <a:pt x="0" y="0"/>
                </a:moveTo>
                <a:lnTo>
                  <a:pt x="18288000" y="0"/>
                </a:lnTo>
                <a:lnTo>
                  <a:pt x="18288000" y="7890272"/>
                </a:lnTo>
                <a:lnTo>
                  <a:pt x="0" y="7890272"/>
                </a:lnTo>
                <a:lnTo>
                  <a:pt x="0" y="0"/>
                </a:lnTo>
                <a:close/>
              </a:path>
            </a:pathLst>
          </a:custGeom>
          <a:blipFill>
            <a:blip r:embed="rId6"/>
            <a:stretch>
              <a:fillRect l="-535" t="0" r="-535" b="0"/>
            </a:stretch>
          </a:blipFill>
        </p:spPr>
      </p:sp>
      <p:grpSp>
        <p:nvGrpSpPr>
          <p:cNvPr name="Group 10" id="10"/>
          <p:cNvGrpSpPr/>
          <p:nvPr/>
        </p:nvGrpSpPr>
        <p:grpSpPr>
          <a:xfrm rot="0">
            <a:off x="13944600" y="9670256"/>
            <a:ext cx="4114800" cy="547688"/>
            <a:chOff x="0" y="0"/>
            <a:chExt cx="5486400" cy="730250"/>
          </a:xfrm>
        </p:grpSpPr>
        <p:sp>
          <p:nvSpPr>
            <p:cNvPr name="Freeform 11" id="1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7">
                <a:alphaModFix amt="0"/>
              </a:blip>
              <a:stretch>
                <a:fillRect l="0" t="-96391" r="0" b="-96391"/>
              </a:stretch>
            </a:blipFill>
          </p:spPr>
        </p:sp>
        <p:sp>
          <p:nvSpPr>
            <p:cNvPr name="TextBox 12" id="12"/>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8</a:t>
              </a:r>
            </a:p>
          </p:txBody>
        </p:sp>
      </p:grpSp>
      <p:sp>
        <p:nvSpPr>
          <p:cNvPr name="TextBox 13" id="13"/>
          <p:cNvSpPr txBox="true"/>
          <p:nvPr/>
        </p:nvSpPr>
        <p:spPr>
          <a:xfrm rot="0">
            <a:off x="293484" y="1614762"/>
            <a:ext cx="11210173" cy="571500"/>
          </a:xfrm>
          <a:prstGeom prst="rect">
            <a:avLst/>
          </a:prstGeom>
        </p:spPr>
        <p:txBody>
          <a:bodyPr anchor="t" rtlCol="false" tIns="0" lIns="0" bIns="0" rIns="0">
            <a:spAutoFit/>
          </a:bodyPr>
          <a:lstStyle/>
          <a:p>
            <a:pPr algn="l">
              <a:lnSpc>
                <a:spcPts val="4319"/>
              </a:lnSpc>
            </a:pPr>
            <a:r>
              <a:rPr lang="en-US" sz="3599" b="true">
                <a:solidFill>
                  <a:srgbClr val="FF751F"/>
                </a:solidFill>
                <a:latin typeface="Arial Bold"/>
                <a:ea typeface="Arial Bold"/>
                <a:cs typeface="Arial Bold"/>
                <a:sym typeface="Arial Bold"/>
              </a:rPr>
              <a:t>3.1. Kiến trúc tổng thể hệ thống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9</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Freeform 11" id="11"/>
          <p:cNvSpPr/>
          <p:nvPr/>
        </p:nvSpPr>
        <p:spPr>
          <a:xfrm flipH="false" flipV="false" rot="0">
            <a:off x="5273721" y="3065591"/>
            <a:ext cx="6027314" cy="5914302"/>
          </a:xfrm>
          <a:custGeom>
            <a:avLst/>
            <a:gdLst/>
            <a:ahLst/>
            <a:cxnLst/>
            <a:rect r="r" b="b" t="t" l="l"/>
            <a:pathLst>
              <a:path h="5914302" w="6027314">
                <a:moveTo>
                  <a:pt x="0" y="0"/>
                </a:moveTo>
                <a:lnTo>
                  <a:pt x="6027314" y="0"/>
                </a:lnTo>
                <a:lnTo>
                  <a:pt x="6027314" y="5914302"/>
                </a:lnTo>
                <a:lnTo>
                  <a:pt x="0" y="591430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2" id="12"/>
          <p:cNvGrpSpPr/>
          <p:nvPr/>
        </p:nvGrpSpPr>
        <p:grpSpPr>
          <a:xfrm rot="0">
            <a:off x="11391649" y="3527093"/>
            <a:ext cx="5468471" cy="1275431"/>
            <a:chOff x="0" y="0"/>
            <a:chExt cx="1723799" cy="402048"/>
          </a:xfrm>
        </p:grpSpPr>
        <p:sp>
          <p:nvSpPr>
            <p:cNvPr name="Freeform 13" id="13"/>
            <p:cNvSpPr/>
            <p:nvPr/>
          </p:nvSpPr>
          <p:spPr>
            <a:xfrm flipH="false" flipV="false" rot="0">
              <a:off x="0" y="0"/>
              <a:ext cx="1723798" cy="402048"/>
            </a:xfrm>
            <a:custGeom>
              <a:avLst/>
              <a:gdLst/>
              <a:ahLst/>
              <a:cxnLst/>
              <a:rect r="r" b="b" t="t" l="l"/>
              <a:pathLst>
                <a:path h="402048" w="1723798">
                  <a:moveTo>
                    <a:pt x="27651" y="0"/>
                  </a:moveTo>
                  <a:lnTo>
                    <a:pt x="1696147" y="0"/>
                  </a:lnTo>
                  <a:cubicBezTo>
                    <a:pt x="1703481" y="0"/>
                    <a:pt x="1710514" y="2913"/>
                    <a:pt x="1715700" y="8099"/>
                  </a:cubicBezTo>
                  <a:cubicBezTo>
                    <a:pt x="1720885" y="13284"/>
                    <a:pt x="1723798" y="20318"/>
                    <a:pt x="1723798" y="27651"/>
                  </a:cubicBezTo>
                  <a:lnTo>
                    <a:pt x="1723798" y="374397"/>
                  </a:lnTo>
                  <a:cubicBezTo>
                    <a:pt x="1723798" y="389668"/>
                    <a:pt x="1711419" y="402048"/>
                    <a:pt x="1696147" y="402048"/>
                  </a:cubicBezTo>
                  <a:lnTo>
                    <a:pt x="27651" y="402048"/>
                  </a:lnTo>
                  <a:cubicBezTo>
                    <a:pt x="12380" y="402048"/>
                    <a:pt x="0" y="389668"/>
                    <a:pt x="0" y="374397"/>
                  </a:cubicBezTo>
                  <a:lnTo>
                    <a:pt x="0" y="27651"/>
                  </a:lnTo>
                  <a:cubicBezTo>
                    <a:pt x="0" y="12380"/>
                    <a:pt x="12380" y="0"/>
                    <a:pt x="27651" y="0"/>
                  </a:cubicBezTo>
                  <a:close/>
                </a:path>
              </a:pathLst>
            </a:custGeom>
            <a:solidFill>
              <a:srgbClr val="FFFFFF"/>
            </a:solidFill>
            <a:ln w="38100" cap="rnd">
              <a:solidFill>
                <a:srgbClr val="000000"/>
              </a:solidFill>
              <a:prstDash val="solid"/>
              <a:round/>
            </a:ln>
          </p:spPr>
        </p:sp>
        <p:sp>
          <p:nvSpPr>
            <p:cNvPr name="TextBox 14" id="14"/>
            <p:cNvSpPr txBox="true"/>
            <p:nvPr/>
          </p:nvSpPr>
          <p:spPr>
            <a:xfrm>
              <a:off x="0" y="-19050"/>
              <a:ext cx="1723799" cy="421098"/>
            </a:xfrm>
            <a:prstGeom prst="rect">
              <a:avLst/>
            </a:prstGeom>
          </p:spPr>
          <p:txBody>
            <a:bodyPr anchor="ctr" rtlCol="false" tIns="50800" lIns="50800" bIns="50800" rIns="50800"/>
            <a:lstStyle/>
            <a:p>
              <a:pPr algn="just">
                <a:lnSpc>
                  <a:spcPts val="2639"/>
                </a:lnSpc>
              </a:pPr>
              <a:r>
                <a:rPr lang="en-US" sz="2199">
                  <a:solidFill>
                    <a:srgbClr val="000000"/>
                  </a:solidFill>
                  <a:latin typeface="Arial"/>
                  <a:ea typeface="Arial"/>
                  <a:cs typeface="Arial"/>
                  <a:sym typeface="Arial"/>
                </a:rPr>
                <a:t>Lọc 2010-2022, INF_A + INF_B, gộp trùng nhiều nguồn báo cáo</a:t>
              </a:r>
            </a:p>
          </p:txBody>
        </p:sp>
      </p:grpSp>
      <p:grpSp>
        <p:nvGrpSpPr>
          <p:cNvPr name="Group 15" id="15"/>
          <p:cNvGrpSpPr/>
          <p:nvPr/>
        </p:nvGrpSpPr>
        <p:grpSpPr>
          <a:xfrm rot="0">
            <a:off x="11391649" y="5012074"/>
            <a:ext cx="5468471" cy="1275431"/>
            <a:chOff x="0" y="0"/>
            <a:chExt cx="1723799" cy="402048"/>
          </a:xfrm>
        </p:grpSpPr>
        <p:sp>
          <p:nvSpPr>
            <p:cNvPr name="Freeform 16" id="16"/>
            <p:cNvSpPr/>
            <p:nvPr/>
          </p:nvSpPr>
          <p:spPr>
            <a:xfrm flipH="false" flipV="false" rot="0">
              <a:off x="0" y="0"/>
              <a:ext cx="1723798" cy="402048"/>
            </a:xfrm>
            <a:custGeom>
              <a:avLst/>
              <a:gdLst/>
              <a:ahLst/>
              <a:cxnLst/>
              <a:rect r="r" b="b" t="t" l="l"/>
              <a:pathLst>
                <a:path h="402048" w="1723798">
                  <a:moveTo>
                    <a:pt x="27651" y="0"/>
                  </a:moveTo>
                  <a:lnTo>
                    <a:pt x="1696147" y="0"/>
                  </a:lnTo>
                  <a:cubicBezTo>
                    <a:pt x="1703481" y="0"/>
                    <a:pt x="1710514" y="2913"/>
                    <a:pt x="1715700" y="8099"/>
                  </a:cubicBezTo>
                  <a:cubicBezTo>
                    <a:pt x="1720885" y="13284"/>
                    <a:pt x="1723798" y="20318"/>
                    <a:pt x="1723798" y="27651"/>
                  </a:cubicBezTo>
                  <a:lnTo>
                    <a:pt x="1723798" y="374397"/>
                  </a:lnTo>
                  <a:cubicBezTo>
                    <a:pt x="1723798" y="389668"/>
                    <a:pt x="1711419" y="402048"/>
                    <a:pt x="1696147" y="402048"/>
                  </a:cubicBezTo>
                  <a:lnTo>
                    <a:pt x="27651" y="402048"/>
                  </a:lnTo>
                  <a:cubicBezTo>
                    <a:pt x="12380" y="402048"/>
                    <a:pt x="0" y="389668"/>
                    <a:pt x="0" y="374397"/>
                  </a:cubicBezTo>
                  <a:lnTo>
                    <a:pt x="0" y="27651"/>
                  </a:lnTo>
                  <a:cubicBezTo>
                    <a:pt x="0" y="12380"/>
                    <a:pt x="12380" y="0"/>
                    <a:pt x="27651" y="0"/>
                  </a:cubicBezTo>
                  <a:close/>
                </a:path>
              </a:pathLst>
            </a:custGeom>
            <a:solidFill>
              <a:srgbClr val="FFFFFF"/>
            </a:solidFill>
            <a:ln w="38100" cap="rnd">
              <a:solidFill>
                <a:srgbClr val="000000"/>
              </a:solidFill>
              <a:prstDash val="solid"/>
              <a:round/>
            </a:ln>
          </p:spPr>
        </p:sp>
        <p:sp>
          <p:nvSpPr>
            <p:cNvPr name="TextBox 17" id="17"/>
            <p:cNvSpPr txBox="true"/>
            <p:nvPr/>
          </p:nvSpPr>
          <p:spPr>
            <a:xfrm>
              <a:off x="0" y="-19050"/>
              <a:ext cx="1723799" cy="421098"/>
            </a:xfrm>
            <a:prstGeom prst="rect">
              <a:avLst/>
            </a:prstGeom>
          </p:spPr>
          <p:txBody>
            <a:bodyPr anchor="ctr" rtlCol="false" tIns="50800" lIns="50800" bIns="50800" rIns="50800"/>
            <a:lstStyle/>
            <a:p>
              <a:pPr algn="just">
                <a:lnSpc>
                  <a:spcPts val="2639"/>
                </a:lnSpc>
              </a:pPr>
              <a:r>
                <a:rPr lang="en-US" sz="2199">
                  <a:solidFill>
                    <a:srgbClr val="000000"/>
                  </a:solidFill>
                  <a:latin typeface="Arial"/>
                  <a:ea typeface="Arial"/>
                  <a:cs typeface="Arial"/>
                  <a:sym typeface="Arial"/>
                </a:rPr>
                <a:t>Chỉ giữ độ phân giải tuần, quy về năm/tuần ISO, gộp trùng theo ưu tiên định nghĩa ca (Total &gt; Suspected &gt; Confirmed)</a:t>
              </a:r>
            </a:p>
          </p:txBody>
        </p:sp>
      </p:grpSp>
      <p:grpSp>
        <p:nvGrpSpPr>
          <p:cNvPr name="Group 18" id="18"/>
          <p:cNvGrpSpPr/>
          <p:nvPr/>
        </p:nvGrpSpPr>
        <p:grpSpPr>
          <a:xfrm rot="0">
            <a:off x="11391649" y="6394677"/>
            <a:ext cx="5468471" cy="1275431"/>
            <a:chOff x="0" y="0"/>
            <a:chExt cx="1723799" cy="402048"/>
          </a:xfrm>
        </p:grpSpPr>
        <p:sp>
          <p:nvSpPr>
            <p:cNvPr name="Freeform 19" id="19"/>
            <p:cNvSpPr/>
            <p:nvPr/>
          </p:nvSpPr>
          <p:spPr>
            <a:xfrm flipH="false" flipV="false" rot="0">
              <a:off x="0" y="0"/>
              <a:ext cx="1723798" cy="402048"/>
            </a:xfrm>
            <a:custGeom>
              <a:avLst/>
              <a:gdLst/>
              <a:ahLst/>
              <a:cxnLst/>
              <a:rect r="r" b="b" t="t" l="l"/>
              <a:pathLst>
                <a:path h="402048" w="1723798">
                  <a:moveTo>
                    <a:pt x="27651" y="0"/>
                  </a:moveTo>
                  <a:lnTo>
                    <a:pt x="1696147" y="0"/>
                  </a:lnTo>
                  <a:cubicBezTo>
                    <a:pt x="1703481" y="0"/>
                    <a:pt x="1710514" y="2913"/>
                    <a:pt x="1715700" y="8099"/>
                  </a:cubicBezTo>
                  <a:cubicBezTo>
                    <a:pt x="1720885" y="13284"/>
                    <a:pt x="1723798" y="20318"/>
                    <a:pt x="1723798" y="27651"/>
                  </a:cubicBezTo>
                  <a:lnTo>
                    <a:pt x="1723798" y="374397"/>
                  </a:lnTo>
                  <a:cubicBezTo>
                    <a:pt x="1723798" y="389668"/>
                    <a:pt x="1711419" y="402048"/>
                    <a:pt x="1696147" y="402048"/>
                  </a:cubicBezTo>
                  <a:lnTo>
                    <a:pt x="27651" y="402048"/>
                  </a:lnTo>
                  <a:cubicBezTo>
                    <a:pt x="12380" y="402048"/>
                    <a:pt x="0" y="389668"/>
                    <a:pt x="0" y="374397"/>
                  </a:cubicBezTo>
                  <a:lnTo>
                    <a:pt x="0" y="27651"/>
                  </a:lnTo>
                  <a:cubicBezTo>
                    <a:pt x="0" y="12380"/>
                    <a:pt x="12380" y="0"/>
                    <a:pt x="27651" y="0"/>
                  </a:cubicBezTo>
                  <a:close/>
                </a:path>
              </a:pathLst>
            </a:custGeom>
            <a:solidFill>
              <a:srgbClr val="FFFFFF"/>
            </a:solidFill>
            <a:ln w="38100" cap="rnd">
              <a:solidFill>
                <a:srgbClr val="000000"/>
              </a:solidFill>
              <a:prstDash val="solid"/>
              <a:round/>
            </a:ln>
          </p:spPr>
        </p:sp>
        <p:sp>
          <p:nvSpPr>
            <p:cNvPr name="TextBox 20" id="20"/>
            <p:cNvSpPr txBox="true"/>
            <p:nvPr/>
          </p:nvSpPr>
          <p:spPr>
            <a:xfrm>
              <a:off x="0" y="-19050"/>
              <a:ext cx="1723799" cy="421098"/>
            </a:xfrm>
            <a:prstGeom prst="rect">
              <a:avLst/>
            </a:prstGeom>
          </p:spPr>
          <p:txBody>
            <a:bodyPr anchor="ctr" rtlCol="false" tIns="50800" lIns="50800" bIns="50800" rIns="50800"/>
            <a:lstStyle/>
            <a:p>
              <a:pPr algn="just">
                <a:lnSpc>
                  <a:spcPts val="2639"/>
                </a:lnSpc>
              </a:pPr>
              <a:r>
                <a:rPr lang="en-US" sz="2199">
                  <a:solidFill>
                    <a:srgbClr val="000000"/>
                  </a:solidFill>
                  <a:latin typeface="Arial"/>
                  <a:ea typeface="Arial"/>
                  <a:cs typeface="Arial"/>
                  <a:sym typeface="Arial"/>
                </a:rPr>
                <a:t>18 biến/tuần, đã quy về quốc gia bằng KD-Tree</a:t>
              </a:r>
            </a:p>
          </p:txBody>
        </p:sp>
      </p:grpSp>
      <p:grpSp>
        <p:nvGrpSpPr>
          <p:cNvPr name="Group 21" id="21"/>
          <p:cNvGrpSpPr/>
          <p:nvPr/>
        </p:nvGrpSpPr>
        <p:grpSpPr>
          <a:xfrm rot="0">
            <a:off x="11391649" y="7794113"/>
            <a:ext cx="5468471" cy="1275431"/>
            <a:chOff x="0" y="0"/>
            <a:chExt cx="1723799" cy="402048"/>
          </a:xfrm>
        </p:grpSpPr>
        <p:sp>
          <p:nvSpPr>
            <p:cNvPr name="Freeform 22" id="22"/>
            <p:cNvSpPr/>
            <p:nvPr/>
          </p:nvSpPr>
          <p:spPr>
            <a:xfrm flipH="false" flipV="false" rot="0">
              <a:off x="0" y="0"/>
              <a:ext cx="1723798" cy="402048"/>
            </a:xfrm>
            <a:custGeom>
              <a:avLst/>
              <a:gdLst/>
              <a:ahLst/>
              <a:cxnLst/>
              <a:rect r="r" b="b" t="t" l="l"/>
              <a:pathLst>
                <a:path h="402048" w="1723798">
                  <a:moveTo>
                    <a:pt x="27651" y="0"/>
                  </a:moveTo>
                  <a:lnTo>
                    <a:pt x="1696147" y="0"/>
                  </a:lnTo>
                  <a:cubicBezTo>
                    <a:pt x="1703481" y="0"/>
                    <a:pt x="1710514" y="2913"/>
                    <a:pt x="1715700" y="8099"/>
                  </a:cubicBezTo>
                  <a:cubicBezTo>
                    <a:pt x="1720885" y="13284"/>
                    <a:pt x="1723798" y="20318"/>
                    <a:pt x="1723798" y="27651"/>
                  </a:cubicBezTo>
                  <a:lnTo>
                    <a:pt x="1723798" y="374397"/>
                  </a:lnTo>
                  <a:cubicBezTo>
                    <a:pt x="1723798" y="389668"/>
                    <a:pt x="1711419" y="402048"/>
                    <a:pt x="1696147" y="402048"/>
                  </a:cubicBezTo>
                  <a:lnTo>
                    <a:pt x="27651" y="402048"/>
                  </a:lnTo>
                  <a:cubicBezTo>
                    <a:pt x="12380" y="402048"/>
                    <a:pt x="0" y="389668"/>
                    <a:pt x="0" y="374397"/>
                  </a:cubicBezTo>
                  <a:lnTo>
                    <a:pt x="0" y="27651"/>
                  </a:lnTo>
                  <a:cubicBezTo>
                    <a:pt x="0" y="12380"/>
                    <a:pt x="12380" y="0"/>
                    <a:pt x="27651" y="0"/>
                  </a:cubicBezTo>
                  <a:close/>
                </a:path>
              </a:pathLst>
            </a:custGeom>
            <a:solidFill>
              <a:srgbClr val="FFFFFF"/>
            </a:solidFill>
            <a:ln w="38100" cap="rnd">
              <a:solidFill>
                <a:srgbClr val="000000"/>
              </a:solidFill>
              <a:prstDash val="solid"/>
              <a:round/>
            </a:ln>
          </p:spPr>
        </p:sp>
        <p:sp>
          <p:nvSpPr>
            <p:cNvPr name="TextBox 23" id="23"/>
            <p:cNvSpPr txBox="true"/>
            <p:nvPr/>
          </p:nvSpPr>
          <p:spPr>
            <a:xfrm>
              <a:off x="0" y="-19050"/>
              <a:ext cx="1723799" cy="421098"/>
            </a:xfrm>
            <a:prstGeom prst="rect">
              <a:avLst/>
            </a:prstGeom>
          </p:spPr>
          <p:txBody>
            <a:bodyPr anchor="ctr" rtlCol="false" tIns="50800" lIns="50800" bIns="50800" rIns="50800"/>
            <a:lstStyle/>
            <a:p>
              <a:pPr algn="just">
                <a:lnSpc>
                  <a:spcPts val="2639"/>
                </a:lnSpc>
              </a:pPr>
              <a:r>
                <a:rPr lang="en-US" sz="2199">
                  <a:solidFill>
                    <a:srgbClr val="000000"/>
                  </a:solidFill>
                  <a:latin typeface="Arial"/>
                  <a:ea typeface="Arial"/>
                  <a:cs typeface="Arial"/>
                  <a:sym typeface="Arial"/>
                </a:rPr>
                <a:t>OUTER JOIN cúm+dengue → INNER JOIN ERA5</a:t>
              </a:r>
            </a:p>
          </p:txBody>
        </p:sp>
      </p:grpSp>
      <p:sp>
        <p:nvSpPr>
          <p:cNvPr name="TextBox 24" id="24"/>
          <p:cNvSpPr txBox="true"/>
          <p:nvPr/>
        </p:nvSpPr>
        <p:spPr>
          <a:xfrm rot="0">
            <a:off x="4221772" y="9515475"/>
            <a:ext cx="8348861" cy="400050"/>
          </a:xfrm>
          <a:prstGeom prst="rect">
            <a:avLst/>
          </a:prstGeom>
        </p:spPr>
        <p:txBody>
          <a:bodyPr anchor="t" rtlCol="false" tIns="0" lIns="0" bIns="0" rIns="0">
            <a:spAutoFit/>
          </a:bodyPr>
          <a:lstStyle/>
          <a:p>
            <a:pPr algn="ctr">
              <a:lnSpc>
                <a:spcPts val="3000"/>
              </a:lnSpc>
              <a:spcBef>
                <a:spcPct val="0"/>
              </a:spcBef>
            </a:pPr>
            <a:r>
              <a:rPr lang="en-US" b="true" sz="2500">
                <a:solidFill>
                  <a:srgbClr val="000000"/>
                </a:solidFill>
                <a:latin typeface="Arial Bold"/>
                <a:ea typeface="Arial Bold"/>
                <a:cs typeface="Arial Bold"/>
                <a:sym typeface="Arial Bold"/>
              </a:rPr>
              <a:t>Final dataset: </a:t>
            </a:r>
            <a:r>
              <a:rPr lang="en-US" sz="2500">
                <a:solidFill>
                  <a:srgbClr val="000000"/>
                </a:solidFill>
                <a:latin typeface="Arial"/>
                <a:ea typeface="Arial"/>
                <a:cs typeface="Arial"/>
                <a:sym typeface="Arial"/>
              </a:rPr>
              <a:t>61.112</a:t>
            </a:r>
            <a:r>
              <a:rPr lang="en-US" sz="2500">
                <a:solidFill>
                  <a:srgbClr val="000000"/>
                </a:solidFill>
                <a:latin typeface="Arial"/>
                <a:ea typeface="Arial"/>
                <a:cs typeface="Arial"/>
                <a:sym typeface="Arial"/>
              </a:rPr>
              <a:t> dòng × 27 cột, 163 nước, 2010-2019</a:t>
            </a:r>
          </a:p>
        </p:txBody>
      </p:sp>
      <p:sp>
        <p:nvSpPr>
          <p:cNvPr name="AutoShape 25" id="25"/>
          <p:cNvSpPr/>
          <p:nvPr/>
        </p:nvSpPr>
        <p:spPr>
          <a:xfrm>
            <a:off x="7959786" y="9069544"/>
            <a:ext cx="13626" cy="464981"/>
          </a:xfrm>
          <a:prstGeom prst="line">
            <a:avLst/>
          </a:prstGeom>
          <a:ln cap="flat" w="38100">
            <a:solidFill>
              <a:srgbClr val="000000"/>
            </a:solidFill>
            <a:prstDash val="solid"/>
            <a:headEnd type="none" len="sm" w="sm"/>
            <a:tailEnd type="triangle" len="med" w="lg"/>
          </a:ln>
        </p:spPr>
      </p:sp>
      <p:sp>
        <p:nvSpPr>
          <p:cNvPr name="TextBox 26" id="26"/>
          <p:cNvSpPr txBox="true"/>
          <p:nvPr/>
        </p:nvSpPr>
        <p:spPr>
          <a:xfrm rot="0">
            <a:off x="293484" y="573510"/>
            <a:ext cx="11684496"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III. PHÂN TÍCH VÀ THIẾT KẾ HỆ THỐNG </a:t>
            </a:r>
          </a:p>
        </p:txBody>
      </p:sp>
      <p:sp>
        <p:nvSpPr>
          <p:cNvPr name="TextBox 27" id="27"/>
          <p:cNvSpPr txBox="true"/>
          <p:nvPr/>
        </p:nvSpPr>
        <p:spPr>
          <a:xfrm rot="0">
            <a:off x="293484" y="1637357"/>
            <a:ext cx="11210173" cy="571500"/>
          </a:xfrm>
          <a:prstGeom prst="rect">
            <a:avLst/>
          </a:prstGeom>
        </p:spPr>
        <p:txBody>
          <a:bodyPr anchor="t" rtlCol="false" tIns="0" lIns="0" bIns="0" rIns="0">
            <a:spAutoFit/>
          </a:bodyPr>
          <a:lstStyle/>
          <a:p>
            <a:pPr algn="l">
              <a:lnSpc>
                <a:spcPts val="4319"/>
              </a:lnSpc>
            </a:pPr>
            <a:r>
              <a:rPr lang="en-US" sz="3599" b="true">
                <a:solidFill>
                  <a:srgbClr val="FF751F"/>
                </a:solidFill>
                <a:latin typeface="Arial Bold"/>
                <a:ea typeface="Arial Bold"/>
                <a:cs typeface="Arial Bold"/>
                <a:sym typeface="Arial Bold"/>
              </a:rPr>
              <a:t>3.2. Thu thập, làm sạch và hợp nhất dữ liệu</a:t>
            </a:r>
          </a:p>
        </p:txBody>
      </p:sp>
      <p:sp>
        <p:nvSpPr>
          <p:cNvPr name="TextBox 28" id="28"/>
          <p:cNvSpPr txBox="true"/>
          <p:nvPr/>
        </p:nvSpPr>
        <p:spPr>
          <a:xfrm rot="0">
            <a:off x="7032048" y="4573924"/>
            <a:ext cx="2093813" cy="438150"/>
          </a:xfrm>
          <a:prstGeom prst="rect">
            <a:avLst/>
          </a:prstGeom>
        </p:spPr>
        <p:txBody>
          <a:bodyPr anchor="t" rtlCol="false" tIns="0" lIns="0" bIns="0" rIns="0">
            <a:spAutoFit/>
          </a:bodyPr>
          <a:lstStyle/>
          <a:p>
            <a:pPr algn="ctr">
              <a:lnSpc>
                <a:spcPts val="3359"/>
              </a:lnSpc>
              <a:spcBef>
                <a:spcPct val="0"/>
              </a:spcBef>
            </a:pPr>
            <a:r>
              <a:rPr lang="en-US" b="true" sz="2799">
                <a:solidFill>
                  <a:srgbClr val="000000"/>
                </a:solidFill>
                <a:latin typeface="Arial Bold"/>
                <a:ea typeface="Arial Bold"/>
                <a:cs typeface="Arial Bold"/>
                <a:sym typeface="Arial Bold"/>
              </a:rPr>
              <a:t>Lọc data Flu</a:t>
            </a:r>
          </a:p>
        </p:txBody>
      </p:sp>
      <p:sp>
        <p:nvSpPr>
          <p:cNvPr name="TextBox 29" id="29"/>
          <p:cNvSpPr txBox="true"/>
          <p:nvPr/>
        </p:nvSpPr>
        <p:spPr>
          <a:xfrm rot="0">
            <a:off x="6962744" y="5794142"/>
            <a:ext cx="2232422" cy="438150"/>
          </a:xfrm>
          <a:prstGeom prst="rect">
            <a:avLst/>
          </a:prstGeom>
        </p:spPr>
        <p:txBody>
          <a:bodyPr anchor="t" rtlCol="false" tIns="0" lIns="0" bIns="0" rIns="0">
            <a:spAutoFit/>
          </a:bodyPr>
          <a:lstStyle/>
          <a:p>
            <a:pPr algn="ctr">
              <a:lnSpc>
                <a:spcPts val="3359"/>
              </a:lnSpc>
              <a:spcBef>
                <a:spcPct val="0"/>
              </a:spcBef>
            </a:pPr>
            <a:r>
              <a:rPr lang="en-US" b="true" sz="2799">
                <a:solidFill>
                  <a:srgbClr val="000000"/>
                </a:solidFill>
                <a:latin typeface="Arial Bold"/>
                <a:ea typeface="Arial Bold"/>
                <a:cs typeface="Arial Bold"/>
                <a:sym typeface="Arial Bold"/>
              </a:rPr>
              <a:t>Lọc data Den</a:t>
            </a:r>
          </a:p>
        </p:txBody>
      </p:sp>
      <p:sp>
        <p:nvSpPr>
          <p:cNvPr name="TextBox 30" id="30"/>
          <p:cNvSpPr txBox="true"/>
          <p:nvPr/>
        </p:nvSpPr>
        <p:spPr>
          <a:xfrm rot="0">
            <a:off x="7170012" y="7013342"/>
            <a:ext cx="1679277" cy="438150"/>
          </a:xfrm>
          <a:prstGeom prst="rect">
            <a:avLst/>
          </a:prstGeom>
        </p:spPr>
        <p:txBody>
          <a:bodyPr anchor="t" rtlCol="false" tIns="0" lIns="0" bIns="0" rIns="0">
            <a:spAutoFit/>
          </a:bodyPr>
          <a:lstStyle/>
          <a:p>
            <a:pPr algn="ctr">
              <a:lnSpc>
                <a:spcPts val="3359"/>
              </a:lnSpc>
              <a:spcBef>
                <a:spcPct val="0"/>
              </a:spcBef>
            </a:pPr>
            <a:r>
              <a:rPr lang="en-US" b="true" sz="2799">
                <a:solidFill>
                  <a:srgbClr val="000000"/>
                </a:solidFill>
                <a:latin typeface="Arial Bold"/>
                <a:ea typeface="Arial Bold"/>
                <a:cs typeface="Arial Bold"/>
                <a:sym typeface="Arial Bold"/>
              </a:rPr>
              <a:t>Lọc ERA5</a:t>
            </a:r>
          </a:p>
        </p:txBody>
      </p:sp>
      <p:sp>
        <p:nvSpPr>
          <p:cNvPr name="TextBox 31" id="31"/>
          <p:cNvSpPr txBox="true"/>
          <p:nvPr/>
        </p:nvSpPr>
        <p:spPr>
          <a:xfrm rot="0">
            <a:off x="7486023" y="8232542"/>
            <a:ext cx="1047254" cy="438150"/>
          </a:xfrm>
          <a:prstGeom prst="rect">
            <a:avLst/>
          </a:prstGeom>
        </p:spPr>
        <p:txBody>
          <a:bodyPr anchor="t" rtlCol="false" tIns="0" lIns="0" bIns="0" rIns="0">
            <a:spAutoFit/>
          </a:bodyPr>
          <a:lstStyle/>
          <a:p>
            <a:pPr algn="ctr">
              <a:lnSpc>
                <a:spcPts val="3359"/>
              </a:lnSpc>
              <a:spcBef>
                <a:spcPct val="0"/>
              </a:spcBef>
            </a:pPr>
            <a:r>
              <a:rPr lang="en-US" b="true" sz="2799">
                <a:solidFill>
                  <a:srgbClr val="000000"/>
                </a:solidFill>
                <a:latin typeface="Arial Bold"/>
                <a:ea typeface="Arial Bold"/>
                <a:cs typeface="Arial Bold"/>
                <a:sym typeface="Arial Bold"/>
              </a:rPr>
              <a:t>Merge</a:t>
            </a:r>
          </a:p>
        </p:txBody>
      </p:sp>
      <p:grpSp>
        <p:nvGrpSpPr>
          <p:cNvPr name="Group 32" id="32"/>
          <p:cNvGrpSpPr/>
          <p:nvPr/>
        </p:nvGrpSpPr>
        <p:grpSpPr>
          <a:xfrm rot="0">
            <a:off x="3163890" y="2208857"/>
            <a:ext cx="9548378" cy="1591085"/>
            <a:chOff x="0" y="0"/>
            <a:chExt cx="12731171" cy="2121447"/>
          </a:xfrm>
        </p:grpSpPr>
        <p:sp>
          <p:nvSpPr>
            <p:cNvPr name="TextBox 33" id="33"/>
            <p:cNvSpPr txBox="true"/>
            <p:nvPr/>
          </p:nvSpPr>
          <p:spPr>
            <a:xfrm rot="-1185824">
              <a:off x="-27011" y="709141"/>
              <a:ext cx="4471194" cy="676275"/>
            </a:xfrm>
            <a:prstGeom prst="rect">
              <a:avLst/>
            </a:prstGeom>
          </p:spPr>
          <p:txBody>
            <a:bodyPr anchor="t" rtlCol="false" tIns="0" lIns="0" bIns="0" rIns="0">
              <a:spAutoFit/>
            </a:bodyPr>
            <a:lstStyle/>
            <a:p>
              <a:pPr algn="ctr">
                <a:lnSpc>
                  <a:spcPts val="3840"/>
                </a:lnSpc>
                <a:spcBef>
                  <a:spcPct val="0"/>
                </a:spcBef>
              </a:pPr>
              <a:r>
                <a:rPr lang="en-US" sz="3200">
                  <a:solidFill>
                    <a:srgbClr val="000000"/>
                  </a:solidFill>
                  <a:latin typeface="Arial"/>
                  <a:ea typeface="Arial"/>
                  <a:cs typeface="Arial"/>
                  <a:sym typeface="Arial"/>
                </a:rPr>
                <a:t>WHO Flunet</a:t>
              </a:r>
            </a:p>
          </p:txBody>
        </p:sp>
        <p:sp>
          <p:nvSpPr>
            <p:cNvPr name="TextBox 34" id="34"/>
            <p:cNvSpPr txBox="true"/>
            <p:nvPr/>
          </p:nvSpPr>
          <p:spPr>
            <a:xfrm rot="395262">
              <a:off x="8239224" y="547728"/>
              <a:ext cx="4471194" cy="676275"/>
            </a:xfrm>
            <a:prstGeom prst="rect">
              <a:avLst/>
            </a:prstGeom>
          </p:spPr>
          <p:txBody>
            <a:bodyPr anchor="t" rtlCol="false" tIns="0" lIns="0" bIns="0" rIns="0">
              <a:spAutoFit/>
            </a:bodyPr>
            <a:lstStyle/>
            <a:p>
              <a:pPr algn="ctr">
                <a:lnSpc>
                  <a:spcPts val="3840"/>
                </a:lnSpc>
                <a:spcBef>
                  <a:spcPct val="0"/>
                </a:spcBef>
              </a:pPr>
              <a:r>
                <a:rPr lang="en-US" sz="3200">
                  <a:solidFill>
                    <a:srgbClr val="000000"/>
                  </a:solidFill>
                  <a:latin typeface="Arial"/>
                  <a:ea typeface="Arial"/>
                  <a:cs typeface="Arial"/>
                  <a:sym typeface="Arial"/>
                </a:rPr>
                <a:t>OpenDengue v1.3</a:t>
              </a:r>
            </a:p>
          </p:txBody>
        </p:sp>
        <p:sp>
          <p:nvSpPr>
            <p:cNvPr name="TextBox 35" id="35"/>
            <p:cNvSpPr txBox="true"/>
            <p:nvPr/>
          </p:nvSpPr>
          <p:spPr>
            <a:xfrm rot="-65543">
              <a:off x="4348925" y="224163"/>
              <a:ext cx="4471194" cy="676275"/>
            </a:xfrm>
            <a:prstGeom prst="rect">
              <a:avLst/>
            </a:prstGeom>
          </p:spPr>
          <p:txBody>
            <a:bodyPr anchor="t" rtlCol="false" tIns="0" lIns="0" bIns="0" rIns="0">
              <a:spAutoFit/>
            </a:bodyPr>
            <a:lstStyle/>
            <a:p>
              <a:pPr algn="ctr">
                <a:lnSpc>
                  <a:spcPts val="3840"/>
                </a:lnSpc>
                <a:spcBef>
                  <a:spcPct val="0"/>
                </a:spcBef>
              </a:pPr>
              <a:r>
                <a:rPr lang="en-US" sz="3200">
                  <a:solidFill>
                    <a:srgbClr val="000000"/>
                  </a:solidFill>
                  <a:latin typeface="Arial"/>
                  <a:ea typeface="Arial"/>
                  <a:cs typeface="Arial"/>
                  <a:sym typeface="Arial"/>
                </a:rPr>
                <a:t>ERA5</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9</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Freeform 11" id="11"/>
          <p:cNvSpPr/>
          <p:nvPr/>
        </p:nvSpPr>
        <p:spPr>
          <a:xfrm flipH="false" flipV="false" rot="0">
            <a:off x="1028700" y="3111219"/>
            <a:ext cx="16230600" cy="5741575"/>
          </a:xfrm>
          <a:custGeom>
            <a:avLst/>
            <a:gdLst/>
            <a:ahLst/>
            <a:cxnLst/>
            <a:rect r="r" b="b" t="t" l="l"/>
            <a:pathLst>
              <a:path h="5741575" w="16230600">
                <a:moveTo>
                  <a:pt x="0" y="0"/>
                </a:moveTo>
                <a:lnTo>
                  <a:pt x="16230600" y="0"/>
                </a:lnTo>
                <a:lnTo>
                  <a:pt x="16230600" y="5741575"/>
                </a:lnTo>
                <a:lnTo>
                  <a:pt x="0" y="5741575"/>
                </a:lnTo>
                <a:lnTo>
                  <a:pt x="0" y="0"/>
                </a:lnTo>
                <a:close/>
              </a:path>
            </a:pathLst>
          </a:custGeom>
          <a:blipFill>
            <a:blip r:embed="rId7"/>
            <a:stretch>
              <a:fillRect l="0" t="0" r="0" b="0"/>
            </a:stretch>
          </a:blipFill>
        </p:spPr>
      </p:sp>
      <p:grpSp>
        <p:nvGrpSpPr>
          <p:cNvPr name="Group 12" id="12"/>
          <p:cNvGrpSpPr/>
          <p:nvPr/>
        </p:nvGrpSpPr>
        <p:grpSpPr>
          <a:xfrm rot="0">
            <a:off x="13287019" y="4893963"/>
            <a:ext cx="2196810" cy="3958831"/>
            <a:chOff x="0" y="0"/>
            <a:chExt cx="578584" cy="1042655"/>
          </a:xfrm>
        </p:grpSpPr>
        <p:sp>
          <p:nvSpPr>
            <p:cNvPr name="Freeform 13" id="13"/>
            <p:cNvSpPr/>
            <p:nvPr/>
          </p:nvSpPr>
          <p:spPr>
            <a:xfrm flipH="false" flipV="false" rot="0">
              <a:off x="0" y="0"/>
              <a:ext cx="578584" cy="1042655"/>
            </a:xfrm>
            <a:custGeom>
              <a:avLst/>
              <a:gdLst/>
              <a:ahLst/>
              <a:cxnLst/>
              <a:rect r="r" b="b" t="t" l="l"/>
              <a:pathLst>
                <a:path h="1042655" w="578584">
                  <a:moveTo>
                    <a:pt x="0" y="0"/>
                  </a:moveTo>
                  <a:lnTo>
                    <a:pt x="578584" y="0"/>
                  </a:lnTo>
                  <a:lnTo>
                    <a:pt x="578584" y="1042655"/>
                  </a:lnTo>
                  <a:lnTo>
                    <a:pt x="0" y="1042655"/>
                  </a:lnTo>
                  <a:close/>
                </a:path>
              </a:pathLst>
            </a:custGeom>
            <a:ln w="38100" cap="sq">
              <a:solidFill>
                <a:srgbClr val="FF0000"/>
              </a:solidFill>
              <a:prstDash val="solid"/>
              <a:miter/>
            </a:ln>
          </p:spPr>
        </p:sp>
        <p:sp>
          <p:nvSpPr>
            <p:cNvPr name="TextBox 14" id="14"/>
            <p:cNvSpPr txBox="true"/>
            <p:nvPr/>
          </p:nvSpPr>
          <p:spPr>
            <a:xfrm>
              <a:off x="0" y="0"/>
              <a:ext cx="578584" cy="1042655"/>
            </a:xfrm>
            <a:prstGeom prst="rect">
              <a:avLst/>
            </a:prstGeom>
          </p:spPr>
          <p:txBody>
            <a:bodyPr anchor="ctr" rtlCol="false" tIns="50800" lIns="50800" bIns="50800" rIns="50800"/>
            <a:lstStyle/>
            <a:p>
              <a:pPr algn="ctr">
                <a:lnSpc>
                  <a:spcPts val="2160"/>
                </a:lnSpc>
              </a:pPr>
            </a:p>
          </p:txBody>
        </p:sp>
      </p:grpSp>
      <p:sp>
        <p:nvSpPr>
          <p:cNvPr name="TextBox 15" id="15"/>
          <p:cNvSpPr txBox="true"/>
          <p:nvPr/>
        </p:nvSpPr>
        <p:spPr>
          <a:xfrm rot="0">
            <a:off x="293484" y="573510"/>
            <a:ext cx="11684496"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III. PHÂN TÍCH VÀ THIẾT KẾ HỆ THỐNG </a:t>
            </a:r>
          </a:p>
        </p:txBody>
      </p:sp>
      <p:sp>
        <p:nvSpPr>
          <p:cNvPr name="TextBox 16" id="16"/>
          <p:cNvSpPr txBox="true"/>
          <p:nvPr/>
        </p:nvSpPr>
        <p:spPr>
          <a:xfrm rot="0">
            <a:off x="293484" y="1637357"/>
            <a:ext cx="11210173" cy="571500"/>
          </a:xfrm>
          <a:prstGeom prst="rect">
            <a:avLst/>
          </a:prstGeom>
        </p:spPr>
        <p:txBody>
          <a:bodyPr anchor="t" rtlCol="false" tIns="0" lIns="0" bIns="0" rIns="0">
            <a:spAutoFit/>
          </a:bodyPr>
          <a:lstStyle/>
          <a:p>
            <a:pPr algn="l">
              <a:lnSpc>
                <a:spcPts val="4319"/>
              </a:lnSpc>
            </a:pPr>
            <a:r>
              <a:rPr lang="en-US" sz="3599" b="true">
                <a:solidFill>
                  <a:srgbClr val="FF751F"/>
                </a:solidFill>
                <a:latin typeface="Arial Bold"/>
                <a:ea typeface="Arial Bold"/>
                <a:cs typeface="Arial Bold"/>
                <a:sym typeface="Arial Bold"/>
              </a:rPr>
              <a:t>3.2. Thu thập, làm sạch và hợp nhất dữ liệu</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10</a:t>
              </a:r>
            </a:p>
          </p:txBody>
        </p:sp>
      </p:grpSp>
      <p:sp>
        <p:nvSpPr>
          <p:cNvPr name="TextBox 9" id="9"/>
          <p:cNvSpPr txBox="true"/>
          <p:nvPr/>
        </p:nvSpPr>
        <p:spPr>
          <a:xfrm rot="0">
            <a:off x="293484" y="573510"/>
            <a:ext cx="11684496"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III. PHÂN TÍCH VÀ THIẾT KẾ HỆ THỐNG </a:t>
            </a:r>
          </a:p>
        </p:txBody>
      </p:sp>
      <p:sp>
        <p:nvSpPr>
          <p:cNvPr name="TextBox 10" id="10"/>
          <p:cNvSpPr txBox="true"/>
          <p:nvPr/>
        </p:nvSpPr>
        <p:spPr>
          <a:xfrm rot="0">
            <a:off x="293484" y="1873558"/>
            <a:ext cx="11210173" cy="571500"/>
          </a:xfrm>
          <a:prstGeom prst="rect">
            <a:avLst/>
          </a:prstGeom>
        </p:spPr>
        <p:txBody>
          <a:bodyPr anchor="t" rtlCol="false" tIns="0" lIns="0" bIns="0" rIns="0">
            <a:spAutoFit/>
          </a:bodyPr>
          <a:lstStyle/>
          <a:p>
            <a:pPr algn="l">
              <a:lnSpc>
                <a:spcPts val="4319"/>
              </a:lnSpc>
            </a:pPr>
            <a:r>
              <a:rPr lang="en-US" sz="3599" b="true">
                <a:solidFill>
                  <a:srgbClr val="FF751F"/>
                </a:solidFill>
                <a:latin typeface="Arial Bold"/>
                <a:ea typeface="Arial Bold"/>
                <a:cs typeface="Arial Bold"/>
                <a:sym typeface="Arial Bold"/>
              </a:rPr>
              <a:t>3.3. Kỹ thuật tiền xử lý</a:t>
            </a:r>
          </a:p>
        </p:txBody>
      </p:sp>
      <p:grpSp>
        <p:nvGrpSpPr>
          <p:cNvPr name="Group 11" id="11"/>
          <p:cNvGrpSpPr/>
          <p:nvPr/>
        </p:nvGrpSpPr>
        <p:grpSpPr>
          <a:xfrm rot="0">
            <a:off x="0" y="1423997"/>
            <a:ext cx="4682928" cy="137160"/>
            <a:chOff x="0" y="0"/>
            <a:chExt cx="6243904" cy="182880"/>
          </a:xfrm>
        </p:grpSpPr>
        <p:sp>
          <p:nvSpPr>
            <p:cNvPr name="Freeform 12" id="12"/>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TextBox 13" id="13"/>
          <p:cNvSpPr txBox="true"/>
          <p:nvPr/>
        </p:nvSpPr>
        <p:spPr>
          <a:xfrm rot="0">
            <a:off x="425768" y="2777490"/>
            <a:ext cx="16604932" cy="3585210"/>
          </a:xfrm>
          <a:prstGeom prst="rect">
            <a:avLst/>
          </a:prstGeom>
        </p:spPr>
        <p:txBody>
          <a:bodyPr anchor="t" rtlCol="false" tIns="0" lIns="0" bIns="0" rIns="0">
            <a:spAutoFit/>
          </a:bodyPr>
          <a:lstStyle/>
          <a:p>
            <a:pPr algn="just" marL="690879" indent="-345439" lvl="1">
              <a:lnSpc>
                <a:spcPts val="5759"/>
              </a:lnSpc>
              <a:buFont typeface="Arial"/>
              <a:buChar char="•"/>
            </a:pPr>
            <a:r>
              <a:rPr lang="en-US" b="true" sz="3199">
                <a:solidFill>
                  <a:srgbClr val="000000"/>
                </a:solidFill>
                <a:latin typeface="Arial Bold"/>
                <a:ea typeface="Arial Bold"/>
                <a:cs typeface="Arial Bold"/>
                <a:sym typeface="Arial Bold"/>
              </a:rPr>
              <a:t>Ánh xạ KD-Tree Nearest Centroid:</a:t>
            </a:r>
          </a:p>
          <a:p>
            <a:pPr algn="just" marL="1381758" indent="-460586" lvl="2">
              <a:lnSpc>
                <a:spcPts val="5759"/>
              </a:lnSpc>
              <a:buFont typeface="Arial"/>
              <a:buChar char="⚬"/>
            </a:pPr>
            <a:r>
              <a:rPr lang="en-US" sz="3199">
                <a:solidFill>
                  <a:srgbClr val="000000"/>
                </a:solidFill>
                <a:latin typeface="Arial"/>
                <a:ea typeface="Arial"/>
                <a:cs typeface="Arial"/>
                <a:sym typeface="Arial"/>
              </a:rPr>
              <a:t>Khí hậu ERA5 tồn tại dưới dạng hàng triệu điểm lưới tọa độ không gian (Grid).</a:t>
            </a:r>
          </a:p>
          <a:p>
            <a:pPr algn="just" marL="1381758" indent="-460586" lvl="2">
              <a:lnSpc>
                <a:spcPts val="5759"/>
              </a:lnSpc>
              <a:buFont typeface="Arial"/>
              <a:buChar char="⚬"/>
            </a:pPr>
            <a:r>
              <a:rPr lang="en-US" sz="3199">
                <a:solidFill>
                  <a:srgbClr val="000000"/>
                </a:solidFill>
                <a:latin typeface="Arial"/>
                <a:ea typeface="Arial"/>
                <a:cs typeface="Arial"/>
                <a:sym typeface="Arial"/>
              </a:rPr>
              <a:t>Sử dụng thuật toán KD-Tree và bản đồ Natural Earth để ánh xạ tọa độ khí hậu về trung tâm các quốc gia với độ phức tạp tính toán thấp (O(log N)).</a:t>
            </a:r>
          </a:p>
          <a:p>
            <a:pPr algn="just">
              <a:lnSpc>
                <a:spcPts val="5759"/>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7030700" y="9534525"/>
            <a:ext cx="646757" cy="547688"/>
            <a:chOff x="0" y="0"/>
            <a:chExt cx="862342" cy="730250"/>
          </a:xfrm>
        </p:grpSpPr>
        <p:sp>
          <p:nvSpPr>
            <p:cNvPr name="Freeform 7" id="7"/>
            <p:cNvSpPr/>
            <p:nvPr/>
          </p:nvSpPr>
          <p:spPr>
            <a:xfrm flipH="false" flipV="false" rot="0">
              <a:off x="0" y="0"/>
              <a:ext cx="862342" cy="730250"/>
            </a:xfrm>
            <a:custGeom>
              <a:avLst/>
              <a:gdLst/>
              <a:ahLst/>
              <a:cxnLst/>
              <a:rect r="r" b="b" t="t" l="l"/>
              <a:pathLst>
                <a:path h="730250" w="862342">
                  <a:moveTo>
                    <a:pt x="0" y="0"/>
                  </a:moveTo>
                  <a:lnTo>
                    <a:pt x="862342" y="0"/>
                  </a:lnTo>
                  <a:lnTo>
                    <a:pt x="862342" y="730250"/>
                  </a:lnTo>
                  <a:lnTo>
                    <a:pt x="0" y="730250"/>
                  </a:lnTo>
                  <a:close/>
                </a:path>
              </a:pathLst>
            </a:custGeom>
            <a:blipFill>
              <a:blip r:embed="rId5">
                <a:alphaModFix amt="0"/>
              </a:blip>
              <a:stretch>
                <a:fillRect l="0" t="-96391" r="-536220" b="-96391"/>
              </a:stretch>
            </a:blipFill>
          </p:spPr>
        </p:sp>
        <p:sp>
          <p:nvSpPr>
            <p:cNvPr name="TextBox 8" id="8"/>
            <p:cNvSpPr txBox="true"/>
            <p:nvPr/>
          </p:nvSpPr>
          <p:spPr>
            <a:xfrm>
              <a:off x="0" y="0"/>
              <a:ext cx="862342"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11</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Freeform 11" id="11"/>
          <p:cNvSpPr/>
          <p:nvPr/>
        </p:nvSpPr>
        <p:spPr>
          <a:xfrm flipH="false" flipV="false" rot="0">
            <a:off x="3966714" y="2445058"/>
            <a:ext cx="13063986" cy="7390969"/>
          </a:xfrm>
          <a:custGeom>
            <a:avLst/>
            <a:gdLst/>
            <a:ahLst/>
            <a:cxnLst/>
            <a:rect r="r" b="b" t="t" l="l"/>
            <a:pathLst>
              <a:path h="7390969" w="13063986">
                <a:moveTo>
                  <a:pt x="0" y="0"/>
                </a:moveTo>
                <a:lnTo>
                  <a:pt x="13063986" y="0"/>
                </a:lnTo>
                <a:lnTo>
                  <a:pt x="13063986" y="7390969"/>
                </a:lnTo>
                <a:lnTo>
                  <a:pt x="0" y="7390969"/>
                </a:lnTo>
                <a:lnTo>
                  <a:pt x="0" y="0"/>
                </a:lnTo>
                <a:close/>
              </a:path>
            </a:pathLst>
          </a:custGeom>
          <a:blipFill>
            <a:blip r:embed="rId7"/>
            <a:stretch>
              <a:fillRect l="0" t="0" r="0" b="0"/>
            </a:stretch>
          </a:blipFill>
        </p:spPr>
      </p:sp>
      <p:sp>
        <p:nvSpPr>
          <p:cNvPr name="TextBox 12" id="12"/>
          <p:cNvSpPr txBox="true"/>
          <p:nvPr/>
        </p:nvSpPr>
        <p:spPr>
          <a:xfrm rot="0">
            <a:off x="293484" y="573510"/>
            <a:ext cx="11684496"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III. PHÂN TÍCH VÀ THIẾT KẾ HỆ THỐNG </a:t>
            </a:r>
          </a:p>
        </p:txBody>
      </p:sp>
      <p:sp>
        <p:nvSpPr>
          <p:cNvPr name="TextBox 13" id="13"/>
          <p:cNvSpPr txBox="true"/>
          <p:nvPr/>
        </p:nvSpPr>
        <p:spPr>
          <a:xfrm rot="0">
            <a:off x="293484" y="1873558"/>
            <a:ext cx="11210173" cy="571500"/>
          </a:xfrm>
          <a:prstGeom prst="rect">
            <a:avLst/>
          </a:prstGeom>
        </p:spPr>
        <p:txBody>
          <a:bodyPr anchor="t" rtlCol="false" tIns="0" lIns="0" bIns="0" rIns="0">
            <a:spAutoFit/>
          </a:bodyPr>
          <a:lstStyle/>
          <a:p>
            <a:pPr algn="l">
              <a:lnSpc>
                <a:spcPts val="4319"/>
              </a:lnSpc>
            </a:pPr>
            <a:r>
              <a:rPr lang="en-US" sz="3599" b="true">
                <a:solidFill>
                  <a:srgbClr val="FF751F"/>
                </a:solidFill>
                <a:latin typeface="Arial Bold"/>
                <a:ea typeface="Arial Bold"/>
                <a:cs typeface="Arial Bold"/>
                <a:sym typeface="Arial Bold"/>
              </a:rPr>
              <a:t>3.3. Kỹ thuật tiền xử lý</a:t>
            </a:r>
          </a:p>
        </p:txBody>
      </p:sp>
      <p:sp>
        <p:nvSpPr>
          <p:cNvPr name="TextBox 14" id="14"/>
          <p:cNvSpPr txBox="true"/>
          <p:nvPr/>
        </p:nvSpPr>
        <p:spPr>
          <a:xfrm rot="0">
            <a:off x="-41612" y="2578408"/>
            <a:ext cx="3540946" cy="689610"/>
          </a:xfrm>
          <a:prstGeom prst="rect">
            <a:avLst/>
          </a:prstGeom>
        </p:spPr>
        <p:txBody>
          <a:bodyPr anchor="t" rtlCol="false" tIns="0" lIns="0" bIns="0" rIns="0">
            <a:spAutoFit/>
          </a:bodyPr>
          <a:lstStyle/>
          <a:p>
            <a:pPr algn="l" marL="690879" indent="-345439" lvl="1">
              <a:lnSpc>
                <a:spcPts val="5759"/>
              </a:lnSpc>
              <a:buFont typeface="Arial"/>
              <a:buChar char="•"/>
            </a:pPr>
            <a:r>
              <a:rPr lang="en-US" b="true" sz="3199">
                <a:solidFill>
                  <a:srgbClr val="000000"/>
                </a:solidFill>
                <a:latin typeface="Arial Bold"/>
                <a:ea typeface="Arial Bold"/>
                <a:cs typeface="Arial Bold"/>
                <a:sym typeface="Arial Bold"/>
              </a:rPr>
              <a:t>Biến đổi log1p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11</a:t>
              </a:r>
            </a:p>
          </p:txBody>
        </p:sp>
      </p:grpSp>
      <p:sp>
        <p:nvSpPr>
          <p:cNvPr name="TextBox 9" id="9"/>
          <p:cNvSpPr txBox="true"/>
          <p:nvPr/>
        </p:nvSpPr>
        <p:spPr>
          <a:xfrm rot="0">
            <a:off x="293484" y="573510"/>
            <a:ext cx="11684496"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III. PHÂN TÍCH VÀ THIẾT KẾ HỆ THỐNG </a:t>
            </a:r>
          </a:p>
        </p:txBody>
      </p:sp>
      <p:sp>
        <p:nvSpPr>
          <p:cNvPr name="TextBox 10" id="10"/>
          <p:cNvSpPr txBox="true"/>
          <p:nvPr/>
        </p:nvSpPr>
        <p:spPr>
          <a:xfrm rot="0">
            <a:off x="293484" y="1873558"/>
            <a:ext cx="17731636" cy="571500"/>
          </a:xfrm>
          <a:prstGeom prst="rect">
            <a:avLst/>
          </a:prstGeom>
        </p:spPr>
        <p:txBody>
          <a:bodyPr anchor="t" rtlCol="false" tIns="0" lIns="0" bIns="0" rIns="0">
            <a:spAutoFit/>
          </a:bodyPr>
          <a:lstStyle/>
          <a:p>
            <a:pPr algn="l">
              <a:lnSpc>
                <a:spcPts val="4319"/>
              </a:lnSpc>
            </a:pPr>
            <a:r>
              <a:rPr lang="en-US" sz="3599" b="true">
                <a:solidFill>
                  <a:srgbClr val="FF751F"/>
                </a:solidFill>
                <a:latin typeface="Arial Bold"/>
                <a:ea typeface="Arial Bold"/>
                <a:cs typeface="Arial Bold"/>
                <a:sym typeface="Arial Bold"/>
              </a:rPr>
              <a:t>3.4. Feature Engineering: </a:t>
            </a:r>
            <a:r>
              <a:rPr lang="en-US" sz="3599">
                <a:solidFill>
                  <a:srgbClr val="000000"/>
                </a:solidFill>
                <a:latin typeface="Arial"/>
                <a:ea typeface="Arial"/>
                <a:cs typeface="Arial"/>
                <a:sym typeface="Arial"/>
              </a:rPr>
              <a:t>Mỗi dòng dữ liệu bổ sung 18 đặc trưng (cúm), chia 5 nhóm:</a:t>
            </a:r>
          </a:p>
        </p:txBody>
      </p:sp>
      <p:grpSp>
        <p:nvGrpSpPr>
          <p:cNvPr name="Group 11" id="11"/>
          <p:cNvGrpSpPr/>
          <p:nvPr/>
        </p:nvGrpSpPr>
        <p:grpSpPr>
          <a:xfrm rot="0">
            <a:off x="0" y="1423997"/>
            <a:ext cx="4682928" cy="137160"/>
            <a:chOff x="0" y="0"/>
            <a:chExt cx="6243904" cy="182880"/>
          </a:xfrm>
        </p:grpSpPr>
        <p:sp>
          <p:nvSpPr>
            <p:cNvPr name="Freeform 12" id="12"/>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graphicFrame>
        <p:nvGraphicFramePr>
          <p:cNvPr name="Table 13" id="13"/>
          <p:cNvGraphicFramePr>
            <a:graphicFrameLocks noGrp="true"/>
          </p:cNvGraphicFramePr>
          <p:nvPr/>
        </p:nvGraphicFramePr>
        <p:xfrm>
          <a:off x="2015561" y="2968933"/>
          <a:ext cx="14953060" cy="6074450"/>
        </p:xfrm>
        <a:graphic>
          <a:graphicData uri="http://schemas.openxmlformats.org/drawingml/2006/table">
            <a:tbl>
              <a:tblPr/>
              <a:tblGrid>
                <a:gridCol w="2542112"/>
                <a:gridCol w="7567746"/>
                <a:gridCol w="4843202"/>
              </a:tblGrid>
              <a:tr h="1377742">
                <a:tc>
                  <a:txBody>
                    <a:bodyPr anchor="t" rtlCol="false"/>
                    <a:lstStyle/>
                    <a:p>
                      <a:pPr algn="ctr">
                        <a:lnSpc>
                          <a:spcPts val="3499"/>
                        </a:lnSpc>
                        <a:defRPr/>
                      </a:pPr>
                      <a:r>
                        <a:rPr lang="en-US" sz="2499" b="true">
                          <a:solidFill>
                            <a:srgbClr val="000000"/>
                          </a:solidFill>
                          <a:latin typeface="Arial Bold"/>
                          <a:ea typeface="Arial Bold"/>
                          <a:cs typeface="Arial Bold"/>
                          <a:sym typeface="Arial Bold"/>
                        </a:rPr>
                        <a:t>Nhóm</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solidFill>
                      <a:srgbClr val="FFEBCD"/>
                    </a:solidFill>
                  </a:tcPr>
                </a:tc>
                <a:tc>
                  <a:txBody>
                    <a:bodyPr anchor="t" rtlCol="false"/>
                    <a:lstStyle/>
                    <a:p>
                      <a:pPr algn="ctr">
                        <a:lnSpc>
                          <a:spcPts val="3499"/>
                        </a:lnSpc>
                        <a:defRPr/>
                      </a:pPr>
                      <a:r>
                        <a:rPr lang="en-US" sz="2499" b="true">
                          <a:solidFill>
                            <a:srgbClr val="000000"/>
                          </a:solidFill>
                          <a:latin typeface="Arial Bold"/>
                          <a:ea typeface="Arial Bold"/>
                          <a:cs typeface="Arial Bold"/>
                          <a:sym typeface="Arial Bold"/>
                        </a:rPr>
                        <a:t>Đặc trưng minh họa</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solidFill>
                      <a:srgbClr val="FFEBCD"/>
                    </a:solidFill>
                  </a:tcPr>
                </a:tc>
                <a:tc>
                  <a:txBody>
                    <a:bodyPr anchor="t" rtlCol="false"/>
                    <a:lstStyle/>
                    <a:p>
                      <a:pPr algn="ctr">
                        <a:lnSpc>
                          <a:spcPts val="3499"/>
                        </a:lnSpc>
                        <a:defRPr/>
                      </a:pPr>
                      <a:r>
                        <a:rPr lang="en-US" sz="2499" b="true">
                          <a:solidFill>
                            <a:srgbClr val="000000"/>
                          </a:solidFill>
                          <a:latin typeface="Arial Bold"/>
                          <a:ea typeface="Arial Bold"/>
                          <a:cs typeface="Arial Bold"/>
                          <a:sym typeface="Arial Bold"/>
                        </a:rPr>
                        <a:t>Ý nghĩa cốt lõi</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solidFill>
                      <a:srgbClr val="FFEBCD"/>
                    </a:solidFill>
                  </a:tcPr>
                </a:tc>
              </a:tr>
              <a:tr h="939342">
                <a:tc>
                  <a:txBody>
                    <a:bodyPr anchor="t" rtlCol="false"/>
                    <a:lstStyle/>
                    <a:p>
                      <a:pPr algn="ctr">
                        <a:lnSpc>
                          <a:spcPts val="3499"/>
                        </a:lnSpc>
                        <a:defRPr/>
                      </a:pPr>
                      <a:r>
                        <a:rPr lang="en-US" sz="2499" b="true">
                          <a:solidFill>
                            <a:srgbClr val="000000"/>
                          </a:solidFill>
                          <a:latin typeface="Arial Bold"/>
                          <a:ea typeface="Arial Bold"/>
                          <a:cs typeface="Arial Bold"/>
                          <a:sym typeface="Arial Bold"/>
                        </a:rPr>
                        <a:t>Tự</a:t>
                      </a:r>
                      <a:r>
                        <a:rPr lang="en-US" b="true" sz="2499">
                          <a:solidFill>
                            <a:srgbClr val="000000"/>
                          </a:solidFill>
                          <a:latin typeface="Arial Bold"/>
                          <a:ea typeface="Arial Bold"/>
                          <a:cs typeface="Arial Bold"/>
                          <a:sym typeface="Arial Bold"/>
                        </a:rPr>
                        <a:t> hồi quy</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Arial"/>
                          <a:ea typeface="Arial"/>
                          <a:cs typeface="Arial"/>
                          <a:sym typeface="Arial"/>
                        </a:rPr>
                        <a:t>lag1, lag2, lag3</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Arial"/>
                          <a:ea typeface="Arial"/>
                          <a:cs typeface="Arial"/>
                          <a:sym typeface="Arial"/>
                        </a:rPr>
                        <a:t>Duy trì quán tính của dịch bệnh</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r>
              <a:tr h="939342">
                <a:tc>
                  <a:txBody>
                    <a:bodyPr anchor="t" rtlCol="false"/>
                    <a:lstStyle/>
                    <a:p>
                      <a:pPr algn="ctr">
                        <a:lnSpc>
                          <a:spcPts val="3499"/>
                        </a:lnSpc>
                        <a:defRPr/>
                      </a:pPr>
                      <a:r>
                        <a:rPr lang="en-US" sz="2499" b="true">
                          <a:solidFill>
                            <a:srgbClr val="000000"/>
                          </a:solidFill>
                          <a:latin typeface="Arial Bold"/>
                          <a:ea typeface="Arial Bold"/>
                          <a:cs typeface="Arial Bold"/>
                          <a:sym typeface="Arial Bold"/>
                        </a:rPr>
                        <a:t>Trượt</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Arial"/>
                          <a:ea typeface="Arial"/>
                          <a:cs typeface="Arial"/>
                          <a:sym typeface="Arial"/>
                        </a:rPr>
                        <a:t>rollmean4, rollmean8</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Arial"/>
                          <a:ea typeface="Arial"/>
                          <a:cs typeface="Arial"/>
                          <a:sym typeface="Arial"/>
                        </a:rPr>
                        <a:t>Làm</a:t>
                      </a:r>
                      <a:r>
                        <a:rPr lang="en-US" sz="2499">
                          <a:solidFill>
                            <a:srgbClr val="000000"/>
                          </a:solidFill>
                          <a:latin typeface="Arial"/>
                          <a:ea typeface="Arial"/>
                          <a:cs typeface="Arial"/>
                          <a:sym typeface="Arial"/>
                        </a:rPr>
                        <a:t> mượt nhiễu cục bộ</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r>
              <a:tr h="939342">
                <a:tc>
                  <a:txBody>
                    <a:bodyPr anchor="t" rtlCol="false"/>
                    <a:lstStyle/>
                    <a:p>
                      <a:pPr algn="ctr">
                        <a:lnSpc>
                          <a:spcPts val="3499"/>
                        </a:lnSpc>
                        <a:defRPr/>
                      </a:pPr>
                      <a:r>
                        <a:rPr lang="en-US" sz="2499" b="true">
                          <a:solidFill>
                            <a:srgbClr val="000000"/>
                          </a:solidFill>
                          <a:latin typeface="Arial Bold"/>
                          <a:ea typeface="Arial Bold"/>
                          <a:cs typeface="Arial Bold"/>
                          <a:sym typeface="Arial Bold"/>
                        </a:rPr>
                        <a:t>Xu thế</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Arial"/>
                          <a:ea typeface="Arial"/>
                          <a:cs typeface="Arial"/>
                          <a:sym typeface="Arial"/>
                        </a:rPr>
                        <a:t>veloc</a:t>
                      </a:r>
                      <a:r>
                        <a:rPr lang="en-US" sz="2499">
                          <a:solidFill>
                            <a:srgbClr val="000000"/>
                          </a:solidFill>
                          <a:latin typeface="Arial"/>
                          <a:ea typeface="Arial"/>
                          <a:cs typeface="Arial"/>
                          <a:sym typeface="Arial"/>
                        </a:rPr>
                        <a:t>ity, accel</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Arial"/>
                          <a:ea typeface="Arial"/>
                          <a:cs typeface="Arial"/>
                          <a:sym typeface="Arial"/>
                        </a:rPr>
                        <a:t>Tố</a:t>
                      </a:r>
                      <a:r>
                        <a:rPr lang="en-US" sz="2499">
                          <a:solidFill>
                            <a:srgbClr val="000000"/>
                          </a:solidFill>
                          <a:latin typeface="Arial"/>
                          <a:ea typeface="Arial"/>
                          <a:cs typeface="Arial"/>
                          <a:sym typeface="Arial"/>
                        </a:rPr>
                        <a:t>c độ + gia tốc thay đổi ca</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r>
              <a:tr h="939342">
                <a:tc>
                  <a:txBody>
                    <a:bodyPr anchor="t" rtlCol="false"/>
                    <a:lstStyle/>
                    <a:p>
                      <a:pPr algn="ctr">
                        <a:lnSpc>
                          <a:spcPts val="3499"/>
                        </a:lnSpc>
                        <a:defRPr/>
                      </a:pPr>
                      <a:r>
                        <a:rPr lang="en-US" sz="2499" b="true">
                          <a:solidFill>
                            <a:srgbClr val="000000"/>
                          </a:solidFill>
                          <a:latin typeface="Arial Bold"/>
                          <a:ea typeface="Arial Bold"/>
                          <a:cs typeface="Arial Bold"/>
                          <a:sym typeface="Arial Bold"/>
                        </a:rPr>
                        <a:t>Độ trễ khí hậu</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Arial"/>
                          <a:ea typeface="Arial"/>
                          <a:cs typeface="Arial"/>
                          <a:sym typeface="Arial"/>
                        </a:rPr>
                        <a:t>temp_c_lag3/7, solar_wm2_lag7, dewpoint_c_lag1</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Arial"/>
                          <a:ea typeface="Arial"/>
                          <a:cs typeface="Arial"/>
                          <a:sym typeface="Arial"/>
                        </a:rPr>
                        <a:t>Kích hoạt điểm bùng phát</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r>
              <a:tr h="939342">
                <a:tc>
                  <a:txBody>
                    <a:bodyPr anchor="t" rtlCol="false"/>
                    <a:lstStyle/>
                    <a:p>
                      <a:pPr algn="ctr">
                        <a:lnSpc>
                          <a:spcPts val="3499"/>
                        </a:lnSpc>
                        <a:defRPr/>
                      </a:pPr>
                      <a:r>
                        <a:rPr lang="en-US" sz="2499" b="true">
                          <a:solidFill>
                            <a:srgbClr val="000000"/>
                          </a:solidFill>
                          <a:latin typeface="Arial Bold"/>
                          <a:ea typeface="Arial Bold"/>
                          <a:cs typeface="Arial Bold"/>
                          <a:sym typeface="Arial Bold"/>
                        </a:rPr>
                        <a:t>Thời gian</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Arial"/>
                          <a:ea typeface="Arial"/>
                          <a:cs typeface="Arial"/>
                          <a:sym typeface="Arial"/>
                        </a:rPr>
                        <a:t>iso_week_sin/cos, HEMISPHERE</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499"/>
                        </a:lnSpc>
                        <a:defRPr/>
                      </a:pPr>
                      <a:r>
                        <a:rPr lang="en-US" sz="2499">
                          <a:solidFill>
                            <a:srgbClr val="000000"/>
                          </a:solidFill>
                          <a:latin typeface="Arial"/>
                          <a:ea typeface="Arial"/>
                          <a:cs typeface="Arial"/>
                          <a:sym typeface="Arial"/>
                        </a:rPr>
                        <a:t>Mã hóa tính mùa vụ</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207169"/>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12</a:t>
              </a:r>
            </a:p>
          </p:txBody>
        </p:sp>
      </p:grpSp>
      <p:sp>
        <p:nvSpPr>
          <p:cNvPr name="TextBox 9" id="9"/>
          <p:cNvSpPr txBox="true"/>
          <p:nvPr/>
        </p:nvSpPr>
        <p:spPr>
          <a:xfrm rot="0">
            <a:off x="293484" y="573510"/>
            <a:ext cx="11515130"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III. PHÂN TÍCH VÀ THIẾT KẾ HỆ THỐNG</a:t>
            </a:r>
          </a:p>
        </p:txBody>
      </p:sp>
      <p:sp>
        <p:nvSpPr>
          <p:cNvPr name="TextBox 10" id="10"/>
          <p:cNvSpPr txBox="true"/>
          <p:nvPr/>
        </p:nvSpPr>
        <p:spPr>
          <a:xfrm rot="0">
            <a:off x="293484" y="1924101"/>
            <a:ext cx="13171548" cy="565769"/>
          </a:xfrm>
          <a:prstGeom prst="rect">
            <a:avLst/>
          </a:prstGeom>
        </p:spPr>
        <p:txBody>
          <a:bodyPr anchor="t" rtlCol="false" tIns="0" lIns="0" bIns="0" rIns="0">
            <a:spAutoFit/>
          </a:bodyPr>
          <a:lstStyle/>
          <a:p>
            <a:pPr algn="l">
              <a:lnSpc>
                <a:spcPts val="4229"/>
              </a:lnSpc>
            </a:pPr>
            <a:r>
              <a:rPr lang="en-US" sz="3524" b="true">
                <a:solidFill>
                  <a:srgbClr val="FF751F"/>
                </a:solidFill>
                <a:latin typeface="Arial Bold"/>
                <a:ea typeface="Arial Bold"/>
                <a:cs typeface="Arial Bold"/>
                <a:sym typeface="Arial Bold"/>
              </a:rPr>
              <a:t>3.4. Thiết kế hệ thống mô hình dự báo đa bước (Multi-step)</a:t>
            </a:r>
          </a:p>
        </p:txBody>
      </p:sp>
      <p:grpSp>
        <p:nvGrpSpPr>
          <p:cNvPr name="Group 11" id="11"/>
          <p:cNvGrpSpPr/>
          <p:nvPr/>
        </p:nvGrpSpPr>
        <p:grpSpPr>
          <a:xfrm rot="0">
            <a:off x="0" y="1423997"/>
            <a:ext cx="4682928" cy="137160"/>
            <a:chOff x="0" y="0"/>
            <a:chExt cx="6243904" cy="182880"/>
          </a:xfrm>
        </p:grpSpPr>
        <p:sp>
          <p:nvSpPr>
            <p:cNvPr name="Freeform 12" id="12"/>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grpSp>
        <p:nvGrpSpPr>
          <p:cNvPr name="Group 13" id="13"/>
          <p:cNvGrpSpPr/>
          <p:nvPr/>
        </p:nvGrpSpPr>
        <p:grpSpPr>
          <a:xfrm rot="0">
            <a:off x="2341464" y="2991287"/>
            <a:ext cx="13307731" cy="6267013"/>
            <a:chOff x="0" y="0"/>
            <a:chExt cx="17743641" cy="8356017"/>
          </a:xfrm>
        </p:grpSpPr>
        <p:grpSp>
          <p:nvGrpSpPr>
            <p:cNvPr name="Group 14" id="14"/>
            <p:cNvGrpSpPr/>
            <p:nvPr/>
          </p:nvGrpSpPr>
          <p:grpSpPr>
            <a:xfrm rot="0">
              <a:off x="9903428" y="6911767"/>
              <a:ext cx="7840214" cy="1444250"/>
              <a:chOff x="0" y="0"/>
              <a:chExt cx="4826000" cy="889000"/>
            </a:xfrm>
          </p:grpSpPr>
          <p:sp>
            <p:nvSpPr>
              <p:cNvPr name="Freeform 15" id="15"/>
              <p:cNvSpPr/>
              <p:nvPr/>
            </p:nvSpPr>
            <p:spPr>
              <a:xfrm flipH="false" flipV="false" rot="0">
                <a:off x="0" y="0"/>
                <a:ext cx="4826000" cy="889000"/>
              </a:xfrm>
              <a:custGeom>
                <a:avLst/>
                <a:gdLst/>
                <a:ahLst/>
                <a:cxnLst/>
                <a:rect r="r" b="b" t="t" l="l"/>
                <a:pathLst>
                  <a:path h="889000" w="4826000">
                    <a:moveTo>
                      <a:pt x="88900" y="0"/>
                    </a:moveTo>
                    <a:lnTo>
                      <a:pt x="4737100" y="0"/>
                    </a:lnTo>
                    <a:cubicBezTo>
                      <a:pt x="4786198" y="0"/>
                      <a:pt x="4826000" y="39802"/>
                      <a:pt x="4826000" y="88900"/>
                    </a:cubicBezTo>
                    <a:lnTo>
                      <a:pt x="4826000" y="800100"/>
                    </a:lnTo>
                    <a:cubicBezTo>
                      <a:pt x="4826000" y="849198"/>
                      <a:pt x="4786198" y="889000"/>
                      <a:pt x="4737100" y="889000"/>
                    </a:cubicBezTo>
                    <a:lnTo>
                      <a:pt x="88900" y="889000"/>
                    </a:lnTo>
                    <a:cubicBezTo>
                      <a:pt x="39802" y="889000"/>
                      <a:pt x="0" y="849198"/>
                      <a:pt x="0" y="800100"/>
                    </a:cubicBezTo>
                    <a:lnTo>
                      <a:pt x="0" y="88900"/>
                    </a:lnTo>
                    <a:cubicBezTo>
                      <a:pt x="0" y="39802"/>
                      <a:pt x="39802" y="0"/>
                      <a:pt x="88900" y="0"/>
                    </a:cubicBezTo>
                    <a:close/>
                  </a:path>
                </a:pathLst>
              </a:custGeom>
              <a:solidFill>
                <a:srgbClr val="FF751F"/>
              </a:solidFill>
            </p:spPr>
          </p:sp>
          <p:sp>
            <p:nvSpPr>
              <p:cNvPr name="TextBox 16" id="16"/>
              <p:cNvSpPr txBox="true"/>
              <p:nvPr/>
            </p:nvSpPr>
            <p:spPr>
              <a:xfrm>
                <a:off x="0" y="-57150"/>
                <a:ext cx="4826000" cy="946150"/>
              </a:xfrm>
              <a:prstGeom prst="rect">
                <a:avLst/>
              </a:prstGeom>
            </p:spPr>
            <p:txBody>
              <a:bodyPr anchor="ctr" rtlCol="false" tIns="50800" lIns="50800" bIns="50800" rIns="50800"/>
              <a:lstStyle/>
              <a:p>
                <a:pPr algn="ctr" marL="0" indent="0" lvl="0">
                  <a:lnSpc>
                    <a:spcPts val="3079"/>
                  </a:lnSpc>
                  <a:spcBef>
                    <a:spcPct val="0"/>
                  </a:spcBef>
                </a:pPr>
                <a:r>
                  <a:rPr lang="en-US" sz="2199" strike="noStrike" u="none">
                    <a:solidFill>
                      <a:srgbClr val="FFFFFF"/>
                    </a:solidFill>
                    <a:latin typeface="Arial"/>
                    <a:ea typeface="Arial"/>
                    <a:cs typeface="Arial"/>
                    <a:sym typeface="Arial"/>
                  </a:rPr>
                  <a:t>Dự báo tuần t+4</a:t>
                </a:r>
              </a:p>
            </p:txBody>
          </p:sp>
        </p:grpSp>
        <p:sp>
          <p:nvSpPr>
            <p:cNvPr name="AutoShape 17" id="17"/>
            <p:cNvSpPr/>
            <p:nvPr/>
          </p:nvSpPr>
          <p:spPr>
            <a:xfrm>
              <a:off x="8871821" y="7633892"/>
              <a:ext cx="825286" cy="0"/>
            </a:xfrm>
            <a:prstGeom prst="line">
              <a:avLst/>
            </a:prstGeom>
            <a:ln cap="flat" w="61896">
              <a:solidFill>
                <a:srgbClr val="333333"/>
              </a:solidFill>
              <a:prstDash val="solid"/>
              <a:headEnd type="none" len="sm" w="sm"/>
              <a:tailEnd type="triangle" len="med" w="lg"/>
            </a:ln>
          </p:spPr>
        </p:sp>
        <p:grpSp>
          <p:nvGrpSpPr>
            <p:cNvPr name="Group 18" id="18"/>
            <p:cNvGrpSpPr/>
            <p:nvPr/>
          </p:nvGrpSpPr>
          <p:grpSpPr>
            <a:xfrm rot="0">
              <a:off x="0" y="6911767"/>
              <a:ext cx="8665499" cy="1444250"/>
              <a:chOff x="0" y="0"/>
              <a:chExt cx="5334000" cy="889000"/>
            </a:xfrm>
          </p:grpSpPr>
          <p:sp>
            <p:nvSpPr>
              <p:cNvPr name="Freeform 19" id="19"/>
              <p:cNvSpPr/>
              <p:nvPr/>
            </p:nvSpPr>
            <p:spPr>
              <a:xfrm flipH="false" flipV="false" rot="0">
                <a:off x="0" y="0"/>
                <a:ext cx="5334000" cy="889000"/>
              </a:xfrm>
              <a:custGeom>
                <a:avLst/>
                <a:gdLst/>
                <a:ahLst/>
                <a:cxnLst/>
                <a:rect r="r" b="b" t="t" l="l"/>
                <a:pathLst>
                  <a:path h="889000" w="5334000">
                    <a:moveTo>
                      <a:pt x="88900" y="0"/>
                    </a:moveTo>
                    <a:lnTo>
                      <a:pt x="5245100" y="0"/>
                    </a:lnTo>
                    <a:cubicBezTo>
                      <a:pt x="5294198" y="0"/>
                      <a:pt x="5334000" y="39802"/>
                      <a:pt x="5334000" y="88900"/>
                    </a:cubicBezTo>
                    <a:lnTo>
                      <a:pt x="5334000" y="800100"/>
                    </a:lnTo>
                    <a:cubicBezTo>
                      <a:pt x="5334000" y="849198"/>
                      <a:pt x="5294198" y="889000"/>
                      <a:pt x="5245100" y="889000"/>
                    </a:cubicBezTo>
                    <a:lnTo>
                      <a:pt x="88900" y="889000"/>
                    </a:lnTo>
                    <a:cubicBezTo>
                      <a:pt x="39802" y="889000"/>
                      <a:pt x="0" y="849198"/>
                      <a:pt x="0" y="800100"/>
                    </a:cubicBezTo>
                    <a:lnTo>
                      <a:pt x="0" y="88900"/>
                    </a:lnTo>
                    <a:cubicBezTo>
                      <a:pt x="0" y="39802"/>
                      <a:pt x="39802" y="0"/>
                      <a:pt x="88900" y="0"/>
                    </a:cubicBezTo>
                    <a:close/>
                  </a:path>
                </a:pathLst>
              </a:custGeom>
              <a:solidFill>
                <a:srgbClr val="1B3A5C"/>
              </a:solidFill>
            </p:spPr>
          </p:sp>
          <p:sp>
            <p:nvSpPr>
              <p:cNvPr name="TextBox 20" id="20"/>
              <p:cNvSpPr txBox="true"/>
              <p:nvPr/>
            </p:nvSpPr>
            <p:spPr>
              <a:xfrm>
                <a:off x="0" y="-57150"/>
                <a:ext cx="5334000" cy="946150"/>
              </a:xfrm>
              <a:prstGeom prst="rect">
                <a:avLst/>
              </a:prstGeom>
            </p:spPr>
            <p:txBody>
              <a:bodyPr anchor="ctr" rtlCol="false" tIns="50800" lIns="50800" bIns="50800" rIns="50800"/>
              <a:lstStyle/>
              <a:p>
                <a:pPr algn="ctr" marL="0" indent="0" lvl="0">
                  <a:lnSpc>
                    <a:spcPts val="3079"/>
                  </a:lnSpc>
                  <a:spcBef>
                    <a:spcPct val="0"/>
                  </a:spcBef>
                </a:pPr>
                <a:r>
                  <a:rPr lang="en-US" sz="2199" strike="noStrike" u="none">
                    <a:solidFill>
                      <a:srgbClr val="FFFFFF"/>
                    </a:solidFill>
                    <a:latin typeface="Arial"/>
                    <a:ea typeface="Arial"/>
                    <a:cs typeface="Arial"/>
                    <a:sym typeface="Arial"/>
                  </a:rPr>
                  <a:t>Mô hình 4 (h=4)</a:t>
                </a:r>
              </a:p>
            </p:txBody>
          </p:sp>
        </p:grpSp>
        <p:grpSp>
          <p:nvGrpSpPr>
            <p:cNvPr name="Group 21" id="21"/>
            <p:cNvGrpSpPr/>
            <p:nvPr/>
          </p:nvGrpSpPr>
          <p:grpSpPr>
            <a:xfrm rot="0">
              <a:off x="9903428" y="4951714"/>
              <a:ext cx="7840214" cy="1444250"/>
              <a:chOff x="0" y="0"/>
              <a:chExt cx="4826000" cy="889000"/>
            </a:xfrm>
          </p:grpSpPr>
          <p:sp>
            <p:nvSpPr>
              <p:cNvPr name="Freeform 22" id="22"/>
              <p:cNvSpPr/>
              <p:nvPr/>
            </p:nvSpPr>
            <p:spPr>
              <a:xfrm flipH="false" flipV="false" rot="0">
                <a:off x="0" y="0"/>
                <a:ext cx="4826000" cy="889000"/>
              </a:xfrm>
              <a:custGeom>
                <a:avLst/>
                <a:gdLst/>
                <a:ahLst/>
                <a:cxnLst/>
                <a:rect r="r" b="b" t="t" l="l"/>
                <a:pathLst>
                  <a:path h="889000" w="4826000">
                    <a:moveTo>
                      <a:pt x="88900" y="0"/>
                    </a:moveTo>
                    <a:lnTo>
                      <a:pt x="4737100" y="0"/>
                    </a:lnTo>
                    <a:cubicBezTo>
                      <a:pt x="4786198" y="0"/>
                      <a:pt x="4826000" y="39802"/>
                      <a:pt x="4826000" y="88900"/>
                    </a:cubicBezTo>
                    <a:lnTo>
                      <a:pt x="4826000" y="800100"/>
                    </a:lnTo>
                    <a:cubicBezTo>
                      <a:pt x="4826000" y="849198"/>
                      <a:pt x="4786198" y="889000"/>
                      <a:pt x="4737100" y="889000"/>
                    </a:cubicBezTo>
                    <a:lnTo>
                      <a:pt x="88900" y="889000"/>
                    </a:lnTo>
                    <a:cubicBezTo>
                      <a:pt x="39802" y="889000"/>
                      <a:pt x="0" y="849198"/>
                      <a:pt x="0" y="800100"/>
                    </a:cubicBezTo>
                    <a:lnTo>
                      <a:pt x="0" y="88900"/>
                    </a:lnTo>
                    <a:cubicBezTo>
                      <a:pt x="0" y="39802"/>
                      <a:pt x="39802" y="0"/>
                      <a:pt x="88900" y="0"/>
                    </a:cubicBezTo>
                    <a:close/>
                  </a:path>
                </a:pathLst>
              </a:custGeom>
              <a:solidFill>
                <a:srgbClr val="FF751F"/>
              </a:solidFill>
            </p:spPr>
          </p:sp>
          <p:sp>
            <p:nvSpPr>
              <p:cNvPr name="TextBox 23" id="23"/>
              <p:cNvSpPr txBox="true"/>
              <p:nvPr/>
            </p:nvSpPr>
            <p:spPr>
              <a:xfrm>
                <a:off x="0" y="-57150"/>
                <a:ext cx="4826000" cy="946150"/>
              </a:xfrm>
              <a:prstGeom prst="rect">
                <a:avLst/>
              </a:prstGeom>
            </p:spPr>
            <p:txBody>
              <a:bodyPr anchor="ctr" rtlCol="false" tIns="50800" lIns="50800" bIns="50800" rIns="50800"/>
              <a:lstStyle/>
              <a:p>
                <a:pPr algn="ctr" marL="0" indent="0" lvl="0">
                  <a:lnSpc>
                    <a:spcPts val="3079"/>
                  </a:lnSpc>
                  <a:spcBef>
                    <a:spcPct val="0"/>
                  </a:spcBef>
                </a:pPr>
                <a:r>
                  <a:rPr lang="en-US" sz="2199" strike="noStrike" u="none">
                    <a:solidFill>
                      <a:srgbClr val="FFFFFF"/>
                    </a:solidFill>
                    <a:latin typeface="Arial"/>
                    <a:ea typeface="Arial"/>
                    <a:cs typeface="Arial"/>
                    <a:sym typeface="Arial"/>
                  </a:rPr>
                  <a:t>Dự báo tuần t+3</a:t>
                </a:r>
              </a:p>
            </p:txBody>
          </p:sp>
        </p:grpSp>
        <p:sp>
          <p:nvSpPr>
            <p:cNvPr name="AutoShape 24" id="24"/>
            <p:cNvSpPr/>
            <p:nvPr/>
          </p:nvSpPr>
          <p:spPr>
            <a:xfrm>
              <a:off x="8871821" y="5673839"/>
              <a:ext cx="825286" cy="0"/>
            </a:xfrm>
            <a:prstGeom prst="line">
              <a:avLst/>
            </a:prstGeom>
            <a:ln cap="flat" w="61896">
              <a:solidFill>
                <a:srgbClr val="333333"/>
              </a:solidFill>
              <a:prstDash val="solid"/>
              <a:headEnd type="none" len="sm" w="sm"/>
              <a:tailEnd type="triangle" len="med" w="lg"/>
            </a:ln>
          </p:spPr>
        </p:sp>
        <p:grpSp>
          <p:nvGrpSpPr>
            <p:cNvPr name="Group 25" id="25"/>
            <p:cNvGrpSpPr/>
            <p:nvPr/>
          </p:nvGrpSpPr>
          <p:grpSpPr>
            <a:xfrm rot="0">
              <a:off x="0" y="4951714"/>
              <a:ext cx="8665499" cy="1444250"/>
              <a:chOff x="0" y="0"/>
              <a:chExt cx="5334000" cy="889000"/>
            </a:xfrm>
          </p:grpSpPr>
          <p:sp>
            <p:nvSpPr>
              <p:cNvPr name="Freeform 26" id="26"/>
              <p:cNvSpPr/>
              <p:nvPr/>
            </p:nvSpPr>
            <p:spPr>
              <a:xfrm flipH="false" flipV="false" rot="0">
                <a:off x="0" y="0"/>
                <a:ext cx="5334000" cy="889000"/>
              </a:xfrm>
              <a:custGeom>
                <a:avLst/>
                <a:gdLst/>
                <a:ahLst/>
                <a:cxnLst/>
                <a:rect r="r" b="b" t="t" l="l"/>
                <a:pathLst>
                  <a:path h="889000" w="5334000">
                    <a:moveTo>
                      <a:pt x="88900" y="0"/>
                    </a:moveTo>
                    <a:lnTo>
                      <a:pt x="5245100" y="0"/>
                    </a:lnTo>
                    <a:cubicBezTo>
                      <a:pt x="5294198" y="0"/>
                      <a:pt x="5334000" y="39802"/>
                      <a:pt x="5334000" y="88900"/>
                    </a:cubicBezTo>
                    <a:lnTo>
                      <a:pt x="5334000" y="800100"/>
                    </a:lnTo>
                    <a:cubicBezTo>
                      <a:pt x="5334000" y="849198"/>
                      <a:pt x="5294198" y="889000"/>
                      <a:pt x="5245100" y="889000"/>
                    </a:cubicBezTo>
                    <a:lnTo>
                      <a:pt x="88900" y="889000"/>
                    </a:lnTo>
                    <a:cubicBezTo>
                      <a:pt x="39802" y="889000"/>
                      <a:pt x="0" y="849198"/>
                      <a:pt x="0" y="800100"/>
                    </a:cubicBezTo>
                    <a:lnTo>
                      <a:pt x="0" y="88900"/>
                    </a:lnTo>
                    <a:cubicBezTo>
                      <a:pt x="0" y="39802"/>
                      <a:pt x="39802" y="0"/>
                      <a:pt x="88900" y="0"/>
                    </a:cubicBezTo>
                    <a:close/>
                  </a:path>
                </a:pathLst>
              </a:custGeom>
              <a:solidFill>
                <a:srgbClr val="1B3A5C"/>
              </a:solidFill>
            </p:spPr>
          </p:sp>
          <p:sp>
            <p:nvSpPr>
              <p:cNvPr name="TextBox 27" id="27"/>
              <p:cNvSpPr txBox="true"/>
              <p:nvPr/>
            </p:nvSpPr>
            <p:spPr>
              <a:xfrm>
                <a:off x="0" y="-57150"/>
                <a:ext cx="5334000" cy="946150"/>
              </a:xfrm>
              <a:prstGeom prst="rect">
                <a:avLst/>
              </a:prstGeom>
            </p:spPr>
            <p:txBody>
              <a:bodyPr anchor="ctr" rtlCol="false" tIns="50800" lIns="50800" bIns="50800" rIns="50800"/>
              <a:lstStyle/>
              <a:p>
                <a:pPr algn="ctr" marL="0" indent="0" lvl="0">
                  <a:lnSpc>
                    <a:spcPts val="3079"/>
                  </a:lnSpc>
                  <a:spcBef>
                    <a:spcPct val="0"/>
                  </a:spcBef>
                </a:pPr>
                <a:r>
                  <a:rPr lang="en-US" sz="2199" strike="noStrike" u="none">
                    <a:solidFill>
                      <a:srgbClr val="FFFFFF"/>
                    </a:solidFill>
                    <a:latin typeface="Arial"/>
                    <a:ea typeface="Arial"/>
                    <a:cs typeface="Arial"/>
                    <a:sym typeface="Arial"/>
                  </a:rPr>
                  <a:t>Mô hình 3 (h=3)</a:t>
                </a:r>
              </a:p>
            </p:txBody>
          </p:sp>
        </p:grpSp>
        <p:grpSp>
          <p:nvGrpSpPr>
            <p:cNvPr name="Group 28" id="28"/>
            <p:cNvGrpSpPr/>
            <p:nvPr/>
          </p:nvGrpSpPr>
          <p:grpSpPr>
            <a:xfrm rot="0">
              <a:off x="9903428" y="2991660"/>
              <a:ext cx="7840214" cy="1444250"/>
              <a:chOff x="0" y="0"/>
              <a:chExt cx="4826000" cy="889000"/>
            </a:xfrm>
          </p:grpSpPr>
          <p:sp>
            <p:nvSpPr>
              <p:cNvPr name="Freeform 29" id="29"/>
              <p:cNvSpPr/>
              <p:nvPr/>
            </p:nvSpPr>
            <p:spPr>
              <a:xfrm flipH="false" flipV="false" rot="0">
                <a:off x="0" y="0"/>
                <a:ext cx="4826000" cy="889000"/>
              </a:xfrm>
              <a:custGeom>
                <a:avLst/>
                <a:gdLst/>
                <a:ahLst/>
                <a:cxnLst/>
                <a:rect r="r" b="b" t="t" l="l"/>
                <a:pathLst>
                  <a:path h="889000" w="4826000">
                    <a:moveTo>
                      <a:pt x="88900" y="0"/>
                    </a:moveTo>
                    <a:lnTo>
                      <a:pt x="4737100" y="0"/>
                    </a:lnTo>
                    <a:cubicBezTo>
                      <a:pt x="4786198" y="0"/>
                      <a:pt x="4826000" y="39802"/>
                      <a:pt x="4826000" y="88900"/>
                    </a:cubicBezTo>
                    <a:lnTo>
                      <a:pt x="4826000" y="800100"/>
                    </a:lnTo>
                    <a:cubicBezTo>
                      <a:pt x="4826000" y="849198"/>
                      <a:pt x="4786198" y="889000"/>
                      <a:pt x="4737100" y="889000"/>
                    </a:cubicBezTo>
                    <a:lnTo>
                      <a:pt x="88900" y="889000"/>
                    </a:lnTo>
                    <a:cubicBezTo>
                      <a:pt x="39802" y="889000"/>
                      <a:pt x="0" y="849198"/>
                      <a:pt x="0" y="800100"/>
                    </a:cubicBezTo>
                    <a:lnTo>
                      <a:pt x="0" y="88900"/>
                    </a:lnTo>
                    <a:cubicBezTo>
                      <a:pt x="0" y="39802"/>
                      <a:pt x="39802" y="0"/>
                      <a:pt x="88900" y="0"/>
                    </a:cubicBezTo>
                    <a:close/>
                  </a:path>
                </a:pathLst>
              </a:custGeom>
              <a:solidFill>
                <a:srgbClr val="FF751F"/>
              </a:solidFill>
            </p:spPr>
          </p:sp>
          <p:sp>
            <p:nvSpPr>
              <p:cNvPr name="TextBox 30" id="30"/>
              <p:cNvSpPr txBox="true"/>
              <p:nvPr/>
            </p:nvSpPr>
            <p:spPr>
              <a:xfrm>
                <a:off x="0" y="-57150"/>
                <a:ext cx="4826000" cy="946150"/>
              </a:xfrm>
              <a:prstGeom prst="rect">
                <a:avLst/>
              </a:prstGeom>
            </p:spPr>
            <p:txBody>
              <a:bodyPr anchor="ctr" rtlCol="false" tIns="50800" lIns="50800" bIns="50800" rIns="50800"/>
              <a:lstStyle/>
              <a:p>
                <a:pPr algn="ctr" marL="0" indent="0" lvl="0">
                  <a:lnSpc>
                    <a:spcPts val="3079"/>
                  </a:lnSpc>
                  <a:spcBef>
                    <a:spcPct val="0"/>
                  </a:spcBef>
                </a:pPr>
                <a:r>
                  <a:rPr lang="en-US" sz="2199" strike="noStrike" u="none">
                    <a:solidFill>
                      <a:srgbClr val="FFFFFF"/>
                    </a:solidFill>
                    <a:latin typeface="Arial"/>
                    <a:ea typeface="Arial"/>
                    <a:cs typeface="Arial"/>
                    <a:sym typeface="Arial"/>
                  </a:rPr>
                  <a:t>Dự báo tuần t+2</a:t>
                </a:r>
              </a:p>
            </p:txBody>
          </p:sp>
        </p:grpSp>
        <p:sp>
          <p:nvSpPr>
            <p:cNvPr name="AutoShape 31" id="31"/>
            <p:cNvSpPr/>
            <p:nvPr/>
          </p:nvSpPr>
          <p:spPr>
            <a:xfrm>
              <a:off x="8871821" y="3713785"/>
              <a:ext cx="825286" cy="0"/>
            </a:xfrm>
            <a:prstGeom prst="line">
              <a:avLst/>
            </a:prstGeom>
            <a:ln cap="flat" w="61896">
              <a:solidFill>
                <a:srgbClr val="333333"/>
              </a:solidFill>
              <a:prstDash val="solid"/>
              <a:headEnd type="none" len="sm" w="sm"/>
              <a:tailEnd type="triangle" len="med" w="lg"/>
            </a:ln>
          </p:spPr>
        </p:sp>
        <p:grpSp>
          <p:nvGrpSpPr>
            <p:cNvPr name="Group 32" id="32"/>
            <p:cNvGrpSpPr/>
            <p:nvPr/>
          </p:nvGrpSpPr>
          <p:grpSpPr>
            <a:xfrm rot="0">
              <a:off x="0" y="2991660"/>
              <a:ext cx="8665499" cy="1444250"/>
              <a:chOff x="0" y="0"/>
              <a:chExt cx="5334000" cy="889000"/>
            </a:xfrm>
          </p:grpSpPr>
          <p:sp>
            <p:nvSpPr>
              <p:cNvPr name="Freeform 33" id="33"/>
              <p:cNvSpPr/>
              <p:nvPr/>
            </p:nvSpPr>
            <p:spPr>
              <a:xfrm flipH="false" flipV="false" rot="0">
                <a:off x="0" y="0"/>
                <a:ext cx="5334000" cy="889000"/>
              </a:xfrm>
              <a:custGeom>
                <a:avLst/>
                <a:gdLst/>
                <a:ahLst/>
                <a:cxnLst/>
                <a:rect r="r" b="b" t="t" l="l"/>
                <a:pathLst>
                  <a:path h="889000" w="5334000">
                    <a:moveTo>
                      <a:pt x="88900" y="0"/>
                    </a:moveTo>
                    <a:lnTo>
                      <a:pt x="5245100" y="0"/>
                    </a:lnTo>
                    <a:cubicBezTo>
                      <a:pt x="5294198" y="0"/>
                      <a:pt x="5334000" y="39802"/>
                      <a:pt x="5334000" y="88900"/>
                    </a:cubicBezTo>
                    <a:lnTo>
                      <a:pt x="5334000" y="800100"/>
                    </a:lnTo>
                    <a:cubicBezTo>
                      <a:pt x="5334000" y="849198"/>
                      <a:pt x="5294198" y="889000"/>
                      <a:pt x="5245100" y="889000"/>
                    </a:cubicBezTo>
                    <a:lnTo>
                      <a:pt x="88900" y="889000"/>
                    </a:lnTo>
                    <a:cubicBezTo>
                      <a:pt x="39802" y="889000"/>
                      <a:pt x="0" y="849198"/>
                      <a:pt x="0" y="800100"/>
                    </a:cubicBezTo>
                    <a:lnTo>
                      <a:pt x="0" y="88900"/>
                    </a:lnTo>
                    <a:cubicBezTo>
                      <a:pt x="0" y="39802"/>
                      <a:pt x="39802" y="0"/>
                      <a:pt x="88900" y="0"/>
                    </a:cubicBezTo>
                    <a:close/>
                  </a:path>
                </a:pathLst>
              </a:custGeom>
              <a:solidFill>
                <a:srgbClr val="1B3A5C"/>
              </a:solidFill>
            </p:spPr>
          </p:sp>
          <p:sp>
            <p:nvSpPr>
              <p:cNvPr name="TextBox 34" id="34"/>
              <p:cNvSpPr txBox="true"/>
              <p:nvPr/>
            </p:nvSpPr>
            <p:spPr>
              <a:xfrm>
                <a:off x="0" y="-57150"/>
                <a:ext cx="5334000" cy="946150"/>
              </a:xfrm>
              <a:prstGeom prst="rect">
                <a:avLst/>
              </a:prstGeom>
            </p:spPr>
            <p:txBody>
              <a:bodyPr anchor="ctr" rtlCol="false" tIns="50800" lIns="50800" bIns="50800" rIns="50800"/>
              <a:lstStyle/>
              <a:p>
                <a:pPr algn="ctr" marL="0" indent="0" lvl="0">
                  <a:lnSpc>
                    <a:spcPts val="3079"/>
                  </a:lnSpc>
                  <a:spcBef>
                    <a:spcPct val="0"/>
                  </a:spcBef>
                </a:pPr>
                <a:r>
                  <a:rPr lang="en-US" sz="2199" strike="noStrike" u="none">
                    <a:solidFill>
                      <a:srgbClr val="FFFFFF"/>
                    </a:solidFill>
                    <a:latin typeface="Arial"/>
                    <a:ea typeface="Arial"/>
                    <a:cs typeface="Arial"/>
                    <a:sym typeface="Arial"/>
                  </a:rPr>
                  <a:t>Mô hình 2 (h=2)</a:t>
                </a:r>
              </a:p>
            </p:txBody>
          </p:sp>
        </p:grpSp>
        <p:grpSp>
          <p:nvGrpSpPr>
            <p:cNvPr name="Group 35" id="35"/>
            <p:cNvGrpSpPr/>
            <p:nvPr/>
          </p:nvGrpSpPr>
          <p:grpSpPr>
            <a:xfrm rot="0">
              <a:off x="9903428" y="1031607"/>
              <a:ext cx="7840214" cy="1444250"/>
              <a:chOff x="0" y="0"/>
              <a:chExt cx="4826000" cy="889000"/>
            </a:xfrm>
          </p:grpSpPr>
          <p:sp>
            <p:nvSpPr>
              <p:cNvPr name="Freeform 36" id="36"/>
              <p:cNvSpPr/>
              <p:nvPr/>
            </p:nvSpPr>
            <p:spPr>
              <a:xfrm flipH="false" flipV="false" rot="0">
                <a:off x="0" y="0"/>
                <a:ext cx="4826000" cy="889000"/>
              </a:xfrm>
              <a:custGeom>
                <a:avLst/>
                <a:gdLst/>
                <a:ahLst/>
                <a:cxnLst/>
                <a:rect r="r" b="b" t="t" l="l"/>
                <a:pathLst>
                  <a:path h="889000" w="4826000">
                    <a:moveTo>
                      <a:pt x="88900" y="0"/>
                    </a:moveTo>
                    <a:lnTo>
                      <a:pt x="4737100" y="0"/>
                    </a:lnTo>
                    <a:cubicBezTo>
                      <a:pt x="4786198" y="0"/>
                      <a:pt x="4826000" y="39802"/>
                      <a:pt x="4826000" y="88900"/>
                    </a:cubicBezTo>
                    <a:lnTo>
                      <a:pt x="4826000" y="800100"/>
                    </a:lnTo>
                    <a:cubicBezTo>
                      <a:pt x="4826000" y="849198"/>
                      <a:pt x="4786198" y="889000"/>
                      <a:pt x="4737100" y="889000"/>
                    </a:cubicBezTo>
                    <a:lnTo>
                      <a:pt x="88900" y="889000"/>
                    </a:lnTo>
                    <a:cubicBezTo>
                      <a:pt x="39802" y="889000"/>
                      <a:pt x="0" y="849198"/>
                      <a:pt x="0" y="800100"/>
                    </a:cubicBezTo>
                    <a:lnTo>
                      <a:pt x="0" y="88900"/>
                    </a:lnTo>
                    <a:cubicBezTo>
                      <a:pt x="0" y="39802"/>
                      <a:pt x="39802" y="0"/>
                      <a:pt x="88900" y="0"/>
                    </a:cubicBezTo>
                    <a:close/>
                  </a:path>
                </a:pathLst>
              </a:custGeom>
              <a:solidFill>
                <a:srgbClr val="FF751F"/>
              </a:solidFill>
            </p:spPr>
          </p:sp>
          <p:sp>
            <p:nvSpPr>
              <p:cNvPr name="TextBox 37" id="37"/>
              <p:cNvSpPr txBox="true"/>
              <p:nvPr/>
            </p:nvSpPr>
            <p:spPr>
              <a:xfrm>
                <a:off x="0" y="-57150"/>
                <a:ext cx="4826000" cy="946150"/>
              </a:xfrm>
              <a:prstGeom prst="rect">
                <a:avLst/>
              </a:prstGeom>
            </p:spPr>
            <p:txBody>
              <a:bodyPr anchor="ctr" rtlCol="false" tIns="50800" lIns="50800" bIns="50800" rIns="50800"/>
              <a:lstStyle/>
              <a:p>
                <a:pPr algn="ctr" marL="0" indent="0" lvl="0">
                  <a:lnSpc>
                    <a:spcPts val="3079"/>
                  </a:lnSpc>
                  <a:spcBef>
                    <a:spcPct val="0"/>
                  </a:spcBef>
                </a:pPr>
                <a:r>
                  <a:rPr lang="en-US" sz="2199" strike="noStrike" u="none">
                    <a:solidFill>
                      <a:srgbClr val="FFFFFF"/>
                    </a:solidFill>
                    <a:latin typeface="Arial"/>
                    <a:ea typeface="Arial"/>
                    <a:cs typeface="Arial"/>
                    <a:sym typeface="Arial"/>
                  </a:rPr>
                  <a:t>Dự báo tuần t+1</a:t>
                </a:r>
              </a:p>
            </p:txBody>
          </p:sp>
        </p:grpSp>
        <p:sp>
          <p:nvSpPr>
            <p:cNvPr name="AutoShape 38" id="38"/>
            <p:cNvSpPr/>
            <p:nvPr/>
          </p:nvSpPr>
          <p:spPr>
            <a:xfrm>
              <a:off x="8871821" y="1753732"/>
              <a:ext cx="825286" cy="0"/>
            </a:xfrm>
            <a:prstGeom prst="line">
              <a:avLst/>
            </a:prstGeom>
            <a:ln cap="flat" w="61896">
              <a:solidFill>
                <a:srgbClr val="333333"/>
              </a:solidFill>
              <a:prstDash val="solid"/>
              <a:headEnd type="none" len="sm" w="sm"/>
              <a:tailEnd type="triangle" len="med" w="lg"/>
            </a:ln>
          </p:spPr>
        </p:sp>
        <p:grpSp>
          <p:nvGrpSpPr>
            <p:cNvPr name="Group 39" id="39"/>
            <p:cNvGrpSpPr/>
            <p:nvPr/>
          </p:nvGrpSpPr>
          <p:grpSpPr>
            <a:xfrm rot="0">
              <a:off x="0" y="1031607"/>
              <a:ext cx="8665499" cy="1444250"/>
              <a:chOff x="0" y="0"/>
              <a:chExt cx="5334000" cy="889000"/>
            </a:xfrm>
          </p:grpSpPr>
          <p:sp>
            <p:nvSpPr>
              <p:cNvPr name="Freeform 40" id="40"/>
              <p:cNvSpPr/>
              <p:nvPr/>
            </p:nvSpPr>
            <p:spPr>
              <a:xfrm flipH="false" flipV="false" rot="0">
                <a:off x="0" y="0"/>
                <a:ext cx="5334000" cy="889000"/>
              </a:xfrm>
              <a:custGeom>
                <a:avLst/>
                <a:gdLst/>
                <a:ahLst/>
                <a:cxnLst/>
                <a:rect r="r" b="b" t="t" l="l"/>
                <a:pathLst>
                  <a:path h="889000" w="5334000">
                    <a:moveTo>
                      <a:pt x="88900" y="0"/>
                    </a:moveTo>
                    <a:lnTo>
                      <a:pt x="5245100" y="0"/>
                    </a:lnTo>
                    <a:cubicBezTo>
                      <a:pt x="5294198" y="0"/>
                      <a:pt x="5334000" y="39802"/>
                      <a:pt x="5334000" y="88900"/>
                    </a:cubicBezTo>
                    <a:lnTo>
                      <a:pt x="5334000" y="800100"/>
                    </a:lnTo>
                    <a:cubicBezTo>
                      <a:pt x="5334000" y="849198"/>
                      <a:pt x="5294198" y="889000"/>
                      <a:pt x="5245100" y="889000"/>
                    </a:cubicBezTo>
                    <a:lnTo>
                      <a:pt x="88900" y="889000"/>
                    </a:lnTo>
                    <a:cubicBezTo>
                      <a:pt x="39802" y="889000"/>
                      <a:pt x="0" y="849198"/>
                      <a:pt x="0" y="800100"/>
                    </a:cubicBezTo>
                    <a:lnTo>
                      <a:pt x="0" y="88900"/>
                    </a:lnTo>
                    <a:cubicBezTo>
                      <a:pt x="0" y="39802"/>
                      <a:pt x="39802" y="0"/>
                      <a:pt x="88900" y="0"/>
                    </a:cubicBezTo>
                    <a:close/>
                  </a:path>
                </a:pathLst>
              </a:custGeom>
              <a:solidFill>
                <a:srgbClr val="1B3A5C"/>
              </a:solidFill>
            </p:spPr>
          </p:sp>
          <p:sp>
            <p:nvSpPr>
              <p:cNvPr name="TextBox 41" id="41"/>
              <p:cNvSpPr txBox="true"/>
              <p:nvPr/>
            </p:nvSpPr>
            <p:spPr>
              <a:xfrm>
                <a:off x="0" y="-57150"/>
                <a:ext cx="5334000" cy="946150"/>
              </a:xfrm>
              <a:prstGeom prst="rect">
                <a:avLst/>
              </a:prstGeom>
            </p:spPr>
            <p:txBody>
              <a:bodyPr anchor="ctr" rtlCol="false" tIns="50800" lIns="50800" bIns="50800" rIns="50800"/>
              <a:lstStyle/>
              <a:p>
                <a:pPr algn="ctr" marL="0" indent="0" lvl="0">
                  <a:lnSpc>
                    <a:spcPts val="3079"/>
                  </a:lnSpc>
                  <a:spcBef>
                    <a:spcPct val="0"/>
                  </a:spcBef>
                </a:pPr>
                <a:r>
                  <a:rPr lang="en-US" sz="2199" strike="noStrike" u="none">
                    <a:solidFill>
                      <a:srgbClr val="FFFFFF"/>
                    </a:solidFill>
                    <a:latin typeface="Arial"/>
                    <a:ea typeface="Arial"/>
                    <a:cs typeface="Arial"/>
                    <a:sym typeface="Arial"/>
                  </a:rPr>
                  <a:t>Mô hình 1 (h=1)</a:t>
                </a:r>
              </a:p>
            </p:txBody>
          </p:sp>
        </p:grpSp>
        <p:sp>
          <p:nvSpPr>
            <p:cNvPr name="TextBox 42" id="42"/>
            <p:cNvSpPr txBox="true"/>
            <p:nvPr/>
          </p:nvSpPr>
          <p:spPr>
            <a:xfrm rot="0">
              <a:off x="2682178" y="-95250"/>
              <a:ext cx="12379285" cy="871018"/>
            </a:xfrm>
            <a:prstGeom prst="rect">
              <a:avLst/>
            </a:prstGeom>
          </p:spPr>
          <p:txBody>
            <a:bodyPr anchor="t" rtlCol="false" tIns="0" lIns="0" bIns="0" rIns="0">
              <a:spAutoFit/>
            </a:bodyPr>
            <a:lstStyle/>
            <a:p>
              <a:pPr algn="ctr" marL="0" indent="0" lvl="0">
                <a:lnSpc>
                  <a:spcPts val="5458"/>
                </a:lnSpc>
                <a:spcBef>
                  <a:spcPct val="0"/>
                </a:spcBef>
              </a:pPr>
              <a:r>
                <a:rPr lang="en-US" sz="3898" strike="noStrike" u="none">
                  <a:solidFill>
                    <a:srgbClr val="000000"/>
                  </a:solidFill>
                  <a:latin typeface="Arial"/>
                  <a:ea typeface="Arial"/>
                  <a:cs typeface="Arial"/>
                  <a:sym typeface="Arial"/>
                </a:rPr>
                <a:t>Thời điểm hiện tại: Tuần t</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3944600" y="9601200"/>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13</a:t>
              </a:r>
            </a:p>
          </p:txBody>
        </p:sp>
      </p:grpSp>
      <p:sp>
        <p:nvSpPr>
          <p:cNvPr name="TextBox 9" id="9"/>
          <p:cNvSpPr txBox="true"/>
          <p:nvPr/>
        </p:nvSpPr>
        <p:spPr>
          <a:xfrm rot="0">
            <a:off x="293484" y="573510"/>
            <a:ext cx="11515130" cy="14668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III. PHÂN TÍCH VÀ THIẾT KẾ HỆ THỐNG</a:t>
            </a:r>
          </a:p>
          <a:p>
            <a:pPr algn="l">
              <a:lnSpc>
                <a:spcPts val="5759"/>
              </a:lnSpc>
            </a:pPr>
          </a:p>
        </p:txBody>
      </p:sp>
      <p:grpSp>
        <p:nvGrpSpPr>
          <p:cNvPr name="Group 10" id="10"/>
          <p:cNvGrpSpPr/>
          <p:nvPr/>
        </p:nvGrpSpPr>
        <p:grpSpPr>
          <a:xfrm rot="0">
            <a:off x="0" y="1423997"/>
            <a:ext cx="4682928" cy="137160"/>
            <a:chOff x="0" y="0"/>
            <a:chExt cx="6243904" cy="182880"/>
          </a:xfrm>
        </p:grpSpPr>
        <p:sp>
          <p:nvSpPr>
            <p:cNvPr name="Freeform 11" id="11"/>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Freeform 12" id="12"/>
          <p:cNvSpPr/>
          <p:nvPr/>
        </p:nvSpPr>
        <p:spPr>
          <a:xfrm flipH="false" flipV="false" rot="0">
            <a:off x="4070315" y="1423997"/>
            <a:ext cx="13004032" cy="8520103"/>
          </a:xfrm>
          <a:custGeom>
            <a:avLst/>
            <a:gdLst/>
            <a:ahLst/>
            <a:cxnLst/>
            <a:rect r="r" b="b" t="t" l="l"/>
            <a:pathLst>
              <a:path h="8520103" w="13004032">
                <a:moveTo>
                  <a:pt x="0" y="0"/>
                </a:moveTo>
                <a:lnTo>
                  <a:pt x="13004033" y="0"/>
                </a:lnTo>
                <a:lnTo>
                  <a:pt x="13004033" y="8520103"/>
                </a:lnTo>
                <a:lnTo>
                  <a:pt x="0" y="8520103"/>
                </a:lnTo>
                <a:lnTo>
                  <a:pt x="0" y="0"/>
                </a:lnTo>
                <a:close/>
              </a:path>
            </a:pathLst>
          </a:custGeom>
          <a:blipFill>
            <a:blip r:embed="rId7"/>
            <a:stretch>
              <a:fillRect l="0" t="0" r="-648" b="0"/>
            </a:stretch>
          </a:blipFill>
        </p:spPr>
      </p:sp>
      <p:sp>
        <p:nvSpPr>
          <p:cNvPr name="TextBox 13" id="13"/>
          <p:cNvSpPr txBox="true"/>
          <p:nvPr/>
        </p:nvSpPr>
        <p:spPr>
          <a:xfrm rot="0">
            <a:off x="293484" y="1614762"/>
            <a:ext cx="2802336" cy="2200275"/>
          </a:xfrm>
          <a:prstGeom prst="rect">
            <a:avLst/>
          </a:prstGeom>
        </p:spPr>
        <p:txBody>
          <a:bodyPr anchor="t" rtlCol="false" tIns="0" lIns="0" bIns="0" rIns="0">
            <a:spAutoFit/>
          </a:bodyPr>
          <a:lstStyle/>
          <a:p>
            <a:pPr algn="l">
              <a:lnSpc>
                <a:spcPts val="4319"/>
              </a:lnSpc>
            </a:pPr>
            <a:r>
              <a:rPr lang="en-US" sz="3599" b="true">
                <a:solidFill>
                  <a:srgbClr val="FF751F"/>
                </a:solidFill>
                <a:latin typeface="Arial Bold"/>
                <a:ea typeface="Arial Bold"/>
                <a:cs typeface="Arial Bold"/>
                <a:sym typeface="Arial Bold"/>
              </a:rPr>
              <a:t>3.5. Thiết kế Cơ sở dữ liệu PostgreSQL</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481012"/>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14</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graphicFrame>
        <p:nvGraphicFramePr>
          <p:cNvPr name="Table 11" id="11"/>
          <p:cNvGraphicFramePr>
            <a:graphicFrameLocks noGrp="true"/>
          </p:cNvGraphicFramePr>
          <p:nvPr/>
        </p:nvGraphicFramePr>
        <p:xfrm>
          <a:off x="1945649" y="2890742"/>
          <a:ext cx="15085051" cy="5961897"/>
        </p:xfrm>
        <a:graphic>
          <a:graphicData uri="http://schemas.openxmlformats.org/drawingml/2006/table">
            <a:tbl>
              <a:tblPr/>
              <a:tblGrid>
                <a:gridCol w="7610679"/>
                <a:gridCol w="7474372"/>
              </a:tblGrid>
              <a:tr h="1016144">
                <a:tc>
                  <a:txBody>
                    <a:bodyPr anchor="t" rtlCol="false"/>
                    <a:lstStyle/>
                    <a:p>
                      <a:pPr algn="ctr">
                        <a:lnSpc>
                          <a:spcPts val="3995"/>
                        </a:lnSpc>
                        <a:defRPr/>
                      </a:pPr>
                      <a:r>
                        <a:rPr lang="en-US" b="true" sz="2854">
                          <a:solidFill>
                            <a:srgbClr val="000000"/>
                          </a:solidFill>
                          <a:latin typeface="Arial Bold"/>
                          <a:ea typeface="Arial Bold"/>
                          <a:cs typeface="Arial Bold"/>
                          <a:sym typeface="Arial Bold"/>
                        </a:rPr>
                        <a:t>CÚM MÙA</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solidFill>
                      <a:srgbClr val="FFEBCD"/>
                    </a:solidFill>
                  </a:tcPr>
                </a:tc>
                <a:tc>
                  <a:txBody>
                    <a:bodyPr anchor="t" rtlCol="false"/>
                    <a:lstStyle/>
                    <a:p>
                      <a:pPr algn="ctr">
                        <a:lnSpc>
                          <a:spcPts val="3995"/>
                        </a:lnSpc>
                        <a:defRPr/>
                      </a:pPr>
                      <a:r>
                        <a:rPr lang="en-US" b="true" sz="2854">
                          <a:solidFill>
                            <a:srgbClr val="000000"/>
                          </a:solidFill>
                          <a:latin typeface="Arial Bold"/>
                          <a:ea typeface="Arial Bold"/>
                          <a:cs typeface="Arial Bold"/>
                          <a:sym typeface="Arial Bold"/>
                        </a:rPr>
                        <a:t>SỐT XUẤT HUYẾT</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solidFill>
                      <a:srgbClr val="FFEBCD"/>
                    </a:solidFill>
                  </a:tcPr>
                </a:tc>
              </a:tr>
              <a:tr h="910695">
                <a:tc>
                  <a:txBody>
                    <a:bodyPr anchor="t" rtlCol="false"/>
                    <a:lstStyle/>
                    <a:p>
                      <a:pPr algn="just">
                        <a:lnSpc>
                          <a:spcPts val="3295"/>
                        </a:lnSpc>
                        <a:defRPr/>
                      </a:pPr>
                      <a:r>
                        <a:rPr lang="en-US" sz="2354">
                          <a:solidFill>
                            <a:srgbClr val="000000"/>
                          </a:solidFill>
                          <a:latin typeface="Arial"/>
                          <a:ea typeface="Arial"/>
                          <a:cs typeface="Arial"/>
                          <a:sym typeface="Arial"/>
                        </a:rPr>
                        <a:t>Diễn biến nhanh</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295"/>
                        </a:lnSpc>
                        <a:defRPr/>
                      </a:pPr>
                      <a:r>
                        <a:rPr lang="en-US" sz="2354">
                          <a:solidFill>
                            <a:srgbClr val="000000"/>
                          </a:solidFill>
                          <a:latin typeface="Arial"/>
                          <a:ea typeface="Arial"/>
                          <a:cs typeface="Arial"/>
                          <a:sym typeface="Arial"/>
                        </a:rPr>
                        <a:t>Diễn biến chậm theo vòng đời muỗi</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r>
              <a:tr h="1322904">
                <a:tc>
                  <a:txBody>
                    <a:bodyPr anchor="t" rtlCol="false"/>
                    <a:lstStyle/>
                    <a:p>
                      <a:pPr algn="just">
                        <a:lnSpc>
                          <a:spcPts val="3295"/>
                        </a:lnSpc>
                        <a:defRPr/>
                      </a:pPr>
                      <a:r>
                        <a:rPr lang="en-US" sz="2354">
                          <a:solidFill>
                            <a:srgbClr val="000000"/>
                          </a:solidFill>
                          <a:latin typeface="Arial"/>
                          <a:ea typeface="Arial"/>
                          <a:cs typeface="Arial"/>
                          <a:sym typeface="Arial"/>
                        </a:rPr>
                        <a:t>Bức xạ mặt trời: Tương quan âm (r = -0.41) tại độ trễ 7 tuần.</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079"/>
                        </a:lnSpc>
                        <a:defRPr/>
                      </a:pPr>
                      <a:r>
                        <a:rPr lang="en-US" sz="2199">
                          <a:solidFill>
                            <a:srgbClr val="000000"/>
                          </a:solidFill>
                          <a:latin typeface="Arial"/>
                          <a:ea typeface="Arial"/>
                          <a:cs typeface="Arial"/>
                          <a:sym typeface="Arial"/>
                        </a:rPr>
                        <a:t>Nhiệt độ trung bình: Tương quan dương tại độ trễ lên tới 11 tuần (r = 0.31).</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r>
              <a:tr h="1389250">
                <a:tc>
                  <a:txBody>
                    <a:bodyPr anchor="t" rtlCol="false"/>
                    <a:lstStyle/>
                    <a:p>
                      <a:pPr algn="just">
                        <a:lnSpc>
                          <a:spcPts val="3295"/>
                        </a:lnSpc>
                        <a:defRPr/>
                      </a:pPr>
                      <a:r>
                        <a:rPr lang="en-US" sz="2354">
                          <a:solidFill>
                            <a:srgbClr val="000000"/>
                          </a:solidFill>
                          <a:latin typeface="Arial"/>
                          <a:ea typeface="Arial"/>
                          <a:cs typeface="Arial"/>
                          <a:sym typeface="Arial"/>
                        </a:rPr>
                        <a:t>Nhiệt độ trung bình: Tương quan âm (r = -0.37) tại độ trễ 3 tuần.</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295"/>
                        </a:lnSpc>
                        <a:defRPr/>
                      </a:pPr>
                      <a:r>
                        <a:rPr lang="en-US" sz="2354">
                          <a:solidFill>
                            <a:srgbClr val="000000"/>
                          </a:solidFill>
                          <a:latin typeface="Arial"/>
                          <a:ea typeface="Arial"/>
                          <a:cs typeface="Arial"/>
                          <a:sym typeface="Arial"/>
                        </a:rPr>
                        <a:t>Điểm sương: Độ trễ 8 tuần (r = 0.31).</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r>
              <a:tr h="1322904">
                <a:tc>
                  <a:txBody>
                    <a:bodyPr anchor="t" rtlCol="false"/>
                    <a:lstStyle/>
                    <a:p>
                      <a:pPr algn="just">
                        <a:lnSpc>
                          <a:spcPts val="3295"/>
                        </a:lnSpc>
                        <a:defRPr/>
                      </a:pPr>
                      <a:r>
                        <a:rPr lang="en-US" sz="2354">
                          <a:solidFill>
                            <a:srgbClr val="000000"/>
                          </a:solidFill>
                          <a:latin typeface="Arial"/>
                          <a:ea typeface="Arial"/>
                          <a:cs typeface="Arial"/>
                          <a:sym typeface="Arial"/>
                        </a:rPr>
                        <a:t>Lượng mưa: Gần như không có tác động (r ≈ 0), do đó loại bỏ khỏi bộ đặc trưng.</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c>
                  <a:txBody>
                    <a:bodyPr anchor="t" rtlCol="false"/>
                    <a:lstStyle/>
                    <a:p>
                      <a:pPr algn="just">
                        <a:lnSpc>
                          <a:spcPts val="3295"/>
                        </a:lnSpc>
                        <a:defRPr/>
                      </a:pPr>
                      <a:r>
                        <a:rPr lang="en-US" sz="2354">
                          <a:solidFill>
                            <a:srgbClr val="000000"/>
                          </a:solidFill>
                          <a:latin typeface="Arial"/>
                          <a:ea typeface="Arial"/>
                          <a:cs typeface="Arial"/>
                          <a:sym typeface="Arial"/>
                        </a:rPr>
                        <a:t>Lượng mưa: Độ trễ 6 tuần (r = 0.22).</a:t>
                      </a:r>
                      <a:endParaRPr lang="en-US" sz="1100"/>
                    </a:p>
                  </a:txBody>
                  <a:tcPr marL="190500" marR="190500" marT="190500" marB="190500" anchor="ctr">
                    <a:lnL cmpd="sng" algn="ctr" cap="flat" w="38100">
                      <a:solidFill>
                        <a:srgbClr val="FFD699"/>
                      </a:solidFill>
                      <a:prstDash val="solid"/>
                      <a:round/>
                      <a:headEnd type="none" w="med" len="med"/>
                      <a:tailEnd type="none" w="med" len="med"/>
                    </a:lnL>
                    <a:lnR cmpd="sng" algn="ctr" cap="flat" w="38100">
                      <a:solidFill>
                        <a:srgbClr val="FFD699"/>
                      </a:solidFill>
                      <a:prstDash val="solid"/>
                      <a:round/>
                      <a:headEnd type="none" w="med" len="med"/>
                      <a:tailEnd type="none" w="med" len="med"/>
                    </a:lnR>
                    <a:lnT cmpd="sng" algn="ctr" cap="flat" w="38100">
                      <a:solidFill>
                        <a:srgbClr val="FFD699"/>
                      </a:solidFill>
                      <a:prstDash val="solid"/>
                      <a:round/>
                      <a:headEnd type="none" w="med" len="med"/>
                      <a:tailEnd type="none" w="med" len="med"/>
                    </a:lnT>
                    <a:lnB cmpd="sng" algn="ctr" cap="flat" w="38100">
                      <a:solidFill>
                        <a:srgbClr val="FFD699"/>
                      </a:solidFill>
                      <a:prstDash val="solid"/>
                      <a:round/>
                      <a:headEnd type="none" w="med" len="med"/>
                      <a:tailEnd type="none" w="med" len="med"/>
                    </a:lnB>
                  </a:tcPr>
                </a:tc>
              </a:tr>
            </a:tbl>
          </a:graphicData>
        </a:graphic>
      </p:graphicFrame>
      <p:sp>
        <p:nvSpPr>
          <p:cNvPr name="TextBox 12" id="12"/>
          <p:cNvSpPr txBox="true"/>
          <p:nvPr/>
        </p:nvSpPr>
        <p:spPr>
          <a:xfrm rot="0">
            <a:off x="293484" y="573510"/>
            <a:ext cx="7211616"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IV. KẾT QUẢ THỰC HIỆN</a:t>
            </a:r>
          </a:p>
        </p:txBody>
      </p:sp>
      <p:sp>
        <p:nvSpPr>
          <p:cNvPr name="TextBox 13" id="13"/>
          <p:cNvSpPr txBox="true"/>
          <p:nvPr/>
        </p:nvSpPr>
        <p:spPr>
          <a:xfrm rot="0">
            <a:off x="293484" y="1637357"/>
            <a:ext cx="11210173" cy="571500"/>
          </a:xfrm>
          <a:prstGeom prst="rect">
            <a:avLst/>
          </a:prstGeom>
        </p:spPr>
        <p:txBody>
          <a:bodyPr anchor="t" rtlCol="false" tIns="0" lIns="0" bIns="0" rIns="0">
            <a:spAutoFit/>
          </a:bodyPr>
          <a:lstStyle/>
          <a:p>
            <a:pPr algn="l">
              <a:lnSpc>
                <a:spcPts val="4319"/>
              </a:lnSpc>
            </a:pPr>
            <a:r>
              <a:rPr lang="en-US" sz="3599" b="true">
                <a:solidFill>
                  <a:srgbClr val="FF914D"/>
                </a:solidFill>
                <a:latin typeface="Arial Bold"/>
                <a:ea typeface="Arial Bold"/>
                <a:cs typeface="Arial Bold"/>
                <a:sym typeface="Arial Bold"/>
              </a:rPr>
              <a:t>4.1</a:t>
            </a:r>
            <a:r>
              <a:rPr lang="en-US" sz="3599" b="true">
                <a:solidFill>
                  <a:srgbClr val="FF914D"/>
                </a:solidFill>
                <a:latin typeface="Arial Bold"/>
                <a:ea typeface="Arial Bold"/>
                <a:cs typeface="Arial Bold"/>
                <a:sym typeface="Arial Bold"/>
              </a:rPr>
              <a:t>. Kết quả xác định khoảng trễ</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15</a:t>
              </a:r>
            </a:p>
          </p:txBody>
        </p:sp>
      </p:grpSp>
      <p:sp>
        <p:nvSpPr>
          <p:cNvPr name="TextBox 9" id="9"/>
          <p:cNvSpPr txBox="true"/>
          <p:nvPr/>
        </p:nvSpPr>
        <p:spPr>
          <a:xfrm rot="0">
            <a:off x="293484" y="573510"/>
            <a:ext cx="7211616"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IV. KẾT QUẢ THỰC HIỆN</a:t>
            </a:r>
          </a:p>
        </p:txBody>
      </p:sp>
      <p:sp>
        <p:nvSpPr>
          <p:cNvPr name="TextBox 10" id="10"/>
          <p:cNvSpPr txBox="true"/>
          <p:nvPr/>
        </p:nvSpPr>
        <p:spPr>
          <a:xfrm rot="0">
            <a:off x="293484" y="1795981"/>
            <a:ext cx="11210173" cy="571500"/>
          </a:xfrm>
          <a:prstGeom prst="rect">
            <a:avLst/>
          </a:prstGeom>
        </p:spPr>
        <p:txBody>
          <a:bodyPr anchor="t" rtlCol="false" tIns="0" lIns="0" bIns="0" rIns="0">
            <a:spAutoFit/>
          </a:bodyPr>
          <a:lstStyle/>
          <a:p>
            <a:pPr algn="l">
              <a:lnSpc>
                <a:spcPts val="4319"/>
              </a:lnSpc>
            </a:pPr>
            <a:r>
              <a:rPr lang="en-US" sz="3599" b="true">
                <a:solidFill>
                  <a:srgbClr val="FF914D"/>
                </a:solidFill>
                <a:latin typeface="Arial Bold"/>
                <a:ea typeface="Arial Bold"/>
                <a:cs typeface="Arial Bold"/>
                <a:sym typeface="Arial Bold"/>
              </a:rPr>
              <a:t>4.</a:t>
            </a:r>
            <a:r>
              <a:rPr lang="en-US" sz="3599" b="true">
                <a:solidFill>
                  <a:srgbClr val="FF914D"/>
                </a:solidFill>
                <a:latin typeface="Arial Bold"/>
                <a:ea typeface="Arial Bold"/>
                <a:cs typeface="Arial Bold"/>
                <a:sym typeface="Arial Bold"/>
              </a:rPr>
              <a:t>2. Hiệu suất các mô hình dự báo (Single-step CV)</a:t>
            </a:r>
          </a:p>
        </p:txBody>
      </p:sp>
      <p:grpSp>
        <p:nvGrpSpPr>
          <p:cNvPr name="Group 11" id="11"/>
          <p:cNvGrpSpPr/>
          <p:nvPr/>
        </p:nvGrpSpPr>
        <p:grpSpPr>
          <a:xfrm rot="0">
            <a:off x="0" y="1423997"/>
            <a:ext cx="4682928" cy="137160"/>
            <a:chOff x="0" y="0"/>
            <a:chExt cx="6243904" cy="182880"/>
          </a:xfrm>
        </p:grpSpPr>
        <p:sp>
          <p:nvSpPr>
            <p:cNvPr name="Freeform 12" id="12"/>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TextBox 13" id="13"/>
          <p:cNvSpPr txBox="true"/>
          <p:nvPr/>
        </p:nvSpPr>
        <p:spPr>
          <a:xfrm rot="0">
            <a:off x="827501" y="3327004"/>
            <a:ext cx="8150900" cy="3709099"/>
          </a:xfrm>
          <a:prstGeom prst="rect">
            <a:avLst/>
          </a:prstGeom>
        </p:spPr>
        <p:txBody>
          <a:bodyPr anchor="t" rtlCol="false" tIns="0" lIns="0" bIns="0" rIns="0">
            <a:spAutoFit/>
          </a:bodyPr>
          <a:lstStyle/>
          <a:p>
            <a:pPr algn="just">
              <a:lnSpc>
                <a:spcPts val="5983"/>
              </a:lnSpc>
            </a:pPr>
            <a:r>
              <a:rPr lang="en-US" sz="3324" b="true">
                <a:solidFill>
                  <a:srgbClr val="000000"/>
                </a:solidFill>
                <a:latin typeface="Arial Bold"/>
                <a:ea typeface="Arial Bold"/>
                <a:cs typeface="Arial Bold"/>
                <a:sym typeface="Arial Bold"/>
              </a:rPr>
              <a:t>Mô hình cho cúm mùa</a:t>
            </a:r>
            <a:r>
              <a:rPr lang="en-US" sz="3324" b="true">
                <a:solidFill>
                  <a:srgbClr val="000000"/>
                </a:solidFill>
                <a:latin typeface="Arial Bold"/>
                <a:ea typeface="Arial Bold"/>
                <a:cs typeface="Arial Bold"/>
                <a:sym typeface="Arial Bold"/>
              </a:rPr>
              <a:t>:</a:t>
            </a:r>
          </a:p>
          <a:p>
            <a:pPr algn="l" marL="601591" indent="-300795" lvl="1">
              <a:lnSpc>
                <a:spcPts val="5983"/>
              </a:lnSpc>
              <a:buFont typeface="Arial"/>
              <a:buChar char="•"/>
            </a:pPr>
            <a:r>
              <a:rPr lang="en-US" sz="3324">
                <a:solidFill>
                  <a:srgbClr val="000000"/>
                </a:solidFill>
                <a:latin typeface="Arial"/>
                <a:ea typeface="Arial"/>
                <a:cs typeface="Arial"/>
                <a:sym typeface="Arial"/>
              </a:rPr>
              <a:t>Baseli</a:t>
            </a:r>
            <a:r>
              <a:rPr lang="en-US" sz="3324">
                <a:solidFill>
                  <a:srgbClr val="000000"/>
                </a:solidFill>
                <a:latin typeface="Arial"/>
                <a:ea typeface="Arial"/>
                <a:cs typeface="Arial"/>
                <a:sym typeface="Arial"/>
              </a:rPr>
              <a:t>ne: Naive (0.560), Prophet (0.429).</a:t>
            </a:r>
          </a:p>
          <a:p>
            <a:pPr algn="l" marL="601591" indent="-300795" lvl="1">
              <a:lnSpc>
                <a:spcPts val="5983"/>
              </a:lnSpc>
              <a:buFont typeface="Arial"/>
              <a:buChar char="•"/>
            </a:pPr>
            <a:r>
              <a:rPr lang="en-US" sz="3324">
                <a:solidFill>
                  <a:srgbClr val="000000"/>
                </a:solidFill>
                <a:latin typeface="Arial"/>
                <a:ea typeface="Arial"/>
                <a:cs typeface="Arial"/>
                <a:sym typeface="Arial"/>
              </a:rPr>
              <a:t>ML: LightGBM đạt chỉ số tối ưu (R² = 0.902), RMSE = 0.5876.</a:t>
            </a:r>
          </a:p>
        </p:txBody>
      </p:sp>
      <p:sp>
        <p:nvSpPr>
          <p:cNvPr name="TextBox 14" id="14"/>
          <p:cNvSpPr txBox="true"/>
          <p:nvPr/>
        </p:nvSpPr>
        <p:spPr>
          <a:xfrm rot="0">
            <a:off x="9309600" y="3307954"/>
            <a:ext cx="8150900" cy="3730051"/>
          </a:xfrm>
          <a:prstGeom prst="rect">
            <a:avLst/>
          </a:prstGeom>
        </p:spPr>
        <p:txBody>
          <a:bodyPr anchor="t" rtlCol="false" tIns="0" lIns="0" bIns="0" rIns="0">
            <a:spAutoFit/>
          </a:bodyPr>
          <a:lstStyle/>
          <a:p>
            <a:pPr algn="just">
              <a:lnSpc>
                <a:spcPts val="5938"/>
              </a:lnSpc>
            </a:pPr>
            <a:r>
              <a:rPr lang="en-US" sz="3299" b="true">
                <a:solidFill>
                  <a:srgbClr val="000000"/>
                </a:solidFill>
                <a:latin typeface="Arial Bold"/>
                <a:ea typeface="Arial Bold"/>
                <a:cs typeface="Arial Bold"/>
                <a:sym typeface="Arial Bold"/>
              </a:rPr>
              <a:t>Mô hình cho sốt xuất huyết</a:t>
            </a:r>
            <a:r>
              <a:rPr lang="en-US" sz="3299" b="true">
                <a:solidFill>
                  <a:srgbClr val="000000"/>
                </a:solidFill>
                <a:latin typeface="Arial Bold"/>
                <a:ea typeface="Arial Bold"/>
                <a:cs typeface="Arial Bold"/>
                <a:sym typeface="Arial Bold"/>
              </a:rPr>
              <a:t>:</a:t>
            </a:r>
          </a:p>
          <a:p>
            <a:pPr algn="l" marL="597072" indent="-298536" lvl="1">
              <a:lnSpc>
                <a:spcPts val="5938"/>
              </a:lnSpc>
              <a:buFont typeface="Arial"/>
              <a:buChar char="•"/>
            </a:pPr>
            <a:r>
              <a:rPr lang="en-US" sz="3299">
                <a:solidFill>
                  <a:srgbClr val="000000"/>
                </a:solidFill>
                <a:latin typeface="Arial"/>
                <a:ea typeface="Arial"/>
                <a:cs typeface="Arial"/>
                <a:sym typeface="Arial"/>
              </a:rPr>
              <a:t>Basel</a:t>
            </a:r>
            <a:r>
              <a:rPr lang="en-US" sz="3299">
                <a:solidFill>
                  <a:srgbClr val="000000"/>
                </a:solidFill>
                <a:latin typeface="Arial"/>
                <a:ea typeface="Arial"/>
                <a:cs typeface="Arial"/>
                <a:sym typeface="Arial"/>
              </a:rPr>
              <a:t>ine: Prophet hoạt động kém (-0.282), Naive (0.487).</a:t>
            </a:r>
          </a:p>
          <a:p>
            <a:pPr algn="l" marL="597072" indent="-298536" lvl="1">
              <a:lnSpc>
                <a:spcPts val="5938"/>
              </a:lnSpc>
              <a:buFont typeface="Arial"/>
              <a:buChar char="•"/>
            </a:pPr>
            <a:r>
              <a:rPr lang="en-US" sz="3299">
                <a:solidFill>
                  <a:srgbClr val="000000"/>
                </a:solidFill>
                <a:latin typeface="Arial"/>
                <a:ea typeface="Arial"/>
                <a:cs typeface="Arial"/>
                <a:sym typeface="Arial"/>
              </a:rPr>
              <a:t>ML: Random Forest đạt chỉ số tối ưu (R² = 0.938), RMSE = 0.7319.</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16</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Freeform 11" id="11"/>
          <p:cNvSpPr/>
          <p:nvPr/>
        </p:nvSpPr>
        <p:spPr>
          <a:xfrm flipH="false" flipV="false" rot="0">
            <a:off x="9685359" y="3183044"/>
            <a:ext cx="8157850" cy="5751284"/>
          </a:xfrm>
          <a:custGeom>
            <a:avLst/>
            <a:gdLst/>
            <a:ahLst/>
            <a:cxnLst/>
            <a:rect r="r" b="b" t="t" l="l"/>
            <a:pathLst>
              <a:path h="5751284" w="8157850">
                <a:moveTo>
                  <a:pt x="0" y="0"/>
                </a:moveTo>
                <a:lnTo>
                  <a:pt x="8157850" y="0"/>
                </a:lnTo>
                <a:lnTo>
                  <a:pt x="8157850" y="5751285"/>
                </a:lnTo>
                <a:lnTo>
                  <a:pt x="0" y="5751285"/>
                </a:lnTo>
                <a:lnTo>
                  <a:pt x="0" y="0"/>
                </a:lnTo>
                <a:close/>
              </a:path>
            </a:pathLst>
          </a:custGeom>
          <a:blipFill>
            <a:blip r:embed="rId7"/>
            <a:stretch>
              <a:fillRect l="0" t="0" r="0" b="0"/>
            </a:stretch>
          </a:blipFill>
        </p:spPr>
      </p:sp>
      <p:sp>
        <p:nvSpPr>
          <p:cNvPr name="Freeform 12" id="12"/>
          <p:cNvSpPr/>
          <p:nvPr/>
        </p:nvSpPr>
        <p:spPr>
          <a:xfrm flipH="false" flipV="false" rot="0">
            <a:off x="539207" y="3183044"/>
            <a:ext cx="8579355" cy="6075256"/>
          </a:xfrm>
          <a:custGeom>
            <a:avLst/>
            <a:gdLst/>
            <a:ahLst/>
            <a:cxnLst/>
            <a:rect r="r" b="b" t="t" l="l"/>
            <a:pathLst>
              <a:path h="6075256" w="8579355">
                <a:moveTo>
                  <a:pt x="0" y="0"/>
                </a:moveTo>
                <a:lnTo>
                  <a:pt x="8579354" y="0"/>
                </a:lnTo>
                <a:lnTo>
                  <a:pt x="8579354" y="6075256"/>
                </a:lnTo>
                <a:lnTo>
                  <a:pt x="0" y="6075256"/>
                </a:lnTo>
                <a:lnTo>
                  <a:pt x="0" y="0"/>
                </a:lnTo>
                <a:close/>
              </a:path>
            </a:pathLst>
          </a:custGeom>
          <a:blipFill>
            <a:blip r:embed="rId8"/>
            <a:stretch>
              <a:fillRect l="0" t="0" r="0" b="0"/>
            </a:stretch>
          </a:blipFill>
        </p:spPr>
      </p:sp>
      <p:sp>
        <p:nvSpPr>
          <p:cNvPr name="TextBox 13" id="13"/>
          <p:cNvSpPr txBox="true"/>
          <p:nvPr/>
        </p:nvSpPr>
        <p:spPr>
          <a:xfrm rot="0">
            <a:off x="293484" y="573510"/>
            <a:ext cx="7211616"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IV. KẾT QUẢ THỰC HIỆN</a:t>
            </a:r>
          </a:p>
        </p:txBody>
      </p:sp>
      <p:sp>
        <p:nvSpPr>
          <p:cNvPr name="TextBox 14" id="14"/>
          <p:cNvSpPr txBox="true"/>
          <p:nvPr/>
        </p:nvSpPr>
        <p:spPr>
          <a:xfrm rot="0">
            <a:off x="293484" y="1795981"/>
            <a:ext cx="11210173" cy="571500"/>
          </a:xfrm>
          <a:prstGeom prst="rect">
            <a:avLst/>
          </a:prstGeom>
        </p:spPr>
        <p:txBody>
          <a:bodyPr anchor="t" rtlCol="false" tIns="0" lIns="0" bIns="0" rIns="0">
            <a:spAutoFit/>
          </a:bodyPr>
          <a:lstStyle/>
          <a:p>
            <a:pPr algn="l">
              <a:lnSpc>
                <a:spcPts val="4319"/>
              </a:lnSpc>
            </a:pPr>
            <a:r>
              <a:rPr lang="en-US" sz="3599" b="true">
                <a:solidFill>
                  <a:srgbClr val="FF914D"/>
                </a:solidFill>
                <a:latin typeface="Arial Bold"/>
                <a:ea typeface="Arial Bold"/>
                <a:cs typeface="Arial Bold"/>
                <a:sym typeface="Arial Bold"/>
              </a:rPr>
              <a:t>4.3</a:t>
            </a:r>
            <a:r>
              <a:rPr lang="en-US" sz="3599" b="true">
                <a:solidFill>
                  <a:srgbClr val="FF914D"/>
                </a:solidFill>
                <a:latin typeface="Arial Bold"/>
                <a:ea typeface="Arial Bold"/>
                <a:cs typeface="Arial Bold"/>
                <a:sym typeface="Arial Bold"/>
              </a:rPr>
              <a:t>. Kiểm soát Overfitting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3944600" y="9396412"/>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17</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Freeform 11" id="11"/>
          <p:cNvSpPr/>
          <p:nvPr/>
        </p:nvSpPr>
        <p:spPr>
          <a:xfrm flipH="false" flipV="false" rot="0">
            <a:off x="9583117" y="2906819"/>
            <a:ext cx="8253024" cy="5790941"/>
          </a:xfrm>
          <a:custGeom>
            <a:avLst/>
            <a:gdLst/>
            <a:ahLst/>
            <a:cxnLst/>
            <a:rect r="r" b="b" t="t" l="l"/>
            <a:pathLst>
              <a:path h="5790941" w="8253024">
                <a:moveTo>
                  <a:pt x="0" y="0"/>
                </a:moveTo>
                <a:lnTo>
                  <a:pt x="8253024" y="0"/>
                </a:lnTo>
                <a:lnTo>
                  <a:pt x="8253024" y="5790942"/>
                </a:lnTo>
                <a:lnTo>
                  <a:pt x="0" y="5790942"/>
                </a:lnTo>
                <a:lnTo>
                  <a:pt x="0" y="0"/>
                </a:lnTo>
                <a:close/>
              </a:path>
            </a:pathLst>
          </a:custGeom>
          <a:blipFill>
            <a:blip r:embed="rId7"/>
            <a:stretch>
              <a:fillRect l="0" t="-147" r="0" b="-147"/>
            </a:stretch>
          </a:blipFill>
        </p:spPr>
      </p:sp>
      <p:sp>
        <p:nvSpPr>
          <p:cNvPr name="Freeform 12" id="12"/>
          <p:cNvSpPr/>
          <p:nvPr/>
        </p:nvSpPr>
        <p:spPr>
          <a:xfrm flipH="false" flipV="false" rot="0">
            <a:off x="257670" y="2906819"/>
            <a:ext cx="8886330" cy="6292632"/>
          </a:xfrm>
          <a:custGeom>
            <a:avLst/>
            <a:gdLst/>
            <a:ahLst/>
            <a:cxnLst/>
            <a:rect r="r" b="b" t="t" l="l"/>
            <a:pathLst>
              <a:path h="6292632" w="8886330">
                <a:moveTo>
                  <a:pt x="0" y="0"/>
                </a:moveTo>
                <a:lnTo>
                  <a:pt x="8886330" y="0"/>
                </a:lnTo>
                <a:lnTo>
                  <a:pt x="8886330" y="6292633"/>
                </a:lnTo>
                <a:lnTo>
                  <a:pt x="0" y="6292633"/>
                </a:lnTo>
                <a:lnTo>
                  <a:pt x="0" y="0"/>
                </a:lnTo>
                <a:close/>
              </a:path>
            </a:pathLst>
          </a:custGeom>
          <a:blipFill>
            <a:blip r:embed="rId8"/>
            <a:stretch>
              <a:fillRect l="0" t="0" r="0" b="0"/>
            </a:stretch>
          </a:blipFill>
        </p:spPr>
      </p:sp>
      <p:sp>
        <p:nvSpPr>
          <p:cNvPr name="TextBox 13" id="13"/>
          <p:cNvSpPr txBox="true"/>
          <p:nvPr/>
        </p:nvSpPr>
        <p:spPr>
          <a:xfrm rot="0">
            <a:off x="293484" y="573510"/>
            <a:ext cx="7211616"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IV. KẾT QUẢ THỰC HIỆN</a:t>
            </a:r>
          </a:p>
        </p:txBody>
      </p:sp>
      <p:sp>
        <p:nvSpPr>
          <p:cNvPr name="TextBox 14" id="14"/>
          <p:cNvSpPr txBox="true"/>
          <p:nvPr/>
        </p:nvSpPr>
        <p:spPr>
          <a:xfrm rot="0">
            <a:off x="293484" y="1795981"/>
            <a:ext cx="11210173" cy="571500"/>
          </a:xfrm>
          <a:prstGeom prst="rect">
            <a:avLst/>
          </a:prstGeom>
        </p:spPr>
        <p:txBody>
          <a:bodyPr anchor="t" rtlCol="false" tIns="0" lIns="0" bIns="0" rIns="0">
            <a:spAutoFit/>
          </a:bodyPr>
          <a:lstStyle/>
          <a:p>
            <a:pPr algn="l">
              <a:lnSpc>
                <a:spcPts val="4319"/>
              </a:lnSpc>
            </a:pPr>
            <a:r>
              <a:rPr lang="en-US" sz="3599" b="true">
                <a:solidFill>
                  <a:srgbClr val="FF914D"/>
                </a:solidFill>
                <a:latin typeface="Arial Bold"/>
                <a:ea typeface="Arial Bold"/>
                <a:cs typeface="Arial Bold"/>
                <a:sym typeface="Arial Bold"/>
              </a:rPr>
              <a:t>4.3</a:t>
            </a:r>
            <a:r>
              <a:rPr lang="en-US" sz="3599" b="true">
                <a:solidFill>
                  <a:srgbClr val="FF914D"/>
                </a:solidFill>
                <a:latin typeface="Arial Bold"/>
                <a:ea typeface="Arial Bold"/>
                <a:cs typeface="Arial Bold"/>
                <a:sym typeface="Arial Bold"/>
              </a:rPr>
              <a:t>. Kiểm soát Overfitting</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18</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Freeform 11" id="11"/>
          <p:cNvSpPr/>
          <p:nvPr/>
        </p:nvSpPr>
        <p:spPr>
          <a:xfrm flipH="false" flipV="false" rot="0">
            <a:off x="359144" y="3108158"/>
            <a:ext cx="8647568" cy="6096535"/>
          </a:xfrm>
          <a:custGeom>
            <a:avLst/>
            <a:gdLst/>
            <a:ahLst/>
            <a:cxnLst/>
            <a:rect r="r" b="b" t="t" l="l"/>
            <a:pathLst>
              <a:path h="6096535" w="8647568">
                <a:moveTo>
                  <a:pt x="0" y="0"/>
                </a:moveTo>
                <a:lnTo>
                  <a:pt x="8647568" y="0"/>
                </a:lnTo>
                <a:lnTo>
                  <a:pt x="8647568" y="6096536"/>
                </a:lnTo>
                <a:lnTo>
                  <a:pt x="0" y="6096536"/>
                </a:lnTo>
                <a:lnTo>
                  <a:pt x="0" y="0"/>
                </a:lnTo>
                <a:close/>
              </a:path>
            </a:pathLst>
          </a:custGeom>
          <a:blipFill>
            <a:blip r:embed="rId7"/>
            <a:stretch>
              <a:fillRect l="0" t="0" r="0" b="0"/>
            </a:stretch>
          </a:blipFill>
        </p:spPr>
      </p:sp>
      <p:sp>
        <p:nvSpPr>
          <p:cNvPr name="Freeform 12" id="12"/>
          <p:cNvSpPr/>
          <p:nvPr/>
        </p:nvSpPr>
        <p:spPr>
          <a:xfrm flipH="false" flipV="false" rot="0">
            <a:off x="9434508" y="3161765"/>
            <a:ext cx="8571530" cy="6042929"/>
          </a:xfrm>
          <a:custGeom>
            <a:avLst/>
            <a:gdLst/>
            <a:ahLst/>
            <a:cxnLst/>
            <a:rect r="r" b="b" t="t" l="l"/>
            <a:pathLst>
              <a:path h="6042929" w="8571530">
                <a:moveTo>
                  <a:pt x="0" y="0"/>
                </a:moveTo>
                <a:lnTo>
                  <a:pt x="8571530" y="0"/>
                </a:lnTo>
                <a:lnTo>
                  <a:pt x="8571530" y="6042929"/>
                </a:lnTo>
                <a:lnTo>
                  <a:pt x="0" y="6042929"/>
                </a:lnTo>
                <a:lnTo>
                  <a:pt x="0" y="0"/>
                </a:lnTo>
                <a:close/>
              </a:path>
            </a:pathLst>
          </a:custGeom>
          <a:blipFill>
            <a:blip r:embed="rId8"/>
            <a:stretch>
              <a:fillRect l="0" t="0" r="0" b="0"/>
            </a:stretch>
          </a:blipFill>
        </p:spPr>
      </p:sp>
      <p:sp>
        <p:nvSpPr>
          <p:cNvPr name="TextBox 13" id="13"/>
          <p:cNvSpPr txBox="true"/>
          <p:nvPr/>
        </p:nvSpPr>
        <p:spPr>
          <a:xfrm rot="0">
            <a:off x="293484" y="573510"/>
            <a:ext cx="7211616"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IV. KẾT QUẢ THỰC HIỆN</a:t>
            </a:r>
          </a:p>
        </p:txBody>
      </p:sp>
      <p:sp>
        <p:nvSpPr>
          <p:cNvPr name="TextBox 14" id="14"/>
          <p:cNvSpPr txBox="true"/>
          <p:nvPr/>
        </p:nvSpPr>
        <p:spPr>
          <a:xfrm rot="0">
            <a:off x="293484" y="1795981"/>
            <a:ext cx="11210173" cy="571500"/>
          </a:xfrm>
          <a:prstGeom prst="rect">
            <a:avLst/>
          </a:prstGeom>
        </p:spPr>
        <p:txBody>
          <a:bodyPr anchor="t" rtlCol="false" tIns="0" lIns="0" bIns="0" rIns="0">
            <a:spAutoFit/>
          </a:bodyPr>
          <a:lstStyle/>
          <a:p>
            <a:pPr algn="l">
              <a:lnSpc>
                <a:spcPts val="4319"/>
              </a:lnSpc>
            </a:pPr>
            <a:r>
              <a:rPr lang="en-US" sz="3599" b="true">
                <a:solidFill>
                  <a:srgbClr val="FF914D"/>
                </a:solidFill>
                <a:latin typeface="Arial Bold"/>
                <a:ea typeface="Arial Bold"/>
                <a:cs typeface="Arial Bold"/>
                <a:sym typeface="Arial Bold"/>
              </a:rPr>
              <a:t>4.4</a:t>
            </a:r>
            <a:r>
              <a:rPr lang="en-US" sz="3599" b="true">
                <a:solidFill>
                  <a:srgbClr val="FF914D"/>
                </a:solidFill>
                <a:latin typeface="Arial Bold"/>
                <a:ea typeface="Arial Bold"/>
                <a:cs typeface="Arial Bold"/>
                <a:sym typeface="Arial Bold"/>
              </a:rPr>
              <a:t>. Kiểm thử trên tập dữ liệu độc lập (Năm 2022)</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19</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Freeform 11" id="11"/>
          <p:cNvSpPr/>
          <p:nvPr/>
        </p:nvSpPr>
        <p:spPr>
          <a:xfrm flipH="false" flipV="false" rot="0">
            <a:off x="3062118" y="2634181"/>
            <a:ext cx="12163763" cy="7138609"/>
          </a:xfrm>
          <a:custGeom>
            <a:avLst/>
            <a:gdLst/>
            <a:ahLst/>
            <a:cxnLst/>
            <a:rect r="r" b="b" t="t" l="l"/>
            <a:pathLst>
              <a:path h="7138609" w="12163763">
                <a:moveTo>
                  <a:pt x="0" y="0"/>
                </a:moveTo>
                <a:lnTo>
                  <a:pt x="12163764" y="0"/>
                </a:lnTo>
                <a:lnTo>
                  <a:pt x="12163764" y="7138608"/>
                </a:lnTo>
                <a:lnTo>
                  <a:pt x="0" y="7138608"/>
                </a:lnTo>
                <a:lnTo>
                  <a:pt x="0" y="0"/>
                </a:lnTo>
                <a:close/>
              </a:path>
            </a:pathLst>
          </a:custGeom>
          <a:blipFill>
            <a:blip r:embed="rId7"/>
            <a:stretch>
              <a:fillRect l="0" t="0" r="0" b="0"/>
            </a:stretch>
          </a:blipFill>
        </p:spPr>
      </p:sp>
      <p:sp>
        <p:nvSpPr>
          <p:cNvPr name="TextBox 12" id="12"/>
          <p:cNvSpPr txBox="true"/>
          <p:nvPr/>
        </p:nvSpPr>
        <p:spPr>
          <a:xfrm rot="0">
            <a:off x="293484" y="573510"/>
            <a:ext cx="7211616"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IV. KẾT QUẢ THỰC HIỆN</a:t>
            </a:r>
          </a:p>
        </p:txBody>
      </p:sp>
      <p:sp>
        <p:nvSpPr>
          <p:cNvPr name="TextBox 13" id="13"/>
          <p:cNvSpPr txBox="true"/>
          <p:nvPr/>
        </p:nvSpPr>
        <p:spPr>
          <a:xfrm rot="0">
            <a:off x="293484" y="1795981"/>
            <a:ext cx="11210173" cy="571500"/>
          </a:xfrm>
          <a:prstGeom prst="rect">
            <a:avLst/>
          </a:prstGeom>
        </p:spPr>
        <p:txBody>
          <a:bodyPr anchor="t" rtlCol="false" tIns="0" lIns="0" bIns="0" rIns="0">
            <a:spAutoFit/>
          </a:bodyPr>
          <a:lstStyle/>
          <a:p>
            <a:pPr algn="l">
              <a:lnSpc>
                <a:spcPts val="4319"/>
              </a:lnSpc>
            </a:pPr>
            <a:r>
              <a:rPr lang="en-US" sz="3599" b="true">
                <a:solidFill>
                  <a:srgbClr val="FF914D"/>
                </a:solidFill>
                <a:latin typeface="Arial Bold"/>
                <a:ea typeface="Arial Bold"/>
                <a:cs typeface="Arial Bold"/>
                <a:sym typeface="Arial Bold"/>
              </a:rPr>
              <a:t>4.5</a:t>
            </a:r>
            <a:r>
              <a:rPr lang="en-US" sz="3599" b="true">
                <a:solidFill>
                  <a:srgbClr val="FF914D"/>
                </a:solidFill>
                <a:latin typeface="Arial Bold"/>
                <a:ea typeface="Arial Bold"/>
                <a:cs typeface="Arial Bold"/>
                <a:sym typeface="Arial Bold"/>
              </a:rPr>
              <a:t>. Khám phá mức độ quan trọng đặc trưng</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20</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Freeform 11" id="11"/>
          <p:cNvSpPr/>
          <p:nvPr/>
        </p:nvSpPr>
        <p:spPr>
          <a:xfrm flipH="false" flipV="false" rot="0">
            <a:off x="3160914" y="2634181"/>
            <a:ext cx="11966171" cy="7015168"/>
          </a:xfrm>
          <a:custGeom>
            <a:avLst/>
            <a:gdLst/>
            <a:ahLst/>
            <a:cxnLst/>
            <a:rect r="r" b="b" t="t" l="l"/>
            <a:pathLst>
              <a:path h="7015168" w="11966171">
                <a:moveTo>
                  <a:pt x="0" y="0"/>
                </a:moveTo>
                <a:lnTo>
                  <a:pt x="11966172" y="0"/>
                </a:lnTo>
                <a:lnTo>
                  <a:pt x="11966172" y="7015168"/>
                </a:lnTo>
                <a:lnTo>
                  <a:pt x="0" y="7015168"/>
                </a:lnTo>
                <a:lnTo>
                  <a:pt x="0" y="0"/>
                </a:lnTo>
                <a:close/>
              </a:path>
            </a:pathLst>
          </a:custGeom>
          <a:blipFill>
            <a:blip r:embed="rId7"/>
            <a:stretch>
              <a:fillRect l="0" t="0" r="0" b="0"/>
            </a:stretch>
          </a:blipFill>
        </p:spPr>
      </p:sp>
      <p:sp>
        <p:nvSpPr>
          <p:cNvPr name="TextBox 12" id="12"/>
          <p:cNvSpPr txBox="true"/>
          <p:nvPr/>
        </p:nvSpPr>
        <p:spPr>
          <a:xfrm rot="0">
            <a:off x="293484" y="573510"/>
            <a:ext cx="7211616"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IV. KẾT QUẢ THỰC HIỆN</a:t>
            </a:r>
          </a:p>
        </p:txBody>
      </p:sp>
      <p:sp>
        <p:nvSpPr>
          <p:cNvPr name="TextBox 13" id="13"/>
          <p:cNvSpPr txBox="true"/>
          <p:nvPr/>
        </p:nvSpPr>
        <p:spPr>
          <a:xfrm rot="0">
            <a:off x="293484" y="1795981"/>
            <a:ext cx="11210173" cy="571500"/>
          </a:xfrm>
          <a:prstGeom prst="rect">
            <a:avLst/>
          </a:prstGeom>
        </p:spPr>
        <p:txBody>
          <a:bodyPr anchor="t" rtlCol="false" tIns="0" lIns="0" bIns="0" rIns="0">
            <a:spAutoFit/>
          </a:bodyPr>
          <a:lstStyle/>
          <a:p>
            <a:pPr algn="l">
              <a:lnSpc>
                <a:spcPts val="4319"/>
              </a:lnSpc>
            </a:pPr>
            <a:r>
              <a:rPr lang="en-US" sz="3599" b="true">
                <a:solidFill>
                  <a:srgbClr val="FF914D"/>
                </a:solidFill>
                <a:latin typeface="Arial Bold"/>
                <a:ea typeface="Arial Bold"/>
                <a:cs typeface="Arial Bold"/>
                <a:sym typeface="Arial Bold"/>
              </a:rPr>
              <a:t>4.5</a:t>
            </a:r>
            <a:r>
              <a:rPr lang="en-US" sz="3599" b="true">
                <a:solidFill>
                  <a:srgbClr val="FF914D"/>
                </a:solidFill>
                <a:latin typeface="Arial Bold"/>
                <a:ea typeface="Arial Bold"/>
                <a:cs typeface="Arial Bold"/>
                <a:sym typeface="Arial Bold"/>
              </a:rPr>
              <a:t>. Khám phá mức độ quan trọng đặc trưng</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21</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Freeform 11" id="11"/>
          <p:cNvSpPr/>
          <p:nvPr/>
        </p:nvSpPr>
        <p:spPr>
          <a:xfrm flipH="false" flipV="false" rot="0">
            <a:off x="3149628" y="2472256"/>
            <a:ext cx="12039225" cy="7471844"/>
          </a:xfrm>
          <a:custGeom>
            <a:avLst/>
            <a:gdLst/>
            <a:ahLst/>
            <a:cxnLst/>
            <a:rect r="r" b="b" t="t" l="l"/>
            <a:pathLst>
              <a:path h="7471844" w="12039225">
                <a:moveTo>
                  <a:pt x="0" y="0"/>
                </a:moveTo>
                <a:lnTo>
                  <a:pt x="12039226" y="0"/>
                </a:lnTo>
                <a:lnTo>
                  <a:pt x="12039226" y="7471844"/>
                </a:lnTo>
                <a:lnTo>
                  <a:pt x="0" y="7471844"/>
                </a:lnTo>
                <a:lnTo>
                  <a:pt x="0" y="0"/>
                </a:lnTo>
                <a:close/>
              </a:path>
            </a:pathLst>
          </a:custGeom>
          <a:blipFill>
            <a:blip r:embed="rId7"/>
            <a:stretch>
              <a:fillRect l="0" t="0" r="0" b="0"/>
            </a:stretch>
          </a:blipFill>
        </p:spPr>
      </p:sp>
      <p:sp>
        <p:nvSpPr>
          <p:cNvPr name="TextBox 12" id="12"/>
          <p:cNvSpPr txBox="true"/>
          <p:nvPr/>
        </p:nvSpPr>
        <p:spPr>
          <a:xfrm rot="0">
            <a:off x="293484" y="573510"/>
            <a:ext cx="7211616"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IV. KẾT QUẢ THỰC HIỆN</a:t>
            </a:r>
          </a:p>
        </p:txBody>
      </p:sp>
      <p:sp>
        <p:nvSpPr>
          <p:cNvPr name="TextBox 13" id="13"/>
          <p:cNvSpPr txBox="true"/>
          <p:nvPr/>
        </p:nvSpPr>
        <p:spPr>
          <a:xfrm rot="0">
            <a:off x="293484" y="1795981"/>
            <a:ext cx="11722188" cy="571500"/>
          </a:xfrm>
          <a:prstGeom prst="rect">
            <a:avLst/>
          </a:prstGeom>
        </p:spPr>
        <p:txBody>
          <a:bodyPr anchor="t" rtlCol="false" tIns="0" lIns="0" bIns="0" rIns="0">
            <a:spAutoFit/>
          </a:bodyPr>
          <a:lstStyle/>
          <a:p>
            <a:pPr algn="l">
              <a:lnSpc>
                <a:spcPts val="4319"/>
              </a:lnSpc>
            </a:pPr>
            <a:r>
              <a:rPr lang="en-US" sz="3599" b="true">
                <a:solidFill>
                  <a:srgbClr val="FF914D"/>
                </a:solidFill>
                <a:latin typeface="Arial Bold"/>
                <a:ea typeface="Arial Bold"/>
                <a:cs typeface="Arial Bold"/>
                <a:sym typeface="Arial Bold"/>
              </a:rPr>
              <a:t>4.6</a:t>
            </a:r>
            <a:r>
              <a:rPr lang="en-US" sz="3599" b="true">
                <a:solidFill>
                  <a:srgbClr val="FF914D"/>
                </a:solidFill>
                <a:latin typeface="Arial Bold"/>
                <a:ea typeface="Arial Bold"/>
                <a:cs typeface="Arial Bold"/>
                <a:sym typeface="Arial Bold"/>
              </a:rPr>
              <a:t>. Một số giao diện hệ thống</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22</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Freeform 11" id="11"/>
          <p:cNvSpPr/>
          <p:nvPr/>
        </p:nvSpPr>
        <p:spPr>
          <a:xfrm flipH="false" flipV="false" rot="0">
            <a:off x="8880585" y="204489"/>
            <a:ext cx="7476411" cy="9877723"/>
          </a:xfrm>
          <a:custGeom>
            <a:avLst/>
            <a:gdLst/>
            <a:ahLst/>
            <a:cxnLst/>
            <a:rect r="r" b="b" t="t" l="l"/>
            <a:pathLst>
              <a:path h="9877723" w="7476411">
                <a:moveTo>
                  <a:pt x="0" y="0"/>
                </a:moveTo>
                <a:lnTo>
                  <a:pt x="7476411" y="0"/>
                </a:lnTo>
                <a:lnTo>
                  <a:pt x="7476411" y="9877723"/>
                </a:lnTo>
                <a:lnTo>
                  <a:pt x="0" y="9877723"/>
                </a:lnTo>
                <a:lnTo>
                  <a:pt x="0" y="0"/>
                </a:lnTo>
                <a:close/>
              </a:path>
            </a:pathLst>
          </a:custGeom>
          <a:blipFill>
            <a:blip r:embed="rId7"/>
            <a:stretch>
              <a:fillRect l="0" t="-6933" r="0" b="-12733"/>
            </a:stretch>
          </a:blipFill>
        </p:spPr>
      </p:sp>
      <p:sp>
        <p:nvSpPr>
          <p:cNvPr name="TextBox 12" id="12"/>
          <p:cNvSpPr txBox="true"/>
          <p:nvPr/>
        </p:nvSpPr>
        <p:spPr>
          <a:xfrm rot="0">
            <a:off x="293484" y="573510"/>
            <a:ext cx="7211616"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IV. KẾT QUẢ THỰC HIỆN</a:t>
            </a:r>
          </a:p>
        </p:txBody>
      </p:sp>
      <p:sp>
        <p:nvSpPr>
          <p:cNvPr name="TextBox 13" id="13"/>
          <p:cNvSpPr txBox="true"/>
          <p:nvPr/>
        </p:nvSpPr>
        <p:spPr>
          <a:xfrm rot="0">
            <a:off x="293484" y="1795981"/>
            <a:ext cx="11722188" cy="571500"/>
          </a:xfrm>
          <a:prstGeom prst="rect">
            <a:avLst/>
          </a:prstGeom>
        </p:spPr>
        <p:txBody>
          <a:bodyPr anchor="t" rtlCol="false" tIns="0" lIns="0" bIns="0" rIns="0">
            <a:spAutoFit/>
          </a:bodyPr>
          <a:lstStyle/>
          <a:p>
            <a:pPr algn="l">
              <a:lnSpc>
                <a:spcPts val="4319"/>
              </a:lnSpc>
            </a:pPr>
            <a:r>
              <a:rPr lang="en-US" sz="3599" b="true">
                <a:solidFill>
                  <a:srgbClr val="FF914D"/>
                </a:solidFill>
                <a:latin typeface="Arial Bold"/>
                <a:ea typeface="Arial Bold"/>
                <a:cs typeface="Arial Bold"/>
                <a:sym typeface="Arial Bold"/>
              </a:rPr>
              <a:t>4.6</a:t>
            </a:r>
            <a:r>
              <a:rPr lang="en-US" sz="3599" b="true">
                <a:solidFill>
                  <a:srgbClr val="FF914D"/>
                </a:solidFill>
                <a:latin typeface="Arial Bold"/>
                <a:ea typeface="Arial Bold"/>
                <a:cs typeface="Arial Bold"/>
                <a:sym typeface="Arial Bold"/>
              </a:rPr>
              <a:t>. Một số giao diện hệ thống</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23</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Freeform 11" id="11"/>
          <p:cNvSpPr/>
          <p:nvPr/>
        </p:nvSpPr>
        <p:spPr>
          <a:xfrm flipH="false" flipV="false" rot="0">
            <a:off x="9661115" y="342900"/>
            <a:ext cx="8566970" cy="4994735"/>
          </a:xfrm>
          <a:custGeom>
            <a:avLst/>
            <a:gdLst/>
            <a:ahLst/>
            <a:cxnLst/>
            <a:rect r="r" b="b" t="t" l="l"/>
            <a:pathLst>
              <a:path h="4994735" w="8566970">
                <a:moveTo>
                  <a:pt x="0" y="0"/>
                </a:moveTo>
                <a:lnTo>
                  <a:pt x="8566970" y="0"/>
                </a:lnTo>
                <a:lnTo>
                  <a:pt x="8566970" y="4994735"/>
                </a:lnTo>
                <a:lnTo>
                  <a:pt x="0" y="4994735"/>
                </a:lnTo>
                <a:lnTo>
                  <a:pt x="0" y="0"/>
                </a:lnTo>
                <a:close/>
              </a:path>
            </a:pathLst>
          </a:custGeom>
          <a:blipFill>
            <a:blip r:embed="rId7"/>
            <a:stretch>
              <a:fillRect l="0" t="0" r="0" b="0"/>
            </a:stretch>
          </a:blipFill>
        </p:spPr>
      </p:sp>
      <p:sp>
        <p:nvSpPr>
          <p:cNvPr name="Freeform 12" id="12"/>
          <p:cNvSpPr/>
          <p:nvPr/>
        </p:nvSpPr>
        <p:spPr>
          <a:xfrm flipH="false" flipV="false" rot="0">
            <a:off x="302139" y="2872306"/>
            <a:ext cx="9042499" cy="6385994"/>
          </a:xfrm>
          <a:custGeom>
            <a:avLst/>
            <a:gdLst/>
            <a:ahLst/>
            <a:cxnLst/>
            <a:rect r="r" b="b" t="t" l="l"/>
            <a:pathLst>
              <a:path h="6385994" w="9042499">
                <a:moveTo>
                  <a:pt x="0" y="0"/>
                </a:moveTo>
                <a:lnTo>
                  <a:pt x="9042498" y="0"/>
                </a:lnTo>
                <a:lnTo>
                  <a:pt x="9042498" y="6385994"/>
                </a:lnTo>
                <a:lnTo>
                  <a:pt x="0" y="6385994"/>
                </a:lnTo>
                <a:lnTo>
                  <a:pt x="0" y="0"/>
                </a:lnTo>
                <a:close/>
              </a:path>
            </a:pathLst>
          </a:custGeom>
          <a:blipFill>
            <a:blip r:embed="rId8"/>
            <a:stretch>
              <a:fillRect l="0" t="0" r="0" b="0"/>
            </a:stretch>
          </a:blipFill>
        </p:spPr>
      </p:sp>
      <p:sp>
        <p:nvSpPr>
          <p:cNvPr name="TextBox 13" id="13"/>
          <p:cNvSpPr txBox="true"/>
          <p:nvPr/>
        </p:nvSpPr>
        <p:spPr>
          <a:xfrm rot="0">
            <a:off x="293484" y="573510"/>
            <a:ext cx="7211616"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IV. KẾT QUẢ THỰC HIỆN</a:t>
            </a:r>
          </a:p>
        </p:txBody>
      </p:sp>
      <p:sp>
        <p:nvSpPr>
          <p:cNvPr name="TextBox 14" id="14"/>
          <p:cNvSpPr txBox="true"/>
          <p:nvPr/>
        </p:nvSpPr>
        <p:spPr>
          <a:xfrm rot="0">
            <a:off x="293484" y="1795981"/>
            <a:ext cx="11722188" cy="571500"/>
          </a:xfrm>
          <a:prstGeom prst="rect">
            <a:avLst/>
          </a:prstGeom>
        </p:spPr>
        <p:txBody>
          <a:bodyPr anchor="t" rtlCol="false" tIns="0" lIns="0" bIns="0" rIns="0">
            <a:spAutoFit/>
          </a:bodyPr>
          <a:lstStyle/>
          <a:p>
            <a:pPr algn="l">
              <a:lnSpc>
                <a:spcPts val="4319"/>
              </a:lnSpc>
            </a:pPr>
            <a:r>
              <a:rPr lang="en-US" sz="3599" b="true">
                <a:solidFill>
                  <a:srgbClr val="FF914D"/>
                </a:solidFill>
                <a:latin typeface="Arial Bold"/>
                <a:ea typeface="Arial Bold"/>
                <a:cs typeface="Arial Bold"/>
                <a:sym typeface="Arial Bold"/>
              </a:rPr>
              <a:t>4.6</a:t>
            </a:r>
            <a:r>
              <a:rPr lang="en-US" sz="3599" b="true">
                <a:solidFill>
                  <a:srgbClr val="FF914D"/>
                </a:solidFill>
                <a:latin typeface="Arial Bold"/>
                <a:ea typeface="Arial Bold"/>
                <a:cs typeface="Arial Bold"/>
                <a:sym typeface="Arial Bold"/>
              </a:rPr>
              <a:t>. Một số giao diện hệ thống</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24</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Freeform 11" id="11"/>
          <p:cNvSpPr/>
          <p:nvPr/>
        </p:nvSpPr>
        <p:spPr>
          <a:xfrm flipH="false" flipV="false" rot="0">
            <a:off x="1196505" y="3661164"/>
            <a:ext cx="16062795" cy="4579678"/>
          </a:xfrm>
          <a:custGeom>
            <a:avLst/>
            <a:gdLst/>
            <a:ahLst/>
            <a:cxnLst/>
            <a:rect r="r" b="b" t="t" l="l"/>
            <a:pathLst>
              <a:path h="4579678" w="16062795">
                <a:moveTo>
                  <a:pt x="0" y="0"/>
                </a:moveTo>
                <a:lnTo>
                  <a:pt x="16062795" y="0"/>
                </a:lnTo>
                <a:lnTo>
                  <a:pt x="16062795" y="4579678"/>
                </a:lnTo>
                <a:lnTo>
                  <a:pt x="0" y="4579678"/>
                </a:lnTo>
                <a:lnTo>
                  <a:pt x="0" y="0"/>
                </a:lnTo>
                <a:close/>
              </a:path>
            </a:pathLst>
          </a:custGeom>
          <a:blipFill>
            <a:blip r:embed="rId7"/>
            <a:stretch>
              <a:fillRect l="0" t="0" r="0" b="0"/>
            </a:stretch>
          </a:blipFill>
        </p:spPr>
      </p:sp>
      <p:sp>
        <p:nvSpPr>
          <p:cNvPr name="TextBox 12" id="12"/>
          <p:cNvSpPr txBox="true"/>
          <p:nvPr/>
        </p:nvSpPr>
        <p:spPr>
          <a:xfrm rot="0">
            <a:off x="293484" y="573510"/>
            <a:ext cx="7211616"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IV. KẾT QUẢ THỰC HIỆN</a:t>
            </a:r>
          </a:p>
        </p:txBody>
      </p:sp>
      <p:sp>
        <p:nvSpPr>
          <p:cNvPr name="TextBox 13" id="13"/>
          <p:cNvSpPr txBox="true"/>
          <p:nvPr/>
        </p:nvSpPr>
        <p:spPr>
          <a:xfrm rot="0">
            <a:off x="293484" y="1795981"/>
            <a:ext cx="11722188" cy="571500"/>
          </a:xfrm>
          <a:prstGeom prst="rect">
            <a:avLst/>
          </a:prstGeom>
        </p:spPr>
        <p:txBody>
          <a:bodyPr anchor="t" rtlCol="false" tIns="0" lIns="0" bIns="0" rIns="0">
            <a:spAutoFit/>
          </a:bodyPr>
          <a:lstStyle/>
          <a:p>
            <a:pPr algn="l">
              <a:lnSpc>
                <a:spcPts val="4319"/>
              </a:lnSpc>
            </a:pPr>
            <a:r>
              <a:rPr lang="en-US" sz="3599" b="true">
                <a:solidFill>
                  <a:srgbClr val="FF914D"/>
                </a:solidFill>
                <a:latin typeface="Arial Bold"/>
                <a:ea typeface="Arial Bold"/>
                <a:cs typeface="Arial Bold"/>
                <a:sym typeface="Arial Bold"/>
              </a:rPr>
              <a:t>4.7</a:t>
            </a:r>
            <a:r>
              <a:rPr lang="en-US" sz="3599" b="true">
                <a:solidFill>
                  <a:srgbClr val="FF914D"/>
                </a:solidFill>
                <a:latin typeface="Arial Bold"/>
                <a:ea typeface="Arial Bold"/>
                <a:cs typeface="Arial Bold"/>
                <a:sym typeface="Arial Bold"/>
              </a:rPr>
              <a:t>. Kiến trúc triển khai vận hành thực tế</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25</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Freeform 11" id="11"/>
          <p:cNvSpPr/>
          <p:nvPr/>
        </p:nvSpPr>
        <p:spPr>
          <a:xfrm flipH="false" flipV="false" rot="0">
            <a:off x="1511905" y="3052699"/>
            <a:ext cx="15264190" cy="6415151"/>
          </a:xfrm>
          <a:custGeom>
            <a:avLst/>
            <a:gdLst/>
            <a:ahLst/>
            <a:cxnLst/>
            <a:rect r="r" b="b" t="t" l="l"/>
            <a:pathLst>
              <a:path h="6415151" w="15264190">
                <a:moveTo>
                  <a:pt x="0" y="0"/>
                </a:moveTo>
                <a:lnTo>
                  <a:pt x="15264190" y="0"/>
                </a:lnTo>
                <a:lnTo>
                  <a:pt x="15264190" y="6415151"/>
                </a:lnTo>
                <a:lnTo>
                  <a:pt x="0" y="6415151"/>
                </a:lnTo>
                <a:lnTo>
                  <a:pt x="0" y="0"/>
                </a:lnTo>
                <a:close/>
              </a:path>
            </a:pathLst>
          </a:custGeom>
          <a:blipFill>
            <a:blip r:embed="rId7"/>
            <a:stretch>
              <a:fillRect l="0" t="0" r="0" b="0"/>
            </a:stretch>
          </a:blipFill>
        </p:spPr>
      </p:sp>
      <p:sp>
        <p:nvSpPr>
          <p:cNvPr name="TextBox 12" id="12"/>
          <p:cNvSpPr txBox="true"/>
          <p:nvPr/>
        </p:nvSpPr>
        <p:spPr>
          <a:xfrm rot="0">
            <a:off x="293484" y="573510"/>
            <a:ext cx="7211616"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IV. KẾT QUẢ THỰC HIỆN</a:t>
            </a:r>
          </a:p>
        </p:txBody>
      </p:sp>
      <p:sp>
        <p:nvSpPr>
          <p:cNvPr name="TextBox 13" id="13"/>
          <p:cNvSpPr txBox="true"/>
          <p:nvPr/>
        </p:nvSpPr>
        <p:spPr>
          <a:xfrm rot="0">
            <a:off x="293484" y="1795981"/>
            <a:ext cx="11722188" cy="571500"/>
          </a:xfrm>
          <a:prstGeom prst="rect">
            <a:avLst/>
          </a:prstGeom>
        </p:spPr>
        <p:txBody>
          <a:bodyPr anchor="t" rtlCol="false" tIns="0" lIns="0" bIns="0" rIns="0">
            <a:spAutoFit/>
          </a:bodyPr>
          <a:lstStyle/>
          <a:p>
            <a:pPr algn="l">
              <a:lnSpc>
                <a:spcPts val="4319"/>
              </a:lnSpc>
            </a:pPr>
            <a:r>
              <a:rPr lang="en-US" sz="3599" b="true">
                <a:solidFill>
                  <a:srgbClr val="FF914D"/>
                </a:solidFill>
                <a:latin typeface="Arial Bold"/>
                <a:ea typeface="Arial Bold"/>
                <a:cs typeface="Arial Bold"/>
                <a:sym typeface="Arial Bold"/>
              </a:rPr>
              <a:t>4.7</a:t>
            </a:r>
            <a:r>
              <a:rPr lang="en-US" sz="3599" b="true">
                <a:solidFill>
                  <a:srgbClr val="FF914D"/>
                </a:solidFill>
                <a:latin typeface="Arial Bold"/>
                <a:ea typeface="Arial Bold"/>
                <a:cs typeface="Arial Bold"/>
                <a:sym typeface="Arial Bold"/>
              </a:rPr>
              <a:t>. Kiến trúc triển khai vận hành thực tế</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26</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Freeform 11" id="11"/>
          <p:cNvSpPr/>
          <p:nvPr/>
        </p:nvSpPr>
        <p:spPr>
          <a:xfrm flipH="false" flipV="false" rot="0">
            <a:off x="1492213" y="2808012"/>
            <a:ext cx="15303574" cy="6900344"/>
          </a:xfrm>
          <a:custGeom>
            <a:avLst/>
            <a:gdLst/>
            <a:ahLst/>
            <a:cxnLst/>
            <a:rect r="r" b="b" t="t" l="l"/>
            <a:pathLst>
              <a:path h="6900344" w="15303574">
                <a:moveTo>
                  <a:pt x="0" y="0"/>
                </a:moveTo>
                <a:lnTo>
                  <a:pt x="15303574" y="0"/>
                </a:lnTo>
                <a:lnTo>
                  <a:pt x="15303574" y="6900344"/>
                </a:lnTo>
                <a:lnTo>
                  <a:pt x="0" y="6900344"/>
                </a:lnTo>
                <a:lnTo>
                  <a:pt x="0" y="0"/>
                </a:lnTo>
                <a:close/>
              </a:path>
            </a:pathLst>
          </a:custGeom>
          <a:blipFill>
            <a:blip r:embed="rId7"/>
            <a:stretch>
              <a:fillRect l="0" t="0" r="0" b="0"/>
            </a:stretch>
          </a:blipFill>
        </p:spPr>
      </p:sp>
      <p:sp>
        <p:nvSpPr>
          <p:cNvPr name="TextBox 12" id="12"/>
          <p:cNvSpPr txBox="true"/>
          <p:nvPr/>
        </p:nvSpPr>
        <p:spPr>
          <a:xfrm rot="0">
            <a:off x="293484" y="573510"/>
            <a:ext cx="7211616" cy="742950"/>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IV. KẾT QUẢ THỰC HIỆN</a:t>
            </a:r>
          </a:p>
        </p:txBody>
      </p:sp>
      <p:sp>
        <p:nvSpPr>
          <p:cNvPr name="TextBox 13" id="13"/>
          <p:cNvSpPr txBox="true"/>
          <p:nvPr/>
        </p:nvSpPr>
        <p:spPr>
          <a:xfrm rot="0">
            <a:off x="293484" y="1795981"/>
            <a:ext cx="11722188" cy="571500"/>
          </a:xfrm>
          <a:prstGeom prst="rect">
            <a:avLst/>
          </a:prstGeom>
        </p:spPr>
        <p:txBody>
          <a:bodyPr anchor="t" rtlCol="false" tIns="0" lIns="0" bIns="0" rIns="0">
            <a:spAutoFit/>
          </a:bodyPr>
          <a:lstStyle/>
          <a:p>
            <a:pPr algn="l">
              <a:lnSpc>
                <a:spcPts val="4319"/>
              </a:lnSpc>
            </a:pPr>
            <a:r>
              <a:rPr lang="en-US" sz="3599" b="true">
                <a:solidFill>
                  <a:srgbClr val="FF914D"/>
                </a:solidFill>
                <a:latin typeface="Arial Bold"/>
                <a:ea typeface="Arial Bold"/>
                <a:cs typeface="Arial Bold"/>
                <a:sym typeface="Arial Bold"/>
              </a:rPr>
              <a:t>4.7</a:t>
            </a:r>
            <a:r>
              <a:rPr lang="en-US" sz="3599" b="true">
                <a:solidFill>
                  <a:srgbClr val="FF914D"/>
                </a:solidFill>
                <a:latin typeface="Arial Bold"/>
                <a:ea typeface="Arial Bold"/>
                <a:cs typeface="Arial Bold"/>
                <a:sym typeface="Arial Bold"/>
              </a:rPr>
              <a:t>. Kiến trúc triển khai vận hành thực tế</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27</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grpSp>
        <p:nvGrpSpPr>
          <p:cNvPr name="Group 11" id="11"/>
          <p:cNvGrpSpPr/>
          <p:nvPr/>
        </p:nvGrpSpPr>
        <p:grpSpPr>
          <a:xfrm rot="0">
            <a:off x="6766554" y="1902133"/>
            <a:ext cx="4754892" cy="1543050"/>
            <a:chOff x="0" y="0"/>
            <a:chExt cx="1252317" cy="406400"/>
          </a:xfrm>
        </p:grpSpPr>
        <p:sp>
          <p:nvSpPr>
            <p:cNvPr name="Freeform 12" id="12"/>
            <p:cNvSpPr/>
            <p:nvPr/>
          </p:nvSpPr>
          <p:spPr>
            <a:xfrm flipH="false" flipV="false" rot="0">
              <a:off x="0" y="0"/>
              <a:ext cx="1252317" cy="406400"/>
            </a:xfrm>
            <a:custGeom>
              <a:avLst/>
              <a:gdLst/>
              <a:ahLst/>
              <a:cxnLst/>
              <a:rect r="r" b="b" t="t" l="l"/>
              <a:pathLst>
                <a:path h="406400" w="1252317">
                  <a:moveTo>
                    <a:pt x="83038" y="0"/>
                  </a:moveTo>
                  <a:lnTo>
                    <a:pt x="1169279" y="0"/>
                  </a:lnTo>
                  <a:cubicBezTo>
                    <a:pt x="1191302" y="0"/>
                    <a:pt x="1212423" y="8749"/>
                    <a:pt x="1227996" y="24321"/>
                  </a:cubicBezTo>
                  <a:cubicBezTo>
                    <a:pt x="1243568" y="39894"/>
                    <a:pt x="1252317" y="61015"/>
                    <a:pt x="1252317" y="83038"/>
                  </a:cubicBezTo>
                  <a:lnTo>
                    <a:pt x="1252317" y="323362"/>
                  </a:lnTo>
                  <a:cubicBezTo>
                    <a:pt x="1252317" y="369222"/>
                    <a:pt x="1215140" y="406400"/>
                    <a:pt x="1169279" y="406400"/>
                  </a:cubicBezTo>
                  <a:lnTo>
                    <a:pt x="83038" y="406400"/>
                  </a:lnTo>
                  <a:cubicBezTo>
                    <a:pt x="37177" y="406400"/>
                    <a:pt x="0" y="369222"/>
                    <a:pt x="0" y="323362"/>
                  </a:cubicBezTo>
                  <a:lnTo>
                    <a:pt x="0" y="83038"/>
                  </a:lnTo>
                  <a:cubicBezTo>
                    <a:pt x="0" y="37177"/>
                    <a:pt x="37177" y="0"/>
                    <a:pt x="83038" y="0"/>
                  </a:cubicBezTo>
                  <a:close/>
                </a:path>
              </a:pathLst>
            </a:custGeom>
            <a:solidFill>
              <a:srgbClr val="053384"/>
            </a:solidFill>
          </p:spPr>
        </p:sp>
        <p:sp>
          <p:nvSpPr>
            <p:cNvPr name="TextBox 13" id="13"/>
            <p:cNvSpPr txBox="true"/>
            <p:nvPr/>
          </p:nvSpPr>
          <p:spPr>
            <a:xfrm>
              <a:off x="0" y="-9525"/>
              <a:ext cx="1252317" cy="415925"/>
            </a:xfrm>
            <a:prstGeom prst="rect">
              <a:avLst/>
            </a:prstGeom>
          </p:spPr>
          <p:txBody>
            <a:bodyPr anchor="ctr" rtlCol="false" tIns="50800" lIns="50800" bIns="50800" rIns="50800"/>
            <a:lstStyle/>
            <a:p>
              <a:pPr algn="ctr">
                <a:lnSpc>
                  <a:spcPts val="3599"/>
                </a:lnSpc>
              </a:pPr>
              <a:r>
                <a:rPr lang="en-US" b="true" sz="2999">
                  <a:solidFill>
                    <a:srgbClr val="FFFFFF"/>
                  </a:solidFill>
                  <a:latin typeface="Arial Bold"/>
                  <a:ea typeface="Arial Bold"/>
                  <a:cs typeface="Arial Bold"/>
                  <a:sym typeface="Arial Bold"/>
                </a:rPr>
                <a:t>Về hệ thống và dữ liệu</a:t>
              </a:r>
            </a:p>
          </p:txBody>
        </p:sp>
      </p:grpSp>
      <p:grpSp>
        <p:nvGrpSpPr>
          <p:cNvPr name="Group 14" id="14"/>
          <p:cNvGrpSpPr/>
          <p:nvPr/>
        </p:nvGrpSpPr>
        <p:grpSpPr>
          <a:xfrm rot="0">
            <a:off x="555592" y="5143500"/>
            <a:ext cx="2211250" cy="2982382"/>
            <a:chOff x="0" y="0"/>
            <a:chExt cx="728014" cy="981895"/>
          </a:xfrm>
        </p:grpSpPr>
        <p:sp>
          <p:nvSpPr>
            <p:cNvPr name="Freeform 15" id="15"/>
            <p:cNvSpPr/>
            <p:nvPr/>
          </p:nvSpPr>
          <p:spPr>
            <a:xfrm flipH="false" flipV="false" rot="0">
              <a:off x="0" y="0"/>
              <a:ext cx="728014" cy="981895"/>
            </a:xfrm>
            <a:custGeom>
              <a:avLst/>
              <a:gdLst/>
              <a:ahLst/>
              <a:cxnLst/>
              <a:rect r="r" b="b" t="t" l="l"/>
              <a:pathLst>
                <a:path h="981895" w="728014">
                  <a:moveTo>
                    <a:pt x="178559" y="0"/>
                  </a:moveTo>
                  <a:lnTo>
                    <a:pt x="549455" y="0"/>
                  </a:lnTo>
                  <a:cubicBezTo>
                    <a:pt x="596812" y="0"/>
                    <a:pt x="642229" y="18812"/>
                    <a:pt x="675715" y="52299"/>
                  </a:cubicBezTo>
                  <a:cubicBezTo>
                    <a:pt x="709201" y="85785"/>
                    <a:pt x="728014" y="131202"/>
                    <a:pt x="728014" y="178559"/>
                  </a:cubicBezTo>
                  <a:lnTo>
                    <a:pt x="728014" y="803336"/>
                  </a:lnTo>
                  <a:cubicBezTo>
                    <a:pt x="728014" y="850693"/>
                    <a:pt x="709201" y="896110"/>
                    <a:pt x="675715" y="929596"/>
                  </a:cubicBezTo>
                  <a:cubicBezTo>
                    <a:pt x="642229" y="963083"/>
                    <a:pt x="596812" y="981895"/>
                    <a:pt x="549455" y="981895"/>
                  </a:cubicBezTo>
                  <a:lnTo>
                    <a:pt x="178559" y="981895"/>
                  </a:lnTo>
                  <a:cubicBezTo>
                    <a:pt x="131202" y="981895"/>
                    <a:pt x="85785" y="963083"/>
                    <a:pt x="52299" y="929596"/>
                  </a:cubicBezTo>
                  <a:cubicBezTo>
                    <a:pt x="18812" y="896110"/>
                    <a:pt x="0" y="850693"/>
                    <a:pt x="0" y="803336"/>
                  </a:cubicBezTo>
                  <a:lnTo>
                    <a:pt x="0" y="178559"/>
                  </a:lnTo>
                  <a:cubicBezTo>
                    <a:pt x="0" y="131202"/>
                    <a:pt x="18812" y="85785"/>
                    <a:pt x="52299" y="52299"/>
                  </a:cubicBezTo>
                  <a:cubicBezTo>
                    <a:pt x="85785" y="18812"/>
                    <a:pt x="131202" y="0"/>
                    <a:pt x="178559" y="0"/>
                  </a:cubicBezTo>
                  <a:close/>
                </a:path>
              </a:pathLst>
            </a:custGeom>
            <a:solidFill>
              <a:srgbClr val="FFFFFF"/>
            </a:solidFill>
            <a:ln w="38100" cap="rnd">
              <a:solidFill>
                <a:srgbClr val="000000"/>
              </a:solidFill>
              <a:prstDash val="solid"/>
              <a:round/>
            </a:ln>
          </p:spPr>
        </p:sp>
        <p:sp>
          <p:nvSpPr>
            <p:cNvPr name="TextBox 16" id="16"/>
            <p:cNvSpPr txBox="true"/>
            <p:nvPr/>
          </p:nvSpPr>
          <p:spPr>
            <a:xfrm>
              <a:off x="0" y="-76200"/>
              <a:ext cx="728014" cy="1058095"/>
            </a:xfrm>
            <a:prstGeom prst="rect">
              <a:avLst/>
            </a:prstGeom>
          </p:spPr>
          <p:txBody>
            <a:bodyPr anchor="ctr" rtlCol="false" tIns="50800" lIns="50800" bIns="50800" rIns="50800"/>
            <a:lstStyle/>
            <a:p>
              <a:pPr algn="just">
                <a:lnSpc>
                  <a:spcPts val="2700"/>
                </a:lnSpc>
              </a:pPr>
              <a:r>
                <a:rPr lang="en-US" sz="1800">
                  <a:solidFill>
                    <a:srgbClr val="000000"/>
                  </a:solidFill>
                  <a:latin typeface="Arial"/>
                  <a:ea typeface="Arial"/>
                  <a:cs typeface="Arial"/>
                  <a:sym typeface="Arial"/>
                </a:rPr>
                <a:t>Tích hợp 3 nguồn dữ liệu (WHO FluNet, OpenDengue v1.3, ERA5 - 17 biến khí hậu) vào một khung thống nhất.</a:t>
              </a:r>
            </a:p>
          </p:txBody>
        </p:sp>
      </p:grpSp>
      <p:sp>
        <p:nvSpPr>
          <p:cNvPr name="TextBox 17" id="17"/>
          <p:cNvSpPr txBox="true"/>
          <p:nvPr/>
        </p:nvSpPr>
        <p:spPr>
          <a:xfrm rot="0">
            <a:off x="293484" y="573510"/>
            <a:ext cx="17303001" cy="804777"/>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V. KẾT LUẬN VÀ HƯỚNG PHÁT TRIỂN</a:t>
            </a:r>
          </a:p>
        </p:txBody>
      </p:sp>
      <p:sp>
        <p:nvSpPr>
          <p:cNvPr name="TextBox 18" id="18"/>
          <p:cNvSpPr txBox="true"/>
          <p:nvPr/>
        </p:nvSpPr>
        <p:spPr>
          <a:xfrm rot="0">
            <a:off x="293484" y="1873558"/>
            <a:ext cx="11210173" cy="571500"/>
          </a:xfrm>
          <a:prstGeom prst="rect">
            <a:avLst/>
          </a:prstGeom>
        </p:spPr>
        <p:txBody>
          <a:bodyPr anchor="t" rtlCol="false" tIns="0" lIns="0" bIns="0" rIns="0">
            <a:spAutoFit/>
          </a:bodyPr>
          <a:lstStyle/>
          <a:p>
            <a:pPr algn="l">
              <a:lnSpc>
                <a:spcPts val="4319"/>
              </a:lnSpc>
            </a:pPr>
            <a:r>
              <a:rPr lang="en-US" sz="3599" b="true">
                <a:solidFill>
                  <a:srgbClr val="FF751F"/>
                </a:solidFill>
                <a:latin typeface="Arial Bold"/>
                <a:ea typeface="Arial Bold"/>
                <a:cs typeface="Arial Bold"/>
                <a:sym typeface="Arial Bold"/>
              </a:rPr>
              <a:t>5.1. Kết quả đạt được</a:t>
            </a:r>
          </a:p>
        </p:txBody>
      </p:sp>
      <p:grpSp>
        <p:nvGrpSpPr>
          <p:cNvPr name="Group 19" id="19"/>
          <p:cNvGrpSpPr/>
          <p:nvPr/>
        </p:nvGrpSpPr>
        <p:grpSpPr>
          <a:xfrm rot="0">
            <a:off x="3049291" y="5143500"/>
            <a:ext cx="2211250" cy="2982382"/>
            <a:chOff x="0" y="0"/>
            <a:chExt cx="728014" cy="981895"/>
          </a:xfrm>
        </p:grpSpPr>
        <p:sp>
          <p:nvSpPr>
            <p:cNvPr name="Freeform 20" id="20"/>
            <p:cNvSpPr/>
            <p:nvPr/>
          </p:nvSpPr>
          <p:spPr>
            <a:xfrm flipH="false" flipV="false" rot="0">
              <a:off x="0" y="0"/>
              <a:ext cx="728014" cy="981895"/>
            </a:xfrm>
            <a:custGeom>
              <a:avLst/>
              <a:gdLst/>
              <a:ahLst/>
              <a:cxnLst/>
              <a:rect r="r" b="b" t="t" l="l"/>
              <a:pathLst>
                <a:path h="981895" w="728014">
                  <a:moveTo>
                    <a:pt x="178559" y="0"/>
                  </a:moveTo>
                  <a:lnTo>
                    <a:pt x="549455" y="0"/>
                  </a:lnTo>
                  <a:cubicBezTo>
                    <a:pt x="596812" y="0"/>
                    <a:pt x="642229" y="18812"/>
                    <a:pt x="675715" y="52299"/>
                  </a:cubicBezTo>
                  <a:cubicBezTo>
                    <a:pt x="709201" y="85785"/>
                    <a:pt x="728014" y="131202"/>
                    <a:pt x="728014" y="178559"/>
                  </a:cubicBezTo>
                  <a:lnTo>
                    <a:pt x="728014" y="803336"/>
                  </a:lnTo>
                  <a:cubicBezTo>
                    <a:pt x="728014" y="850693"/>
                    <a:pt x="709201" y="896110"/>
                    <a:pt x="675715" y="929596"/>
                  </a:cubicBezTo>
                  <a:cubicBezTo>
                    <a:pt x="642229" y="963083"/>
                    <a:pt x="596812" y="981895"/>
                    <a:pt x="549455" y="981895"/>
                  </a:cubicBezTo>
                  <a:lnTo>
                    <a:pt x="178559" y="981895"/>
                  </a:lnTo>
                  <a:cubicBezTo>
                    <a:pt x="131202" y="981895"/>
                    <a:pt x="85785" y="963083"/>
                    <a:pt x="52299" y="929596"/>
                  </a:cubicBezTo>
                  <a:cubicBezTo>
                    <a:pt x="18812" y="896110"/>
                    <a:pt x="0" y="850693"/>
                    <a:pt x="0" y="803336"/>
                  </a:cubicBezTo>
                  <a:lnTo>
                    <a:pt x="0" y="178559"/>
                  </a:lnTo>
                  <a:cubicBezTo>
                    <a:pt x="0" y="131202"/>
                    <a:pt x="18812" y="85785"/>
                    <a:pt x="52299" y="52299"/>
                  </a:cubicBezTo>
                  <a:cubicBezTo>
                    <a:pt x="85785" y="18812"/>
                    <a:pt x="131202" y="0"/>
                    <a:pt x="178559" y="0"/>
                  </a:cubicBezTo>
                  <a:close/>
                </a:path>
              </a:pathLst>
            </a:custGeom>
            <a:solidFill>
              <a:srgbClr val="FFFFFF"/>
            </a:solidFill>
            <a:ln w="38100" cap="rnd">
              <a:solidFill>
                <a:srgbClr val="000000"/>
              </a:solidFill>
              <a:prstDash val="solid"/>
              <a:round/>
            </a:ln>
          </p:spPr>
        </p:sp>
        <p:sp>
          <p:nvSpPr>
            <p:cNvPr name="TextBox 21" id="21"/>
            <p:cNvSpPr txBox="true"/>
            <p:nvPr/>
          </p:nvSpPr>
          <p:spPr>
            <a:xfrm>
              <a:off x="0" y="-76200"/>
              <a:ext cx="728014" cy="1058095"/>
            </a:xfrm>
            <a:prstGeom prst="rect">
              <a:avLst/>
            </a:prstGeom>
          </p:spPr>
          <p:txBody>
            <a:bodyPr anchor="ctr" rtlCol="false" tIns="50800" lIns="50800" bIns="50800" rIns="50800"/>
            <a:lstStyle/>
            <a:p>
              <a:pPr algn="just">
                <a:lnSpc>
                  <a:spcPts val="2700"/>
                </a:lnSpc>
              </a:pPr>
              <a:r>
                <a:rPr lang="en-US" sz="1800">
                  <a:solidFill>
                    <a:srgbClr val="000000"/>
                  </a:solidFill>
                  <a:latin typeface="Arial"/>
                  <a:ea typeface="Arial"/>
                  <a:cs typeface="Arial"/>
                  <a:sym typeface="Arial"/>
                </a:rPr>
                <a:t>Xây dựng CSDL PostgreSQL 15 bảng, dùng KD-Tree để ánh xạ về 197 quốc gia.</a:t>
              </a:r>
            </a:p>
          </p:txBody>
        </p:sp>
      </p:grpSp>
      <p:grpSp>
        <p:nvGrpSpPr>
          <p:cNvPr name="Group 22" id="22"/>
          <p:cNvGrpSpPr/>
          <p:nvPr/>
        </p:nvGrpSpPr>
        <p:grpSpPr>
          <a:xfrm rot="0">
            <a:off x="5543008" y="5143500"/>
            <a:ext cx="2211250" cy="2982382"/>
            <a:chOff x="0" y="0"/>
            <a:chExt cx="728014" cy="981895"/>
          </a:xfrm>
        </p:grpSpPr>
        <p:sp>
          <p:nvSpPr>
            <p:cNvPr name="Freeform 23" id="23"/>
            <p:cNvSpPr/>
            <p:nvPr/>
          </p:nvSpPr>
          <p:spPr>
            <a:xfrm flipH="false" flipV="false" rot="0">
              <a:off x="0" y="0"/>
              <a:ext cx="728014" cy="981895"/>
            </a:xfrm>
            <a:custGeom>
              <a:avLst/>
              <a:gdLst/>
              <a:ahLst/>
              <a:cxnLst/>
              <a:rect r="r" b="b" t="t" l="l"/>
              <a:pathLst>
                <a:path h="981895" w="728014">
                  <a:moveTo>
                    <a:pt x="178559" y="0"/>
                  </a:moveTo>
                  <a:lnTo>
                    <a:pt x="549455" y="0"/>
                  </a:lnTo>
                  <a:cubicBezTo>
                    <a:pt x="596812" y="0"/>
                    <a:pt x="642229" y="18812"/>
                    <a:pt x="675715" y="52299"/>
                  </a:cubicBezTo>
                  <a:cubicBezTo>
                    <a:pt x="709201" y="85785"/>
                    <a:pt x="728014" y="131202"/>
                    <a:pt x="728014" y="178559"/>
                  </a:cubicBezTo>
                  <a:lnTo>
                    <a:pt x="728014" y="803336"/>
                  </a:lnTo>
                  <a:cubicBezTo>
                    <a:pt x="728014" y="850693"/>
                    <a:pt x="709201" y="896110"/>
                    <a:pt x="675715" y="929596"/>
                  </a:cubicBezTo>
                  <a:cubicBezTo>
                    <a:pt x="642229" y="963083"/>
                    <a:pt x="596812" y="981895"/>
                    <a:pt x="549455" y="981895"/>
                  </a:cubicBezTo>
                  <a:lnTo>
                    <a:pt x="178559" y="981895"/>
                  </a:lnTo>
                  <a:cubicBezTo>
                    <a:pt x="131202" y="981895"/>
                    <a:pt x="85785" y="963083"/>
                    <a:pt x="52299" y="929596"/>
                  </a:cubicBezTo>
                  <a:cubicBezTo>
                    <a:pt x="18812" y="896110"/>
                    <a:pt x="0" y="850693"/>
                    <a:pt x="0" y="803336"/>
                  </a:cubicBezTo>
                  <a:lnTo>
                    <a:pt x="0" y="178559"/>
                  </a:lnTo>
                  <a:cubicBezTo>
                    <a:pt x="0" y="131202"/>
                    <a:pt x="18812" y="85785"/>
                    <a:pt x="52299" y="52299"/>
                  </a:cubicBezTo>
                  <a:cubicBezTo>
                    <a:pt x="85785" y="18812"/>
                    <a:pt x="131202" y="0"/>
                    <a:pt x="178559" y="0"/>
                  </a:cubicBezTo>
                  <a:close/>
                </a:path>
              </a:pathLst>
            </a:custGeom>
            <a:solidFill>
              <a:srgbClr val="FFFFFF"/>
            </a:solidFill>
            <a:ln w="38100" cap="rnd">
              <a:solidFill>
                <a:srgbClr val="000000"/>
              </a:solidFill>
              <a:prstDash val="solid"/>
              <a:round/>
            </a:ln>
          </p:spPr>
        </p:sp>
        <p:sp>
          <p:nvSpPr>
            <p:cNvPr name="TextBox 24" id="24"/>
            <p:cNvSpPr txBox="true"/>
            <p:nvPr/>
          </p:nvSpPr>
          <p:spPr>
            <a:xfrm>
              <a:off x="0" y="-76200"/>
              <a:ext cx="728014" cy="1058095"/>
            </a:xfrm>
            <a:prstGeom prst="rect">
              <a:avLst/>
            </a:prstGeom>
          </p:spPr>
          <p:txBody>
            <a:bodyPr anchor="ctr" rtlCol="false" tIns="50800" lIns="50800" bIns="50800" rIns="50800"/>
            <a:lstStyle/>
            <a:p>
              <a:pPr algn="just">
                <a:lnSpc>
                  <a:spcPts val="2700"/>
                </a:lnSpc>
              </a:pPr>
              <a:r>
                <a:rPr lang="en-US" sz="1800">
                  <a:solidFill>
                    <a:srgbClr val="000000"/>
                  </a:solidFill>
                  <a:latin typeface="Arial"/>
                  <a:ea typeface="Arial"/>
                  <a:cs typeface="Arial"/>
                  <a:sym typeface="Arial"/>
                </a:rPr>
                <a:t>Phân tích CCF xác định được khoảng trễ riêng của từng biến khí hậu lên từng bệnh.</a:t>
              </a:r>
            </a:p>
          </p:txBody>
        </p:sp>
      </p:grpSp>
      <p:grpSp>
        <p:nvGrpSpPr>
          <p:cNvPr name="Group 25" id="25"/>
          <p:cNvGrpSpPr/>
          <p:nvPr/>
        </p:nvGrpSpPr>
        <p:grpSpPr>
          <a:xfrm rot="0">
            <a:off x="8036725" y="5143500"/>
            <a:ext cx="2211250" cy="2982382"/>
            <a:chOff x="0" y="0"/>
            <a:chExt cx="728014" cy="981895"/>
          </a:xfrm>
        </p:grpSpPr>
        <p:sp>
          <p:nvSpPr>
            <p:cNvPr name="Freeform 26" id="26"/>
            <p:cNvSpPr/>
            <p:nvPr/>
          </p:nvSpPr>
          <p:spPr>
            <a:xfrm flipH="false" flipV="false" rot="0">
              <a:off x="0" y="0"/>
              <a:ext cx="728014" cy="981895"/>
            </a:xfrm>
            <a:custGeom>
              <a:avLst/>
              <a:gdLst/>
              <a:ahLst/>
              <a:cxnLst/>
              <a:rect r="r" b="b" t="t" l="l"/>
              <a:pathLst>
                <a:path h="981895" w="728014">
                  <a:moveTo>
                    <a:pt x="178559" y="0"/>
                  </a:moveTo>
                  <a:lnTo>
                    <a:pt x="549455" y="0"/>
                  </a:lnTo>
                  <a:cubicBezTo>
                    <a:pt x="596812" y="0"/>
                    <a:pt x="642229" y="18812"/>
                    <a:pt x="675715" y="52299"/>
                  </a:cubicBezTo>
                  <a:cubicBezTo>
                    <a:pt x="709201" y="85785"/>
                    <a:pt x="728014" y="131202"/>
                    <a:pt x="728014" y="178559"/>
                  </a:cubicBezTo>
                  <a:lnTo>
                    <a:pt x="728014" y="803336"/>
                  </a:lnTo>
                  <a:cubicBezTo>
                    <a:pt x="728014" y="850693"/>
                    <a:pt x="709201" y="896110"/>
                    <a:pt x="675715" y="929596"/>
                  </a:cubicBezTo>
                  <a:cubicBezTo>
                    <a:pt x="642229" y="963083"/>
                    <a:pt x="596812" y="981895"/>
                    <a:pt x="549455" y="981895"/>
                  </a:cubicBezTo>
                  <a:lnTo>
                    <a:pt x="178559" y="981895"/>
                  </a:lnTo>
                  <a:cubicBezTo>
                    <a:pt x="131202" y="981895"/>
                    <a:pt x="85785" y="963083"/>
                    <a:pt x="52299" y="929596"/>
                  </a:cubicBezTo>
                  <a:cubicBezTo>
                    <a:pt x="18812" y="896110"/>
                    <a:pt x="0" y="850693"/>
                    <a:pt x="0" y="803336"/>
                  </a:cubicBezTo>
                  <a:lnTo>
                    <a:pt x="0" y="178559"/>
                  </a:lnTo>
                  <a:cubicBezTo>
                    <a:pt x="0" y="131202"/>
                    <a:pt x="18812" y="85785"/>
                    <a:pt x="52299" y="52299"/>
                  </a:cubicBezTo>
                  <a:cubicBezTo>
                    <a:pt x="85785" y="18812"/>
                    <a:pt x="131202" y="0"/>
                    <a:pt x="178559" y="0"/>
                  </a:cubicBezTo>
                  <a:close/>
                </a:path>
              </a:pathLst>
            </a:custGeom>
            <a:solidFill>
              <a:srgbClr val="FFFFFF"/>
            </a:solidFill>
            <a:ln w="38100" cap="rnd">
              <a:solidFill>
                <a:srgbClr val="000000"/>
              </a:solidFill>
              <a:prstDash val="solid"/>
              <a:round/>
            </a:ln>
          </p:spPr>
        </p:sp>
        <p:sp>
          <p:nvSpPr>
            <p:cNvPr name="TextBox 27" id="27"/>
            <p:cNvSpPr txBox="true"/>
            <p:nvPr/>
          </p:nvSpPr>
          <p:spPr>
            <a:xfrm>
              <a:off x="0" y="-76200"/>
              <a:ext cx="728014" cy="1058095"/>
            </a:xfrm>
            <a:prstGeom prst="rect">
              <a:avLst/>
            </a:prstGeom>
          </p:spPr>
          <p:txBody>
            <a:bodyPr anchor="ctr" rtlCol="false" tIns="50800" lIns="50800" bIns="50800" rIns="50800"/>
            <a:lstStyle/>
            <a:p>
              <a:pPr algn="just">
                <a:lnSpc>
                  <a:spcPts val="2700"/>
                </a:lnSpc>
              </a:pPr>
              <a:r>
                <a:rPr lang="en-US" sz="1800">
                  <a:solidFill>
                    <a:srgbClr val="000000"/>
                  </a:solidFill>
                  <a:latin typeface="Arial"/>
                  <a:ea typeface="Arial"/>
                  <a:cs typeface="Arial"/>
                  <a:sym typeface="Arial"/>
                </a:rPr>
                <a:t>Backend FastAPI hoạt động ổn định, tốc độ phản hồi nhanh</a:t>
              </a:r>
            </a:p>
          </p:txBody>
        </p:sp>
      </p:grpSp>
      <p:grpSp>
        <p:nvGrpSpPr>
          <p:cNvPr name="Group 28" id="28"/>
          <p:cNvGrpSpPr/>
          <p:nvPr/>
        </p:nvGrpSpPr>
        <p:grpSpPr>
          <a:xfrm rot="0">
            <a:off x="10530442" y="5143500"/>
            <a:ext cx="2211250" cy="2982382"/>
            <a:chOff x="0" y="0"/>
            <a:chExt cx="728014" cy="981895"/>
          </a:xfrm>
        </p:grpSpPr>
        <p:sp>
          <p:nvSpPr>
            <p:cNvPr name="Freeform 29" id="29"/>
            <p:cNvSpPr/>
            <p:nvPr/>
          </p:nvSpPr>
          <p:spPr>
            <a:xfrm flipH="false" flipV="false" rot="0">
              <a:off x="0" y="0"/>
              <a:ext cx="728014" cy="981895"/>
            </a:xfrm>
            <a:custGeom>
              <a:avLst/>
              <a:gdLst/>
              <a:ahLst/>
              <a:cxnLst/>
              <a:rect r="r" b="b" t="t" l="l"/>
              <a:pathLst>
                <a:path h="981895" w="728014">
                  <a:moveTo>
                    <a:pt x="178559" y="0"/>
                  </a:moveTo>
                  <a:lnTo>
                    <a:pt x="549455" y="0"/>
                  </a:lnTo>
                  <a:cubicBezTo>
                    <a:pt x="596812" y="0"/>
                    <a:pt x="642229" y="18812"/>
                    <a:pt x="675715" y="52299"/>
                  </a:cubicBezTo>
                  <a:cubicBezTo>
                    <a:pt x="709201" y="85785"/>
                    <a:pt x="728014" y="131202"/>
                    <a:pt x="728014" y="178559"/>
                  </a:cubicBezTo>
                  <a:lnTo>
                    <a:pt x="728014" y="803336"/>
                  </a:lnTo>
                  <a:cubicBezTo>
                    <a:pt x="728014" y="850693"/>
                    <a:pt x="709201" y="896110"/>
                    <a:pt x="675715" y="929596"/>
                  </a:cubicBezTo>
                  <a:cubicBezTo>
                    <a:pt x="642229" y="963083"/>
                    <a:pt x="596812" y="981895"/>
                    <a:pt x="549455" y="981895"/>
                  </a:cubicBezTo>
                  <a:lnTo>
                    <a:pt x="178559" y="981895"/>
                  </a:lnTo>
                  <a:cubicBezTo>
                    <a:pt x="131202" y="981895"/>
                    <a:pt x="85785" y="963083"/>
                    <a:pt x="52299" y="929596"/>
                  </a:cubicBezTo>
                  <a:cubicBezTo>
                    <a:pt x="18812" y="896110"/>
                    <a:pt x="0" y="850693"/>
                    <a:pt x="0" y="803336"/>
                  </a:cubicBezTo>
                  <a:lnTo>
                    <a:pt x="0" y="178559"/>
                  </a:lnTo>
                  <a:cubicBezTo>
                    <a:pt x="0" y="131202"/>
                    <a:pt x="18812" y="85785"/>
                    <a:pt x="52299" y="52299"/>
                  </a:cubicBezTo>
                  <a:cubicBezTo>
                    <a:pt x="85785" y="18812"/>
                    <a:pt x="131202" y="0"/>
                    <a:pt x="178559" y="0"/>
                  </a:cubicBezTo>
                  <a:close/>
                </a:path>
              </a:pathLst>
            </a:custGeom>
            <a:solidFill>
              <a:srgbClr val="FFFFFF"/>
            </a:solidFill>
            <a:ln w="38100" cap="rnd">
              <a:solidFill>
                <a:srgbClr val="000000"/>
              </a:solidFill>
              <a:prstDash val="solid"/>
              <a:round/>
            </a:ln>
          </p:spPr>
        </p:sp>
        <p:sp>
          <p:nvSpPr>
            <p:cNvPr name="TextBox 30" id="30"/>
            <p:cNvSpPr txBox="true"/>
            <p:nvPr/>
          </p:nvSpPr>
          <p:spPr>
            <a:xfrm>
              <a:off x="0" y="-76200"/>
              <a:ext cx="728014" cy="1058095"/>
            </a:xfrm>
            <a:prstGeom prst="rect">
              <a:avLst/>
            </a:prstGeom>
          </p:spPr>
          <p:txBody>
            <a:bodyPr anchor="ctr" rtlCol="false" tIns="50800" lIns="50800" bIns="50800" rIns="50800"/>
            <a:lstStyle/>
            <a:p>
              <a:pPr algn="just">
                <a:lnSpc>
                  <a:spcPts val="2700"/>
                </a:lnSpc>
              </a:pPr>
              <a:r>
                <a:rPr lang="en-US" sz="1800">
                  <a:solidFill>
                    <a:srgbClr val="000000"/>
                  </a:solidFill>
                  <a:latin typeface="Arial"/>
                  <a:ea typeface="Arial"/>
                  <a:cs typeface="Arial"/>
                  <a:sym typeface="Arial"/>
                </a:rPr>
                <a:t>Giao diện React hiển thị bản đồ cảnh báo 163 quốc gia, cập nhật đến tuần 2026-W22.</a:t>
              </a:r>
            </a:p>
          </p:txBody>
        </p:sp>
      </p:grpSp>
      <p:grpSp>
        <p:nvGrpSpPr>
          <p:cNvPr name="Group 31" id="31"/>
          <p:cNvGrpSpPr/>
          <p:nvPr/>
        </p:nvGrpSpPr>
        <p:grpSpPr>
          <a:xfrm rot="0">
            <a:off x="13024158" y="5143500"/>
            <a:ext cx="2211250" cy="2982382"/>
            <a:chOff x="0" y="0"/>
            <a:chExt cx="728014" cy="981895"/>
          </a:xfrm>
        </p:grpSpPr>
        <p:sp>
          <p:nvSpPr>
            <p:cNvPr name="Freeform 32" id="32"/>
            <p:cNvSpPr/>
            <p:nvPr/>
          </p:nvSpPr>
          <p:spPr>
            <a:xfrm flipH="false" flipV="false" rot="0">
              <a:off x="0" y="0"/>
              <a:ext cx="728014" cy="981895"/>
            </a:xfrm>
            <a:custGeom>
              <a:avLst/>
              <a:gdLst/>
              <a:ahLst/>
              <a:cxnLst/>
              <a:rect r="r" b="b" t="t" l="l"/>
              <a:pathLst>
                <a:path h="981895" w="728014">
                  <a:moveTo>
                    <a:pt x="178559" y="0"/>
                  </a:moveTo>
                  <a:lnTo>
                    <a:pt x="549455" y="0"/>
                  </a:lnTo>
                  <a:cubicBezTo>
                    <a:pt x="596812" y="0"/>
                    <a:pt x="642229" y="18812"/>
                    <a:pt x="675715" y="52299"/>
                  </a:cubicBezTo>
                  <a:cubicBezTo>
                    <a:pt x="709201" y="85785"/>
                    <a:pt x="728014" y="131202"/>
                    <a:pt x="728014" y="178559"/>
                  </a:cubicBezTo>
                  <a:lnTo>
                    <a:pt x="728014" y="803336"/>
                  </a:lnTo>
                  <a:cubicBezTo>
                    <a:pt x="728014" y="850693"/>
                    <a:pt x="709201" y="896110"/>
                    <a:pt x="675715" y="929596"/>
                  </a:cubicBezTo>
                  <a:cubicBezTo>
                    <a:pt x="642229" y="963083"/>
                    <a:pt x="596812" y="981895"/>
                    <a:pt x="549455" y="981895"/>
                  </a:cubicBezTo>
                  <a:lnTo>
                    <a:pt x="178559" y="981895"/>
                  </a:lnTo>
                  <a:cubicBezTo>
                    <a:pt x="131202" y="981895"/>
                    <a:pt x="85785" y="963083"/>
                    <a:pt x="52299" y="929596"/>
                  </a:cubicBezTo>
                  <a:cubicBezTo>
                    <a:pt x="18812" y="896110"/>
                    <a:pt x="0" y="850693"/>
                    <a:pt x="0" y="803336"/>
                  </a:cubicBezTo>
                  <a:lnTo>
                    <a:pt x="0" y="178559"/>
                  </a:lnTo>
                  <a:cubicBezTo>
                    <a:pt x="0" y="131202"/>
                    <a:pt x="18812" y="85785"/>
                    <a:pt x="52299" y="52299"/>
                  </a:cubicBezTo>
                  <a:cubicBezTo>
                    <a:pt x="85785" y="18812"/>
                    <a:pt x="131202" y="0"/>
                    <a:pt x="178559" y="0"/>
                  </a:cubicBezTo>
                  <a:close/>
                </a:path>
              </a:pathLst>
            </a:custGeom>
            <a:solidFill>
              <a:srgbClr val="FFFFFF"/>
            </a:solidFill>
            <a:ln w="38100" cap="rnd">
              <a:solidFill>
                <a:srgbClr val="000000"/>
              </a:solidFill>
              <a:prstDash val="solid"/>
              <a:round/>
            </a:ln>
          </p:spPr>
        </p:sp>
        <p:sp>
          <p:nvSpPr>
            <p:cNvPr name="TextBox 33" id="33"/>
            <p:cNvSpPr txBox="true"/>
            <p:nvPr/>
          </p:nvSpPr>
          <p:spPr>
            <a:xfrm>
              <a:off x="0" y="-76200"/>
              <a:ext cx="728014" cy="1058095"/>
            </a:xfrm>
            <a:prstGeom prst="rect">
              <a:avLst/>
            </a:prstGeom>
          </p:spPr>
          <p:txBody>
            <a:bodyPr anchor="ctr" rtlCol="false" tIns="50800" lIns="50800" bIns="50800" rIns="50800"/>
            <a:lstStyle/>
            <a:p>
              <a:pPr algn="just">
                <a:lnSpc>
                  <a:spcPts val="2700"/>
                </a:lnSpc>
              </a:pPr>
              <a:r>
                <a:rPr lang="en-US" sz="1800">
                  <a:solidFill>
                    <a:srgbClr val="000000"/>
                  </a:solidFill>
                  <a:latin typeface="Arial"/>
                  <a:ea typeface="Arial"/>
                  <a:cs typeface="Arial"/>
                  <a:sym typeface="Arial"/>
                </a:rPr>
                <a:t>Pipeline tự động chạy xong trong ~4 phút, xử lý hơn 17.000 dòng mỗi lần.</a:t>
              </a:r>
            </a:p>
          </p:txBody>
        </p:sp>
      </p:grpSp>
      <p:grpSp>
        <p:nvGrpSpPr>
          <p:cNvPr name="Group 34" id="34"/>
          <p:cNvGrpSpPr/>
          <p:nvPr/>
        </p:nvGrpSpPr>
        <p:grpSpPr>
          <a:xfrm rot="0">
            <a:off x="15521158" y="5143500"/>
            <a:ext cx="2211250" cy="2982382"/>
            <a:chOff x="0" y="0"/>
            <a:chExt cx="728014" cy="981895"/>
          </a:xfrm>
        </p:grpSpPr>
        <p:sp>
          <p:nvSpPr>
            <p:cNvPr name="Freeform 35" id="35"/>
            <p:cNvSpPr/>
            <p:nvPr/>
          </p:nvSpPr>
          <p:spPr>
            <a:xfrm flipH="false" flipV="false" rot="0">
              <a:off x="0" y="0"/>
              <a:ext cx="728014" cy="981895"/>
            </a:xfrm>
            <a:custGeom>
              <a:avLst/>
              <a:gdLst/>
              <a:ahLst/>
              <a:cxnLst/>
              <a:rect r="r" b="b" t="t" l="l"/>
              <a:pathLst>
                <a:path h="981895" w="728014">
                  <a:moveTo>
                    <a:pt x="178559" y="0"/>
                  </a:moveTo>
                  <a:lnTo>
                    <a:pt x="549455" y="0"/>
                  </a:lnTo>
                  <a:cubicBezTo>
                    <a:pt x="596812" y="0"/>
                    <a:pt x="642229" y="18812"/>
                    <a:pt x="675715" y="52299"/>
                  </a:cubicBezTo>
                  <a:cubicBezTo>
                    <a:pt x="709201" y="85785"/>
                    <a:pt x="728014" y="131202"/>
                    <a:pt x="728014" y="178559"/>
                  </a:cubicBezTo>
                  <a:lnTo>
                    <a:pt x="728014" y="803336"/>
                  </a:lnTo>
                  <a:cubicBezTo>
                    <a:pt x="728014" y="850693"/>
                    <a:pt x="709201" y="896110"/>
                    <a:pt x="675715" y="929596"/>
                  </a:cubicBezTo>
                  <a:cubicBezTo>
                    <a:pt x="642229" y="963083"/>
                    <a:pt x="596812" y="981895"/>
                    <a:pt x="549455" y="981895"/>
                  </a:cubicBezTo>
                  <a:lnTo>
                    <a:pt x="178559" y="981895"/>
                  </a:lnTo>
                  <a:cubicBezTo>
                    <a:pt x="131202" y="981895"/>
                    <a:pt x="85785" y="963083"/>
                    <a:pt x="52299" y="929596"/>
                  </a:cubicBezTo>
                  <a:cubicBezTo>
                    <a:pt x="18812" y="896110"/>
                    <a:pt x="0" y="850693"/>
                    <a:pt x="0" y="803336"/>
                  </a:cubicBezTo>
                  <a:lnTo>
                    <a:pt x="0" y="178559"/>
                  </a:lnTo>
                  <a:cubicBezTo>
                    <a:pt x="0" y="131202"/>
                    <a:pt x="18812" y="85785"/>
                    <a:pt x="52299" y="52299"/>
                  </a:cubicBezTo>
                  <a:cubicBezTo>
                    <a:pt x="85785" y="18812"/>
                    <a:pt x="131202" y="0"/>
                    <a:pt x="178559" y="0"/>
                  </a:cubicBezTo>
                  <a:close/>
                </a:path>
              </a:pathLst>
            </a:custGeom>
            <a:solidFill>
              <a:srgbClr val="FFFFFF"/>
            </a:solidFill>
            <a:ln w="38100" cap="rnd">
              <a:solidFill>
                <a:srgbClr val="000000"/>
              </a:solidFill>
              <a:prstDash val="solid"/>
              <a:round/>
            </a:ln>
          </p:spPr>
        </p:sp>
        <p:sp>
          <p:nvSpPr>
            <p:cNvPr name="TextBox 36" id="36"/>
            <p:cNvSpPr txBox="true"/>
            <p:nvPr/>
          </p:nvSpPr>
          <p:spPr>
            <a:xfrm>
              <a:off x="0" y="-76200"/>
              <a:ext cx="728014" cy="1058095"/>
            </a:xfrm>
            <a:prstGeom prst="rect">
              <a:avLst/>
            </a:prstGeom>
          </p:spPr>
          <p:txBody>
            <a:bodyPr anchor="ctr" rtlCol="false" tIns="50800" lIns="50800" bIns="50800" rIns="50800"/>
            <a:lstStyle/>
            <a:p>
              <a:pPr algn="just">
                <a:lnSpc>
                  <a:spcPts val="2700"/>
                </a:lnSpc>
              </a:pPr>
              <a:r>
                <a:rPr lang="en-US" sz="1800">
                  <a:solidFill>
                    <a:srgbClr val="000000"/>
                  </a:solidFill>
                  <a:latin typeface="Arial"/>
                  <a:ea typeface="Arial"/>
                  <a:cs typeface="Arial"/>
                  <a:sym typeface="Arial"/>
                </a:rPr>
                <a:t>Đóng gói bằng Docker Compose (5 dịch vụ) và tự động hóa với CI/CD GitHub Actions.</a:t>
              </a:r>
            </a:p>
          </p:txBody>
        </p:sp>
      </p:grpSp>
      <p:sp>
        <p:nvSpPr>
          <p:cNvPr name="AutoShape 37" id="37"/>
          <p:cNvSpPr/>
          <p:nvPr/>
        </p:nvSpPr>
        <p:spPr>
          <a:xfrm flipH="true">
            <a:off x="1661217" y="3445183"/>
            <a:ext cx="7482783" cy="1698317"/>
          </a:xfrm>
          <a:prstGeom prst="line">
            <a:avLst/>
          </a:prstGeom>
          <a:ln cap="flat" w="38100">
            <a:solidFill>
              <a:srgbClr val="FF914D"/>
            </a:solidFill>
            <a:prstDash val="solid"/>
            <a:headEnd type="none" len="sm" w="sm"/>
            <a:tailEnd type="triangle" len="med" w="lg"/>
          </a:ln>
        </p:spPr>
      </p:sp>
      <p:sp>
        <p:nvSpPr>
          <p:cNvPr name="AutoShape 38" id="38"/>
          <p:cNvSpPr/>
          <p:nvPr/>
        </p:nvSpPr>
        <p:spPr>
          <a:xfrm flipH="true">
            <a:off x="4154916" y="3445183"/>
            <a:ext cx="4989084" cy="1698317"/>
          </a:xfrm>
          <a:prstGeom prst="line">
            <a:avLst/>
          </a:prstGeom>
          <a:ln cap="flat" w="38100">
            <a:solidFill>
              <a:srgbClr val="FF914D"/>
            </a:solidFill>
            <a:prstDash val="solid"/>
            <a:headEnd type="none" len="sm" w="sm"/>
            <a:tailEnd type="triangle" len="med" w="lg"/>
          </a:ln>
        </p:spPr>
      </p:sp>
      <p:sp>
        <p:nvSpPr>
          <p:cNvPr name="AutoShape 39" id="39"/>
          <p:cNvSpPr/>
          <p:nvPr/>
        </p:nvSpPr>
        <p:spPr>
          <a:xfrm flipH="true">
            <a:off x="6648633" y="3445183"/>
            <a:ext cx="2495367" cy="1698317"/>
          </a:xfrm>
          <a:prstGeom prst="line">
            <a:avLst/>
          </a:prstGeom>
          <a:ln cap="flat" w="38100">
            <a:solidFill>
              <a:srgbClr val="FF914D"/>
            </a:solidFill>
            <a:prstDash val="solid"/>
            <a:headEnd type="none" len="sm" w="sm"/>
            <a:tailEnd type="triangle" len="med" w="lg"/>
          </a:ln>
        </p:spPr>
      </p:sp>
      <p:sp>
        <p:nvSpPr>
          <p:cNvPr name="AutoShape 40" id="40"/>
          <p:cNvSpPr/>
          <p:nvPr/>
        </p:nvSpPr>
        <p:spPr>
          <a:xfrm flipH="true">
            <a:off x="9142350" y="3445183"/>
            <a:ext cx="1650" cy="1698317"/>
          </a:xfrm>
          <a:prstGeom prst="line">
            <a:avLst/>
          </a:prstGeom>
          <a:ln cap="flat" w="38100">
            <a:solidFill>
              <a:srgbClr val="FF914D"/>
            </a:solidFill>
            <a:prstDash val="solid"/>
            <a:headEnd type="none" len="sm" w="sm"/>
            <a:tailEnd type="triangle" len="med" w="lg"/>
          </a:ln>
        </p:spPr>
      </p:sp>
      <p:sp>
        <p:nvSpPr>
          <p:cNvPr name="AutoShape 41" id="41"/>
          <p:cNvSpPr/>
          <p:nvPr/>
        </p:nvSpPr>
        <p:spPr>
          <a:xfrm>
            <a:off x="9144000" y="3445183"/>
            <a:ext cx="2492066" cy="1698317"/>
          </a:xfrm>
          <a:prstGeom prst="line">
            <a:avLst/>
          </a:prstGeom>
          <a:ln cap="flat" w="38100">
            <a:solidFill>
              <a:srgbClr val="FF914D"/>
            </a:solidFill>
            <a:prstDash val="solid"/>
            <a:headEnd type="none" len="sm" w="sm"/>
            <a:tailEnd type="triangle" len="med" w="lg"/>
          </a:ln>
        </p:spPr>
      </p:sp>
      <p:sp>
        <p:nvSpPr>
          <p:cNvPr name="AutoShape 42" id="42"/>
          <p:cNvSpPr/>
          <p:nvPr/>
        </p:nvSpPr>
        <p:spPr>
          <a:xfrm>
            <a:off x="9045160" y="3469893"/>
            <a:ext cx="4899440" cy="1673607"/>
          </a:xfrm>
          <a:prstGeom prst="line">
            <a:avLst/>
          </a:prstGeom>
          <a:ln cap="flat" w="38100">
            <a:solidFill>
              <a:srgbClr val="FF914D"/>
            </a:solidFill>
            <a:prstDash val="solid"/>
            <a:headEnd type="none" len="sm" w="sm"/>
            <a:tailEnd type="triangle" len="med" w="lg"/>
          </a:ln>
        </p:spPr>
      </p:sp>
      <p:sp>
        <p:nvSpPr>
          <p:cNvPr name="AutoShape 43" id="43"/>
          <p:cNvSpPr/>
          <p:nvPr/>
        </p:nvSpPr>
        <p:spPr>
          <a:xfrm>
            <a:off x="9144000" y="3445183"/>
            <a:ext cx="7482783" cy="1698317"/>
          </a:xfrm>
          <a:prstGeom prst="line">
            <a:avLst/>
          </a:prstGeom>
          <a:ln cap="flat" w="38100">
            <a:solidFill>
              <a:srgbClr val="FF914D"/>
            </a:solidFill>
            <a:prstDash val="solid"/>
            <a:headEnd type="none" len="sm" w="sm"/>
            <a:tailEnd type="triangle" len="med" w="lg"/>
          </a:ln>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28</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grpSp>
        <p:nvGrpSpPr>
          <p:cNvPr name="Group 11" id="11"/>
          <p:cNvGrpSpPr/>
          <p:nvPr/>
        </p:nvGrpSpPr>
        <p:grpSpPr>
          <a:xfrm rot="0">
            <a:off x="6766554" y="1902133"/>
            <a:ext cx="4754892" cy="1543050"/>
            <a:chOff x="0" y="0"/>
            <a:chExt cx="1252317" cy="406400"/>
          </a:xfrm>
        </p:grpSpPr>
        <p:sp>
          <p:nvSpPr>
            <p:cNvPr name="Freeform 12" id="12"/>
            <p:cNvSpPr/>
            <p:nvPr/>
          </p:nvSpPr>
          <p:spPr>
            <a:xfrm flipH="false" flipV="false" rot="0">
              <a:off x="0" y="0"/>
              <a:ext cx="1252317" cy="406400"/>
            </a:xfrm>
            <a:custGeom>
              <a:avLst/>
              <a:gdLst/>
              <a:ahLst/>
              <a:cxnLst/>
              <a:rect r="r" b="b" t="t" l="l"/>
              <a:pathLst>
                <a:path h="406400" w="1252317">
                  <a:moveTo>
                    <a:pt x="83038" y="0"/>
                  </a:moveTo>
                  <a:lnTo>
                    <a:pt x="1169279" y="0"/>
                  </a:lnTo>
                  <a:cubicBezTo>
                    <a:pt x="1191302" y="0"/>
                    <a:pt x="1212423" y="8749"/>
                    <a:pt x="1227996" y="24321"/>
                  </a:cubicBezTo>
                  <a:cubicBezTo>
                    <a:pt x="1243568" y="39894"/>
                    <a:pt x="1252317" y="61015"/>
                    <a:pt x="1252317" y="83038"/>
                  </a:cubicBezTo>
                  <a:lnTo>
                    <a:pt x="1252317" y="323362"/>
                  </a:lnTo>
                  <a:cubicBezTo>
                    <a:pt x="1252317" y="369222"/>
                    <a:pt x="1215140" y="406400"/>
                    <a:pt x="1169279" y="406400"/>
                  </a:cubicBezTo>
                  <a:lnTo>
                    <a:pt x="83038" y="406400"/>
                  </a:lnTo>
                  <a:cubicBezTo>
                    <a:pt x="37177" y="406400"/>
                    <a:pt x="0" y="369222"/>
                    <a:pt x="0" y="323362"/>
                  </a:cubicBezTo>
                  <a:lnTo>
                    <a:pt x="0" y="83038"/>
                  </a:lnTo>
                  <a:cubicBezTo>
                    <a:pt x="0" y="37177"/>
                    <a:pt x="37177" y="0"/>
                    <a:pt x="83038" y="0"/>
                  </a:cubicBezTo>
                  <a:close/>
                </a:path>
              </a:pathLst>
            </a:custGeom>
            <a:solidFill>
              <a:srgbClr val="053384"/>
            </a:solidFill>
          </p:spPr>
        </p:sp>
        <p:sp>
          <p:nvSpPr>
            <p:cNvPr name="TextBox 13" id="13"/>
            <p:cNvSpPr txBox="true"/>
            <p:nvPr/>
          </p:nvSpPr>
          <p:spPr>
            <a:xfrm>
              <a:off x="0" y="-9525"/>
              <a:ext cx="1252317" cy="415925"/>
            </a:xfrm>
            <a:prstGeom prst="rect">
              <a:avLst/>
            </a:prstGeom>
          </p:spPr>
          <p:txBody>
            <a:bodyPr anchor="ctr" rtlCol="false" tIns="50800" lIns="50800" bIns="50800" rIns="50800"/>
            <a:lstStyle/>
            <a:p>
              <a:pPr algn="ctr">
                <a:lnSpc>
                  <a:spcPts val="3599"/>
                </a:lnSpc>
              </a:pPr>
              <a:r>
                <a:rPr lang="en-US" b="true" sz="2999">
                  <a:solidFill>
                    <a:srgbClr val="FFFFFF"/>
                  </a:solidFill>
                  <a:latin typeface="Arial Bold"/>
                  <a:ea typeface="Arial Bold"/>
                  <a:cs typeface="Arial Bold"/>
                  <a:sym typeface="Arial Bold"/>
                </a:rPr>
                <a:t>Về mô hình dự báo</a:t>
              </a:r>
            </a:p>
          </p:txBody>
        </p:sp>
      </p:grpSp>
      <p:grpSp>
        <p:nvGrpSpPr>
          <p:cNvPr name="Group 14" id="14"/>
          <p:cNvGrpSpPr/>
          <p:nvPr/>
        </p:nvGrpSpPr>
        <p:grpSpPr>
          <a:xfrm rot="0">
            <a:off x="1109451" y="5305844"/>
            <a:ext cx="2930499" cy="3952456"/>
            <a:chOff x="0" y="0"/>
            <a:chExt cx="728014" cy="981895"/>
          </a:xfrm>
        </p:grpSpPr>
        <p:sp>
          <p:nvSpPr>
            <p:cNvPr name="Freeform 15" id="15"/>
            <p:cNvSpPr/>
            <p:nvPr/>
          </p:nvSpPr>
          <p:spPr>
            <a:xfrm flipH="false" flipV="false" rot="0">
              <a:off x="0" y="0"/>
              <a:ext cx="728014" cy="981895"/>
            </a:xfrm>
            <a:custGeom>
              <a:avLst/>
              <a:gdLst/>
              <a:ahLst/>
              <a:cxnLst/>
              <a:rect r="r" b="b" t="t" l="l"/>
              <a:pathLst>
                <a:path h="981895" w="728014">
                  <a:moveTo>
                    <a:pt x="134734" y="0"/>
                  </a:moveTo>
                  <a:lnTo>
                    <a:pt x="593280" y="0"/>
                  </a:lnTo>
                  <a:cubicBezTo>
                    <a:pt x="629013" y="0"/>
                    <a:pt x="663284" y="14195"/>
                    <a:pt x="688551" y="39463"/>
                  </a:cubicBezTo>
                  <a:cubicBezTo>
                    <a:pt x="713819" y="64730"/>
                    <a:pt x="728014" y="99000"/>
                    <a:pt x="728014" y="134734"/>
                  </a:cubicBezTo>
                  <a:lnTo>
                    <a:pt x="728014" y="847161"/>
                  </a:lnTo>
                  <a:cubicBezTo>
                    <a:pt x="728014" y="882895"/>
                    <a:pt x="713819" y="917165"/>
                    <a:pt x="688551" y="942432"/>
                  </a:cubicBezTo>
                  <a:cubicBezTo>
                    <a:pt x="663284" y="967700"/>
                    <a:pt x="629013" y="981895"/>
                    <a:pt x="593280" y="981895"/>
                  </a:cubicBezTo>
                  <a:lnTo>
                    <a:pt x="134734" y="981895"/>
                  </a:lnTo>
                  <a:cubicBezTo>
                    <a:pt x="99000" y="981895"/>
                    <a:pt x="64730" y="967700"/>
                    <a:pt x="39463" y="942432"/>
                  </a:cubicBezTo>
                  <a:cubicBezTo>
                    <a:pt x="14195" y="917165"/>
                    <a:pt x="0" y="882895"/>
                    <a:pt x="0" y="847161"/>
                  </a:cubicBezTo>
                  <a:lnTo>
                    <a:pt x="0" y="134734"/>
                  </a:lnTo>
                  <a:cubicBezTo>
                    <a:pt x="0" y="99000"/>
                    <a:pt x="14195" y="64730"/>
                    <a:pt x="39463" y="39463"/>
                  </a:cubicBezTo>
                  <a:cubicBezTo>
                    <a:pt x="64730" y="14195"/>
                    <a:pt x="99000" y="0"/>
                    <a:pt x="134734" y="0"/>
                  </a:cubicBezTo>
                  <a:close/>
                </a:path>
              </a:pathLst>
            </a:custGeom>
            <a:solidFill>
              <a:srgbClr val="FFFFFF"/>
            </a:solidFill>
            <a:ln w="38100" cap="rnd">
              <a:solidFill>
                <a:srgbClr val="000000"/>
              </a:solidFill>
              <a:prstDash val="solid"/>
              <a:round/>
            </a:ln>
          </p:spPr>
        </p:sp>
        <p:sp>
          <p:nvSpPr>
            <p:cNvPr name="TextBox 16" id="16"/>
            <p:cNvSpPr txBox="true"/>
            <p:nvPr/>
          </p:nvSpPr>
          <p:spPr>
            <a:xfrm>
              <a:off x="0" y="-76200"/>
              <a:ext cx="728014" cy="1058095"/>
            </a:xfrm>
            <a:prstGeom prst="rect">
              <a:avLst/>
            </a:prstGeom>
          </p:spPr>
          <p:txBody>
            <a:bodyPr anchor="ctr" rtlCol="false" tIns="50800" lIns="50800" bIns="50800" rIns="50800"/>
            <a:lstStyle/>
            <a:p>
              <a:pPr algn="just">
                <a:lnSpc>
                  <a:spcPts val="3299"/>
                </a:lnSpc>
              </a:pPr>
              <a:r>
                <a:rPr lang="en-US" sz="2199">
                  <a:solidFill>
                    <a:srgbClr val="000000"/>
                  </a:solidFill>
                  <a:latin typeface="Arial"/>
                  <a:ea typeface="Arial"/>
                  <a:cs typeface="Arial"/>
                  <a:sym typeface="Arial"/>
                </a:rPr>
                <a:t>LightGBM (Cúm) đạt R² CV = 0.9017, kiểm thử năm 2022 vẫn giữ 0.9022, gần như không đổi.</a:t>
              </a:r>
            </a:p>
          </p:txBody>
        </p:sp>
      </p:grpSp>
      <p:sp>
        <p:nvSpPr>
          <p:cNvPr name="TextBox 17" id="17"/>
          <p:cNvSpPr txBox="true"/>
          <p:nvPr/>
        </p:nvSpPr>
        <p:spPr>
          <a:xfrm rot="0">
            <a:off x="293484" y="573510"/>
            <a:ext cx="17303001" cy="804777"/>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V. KẾT LUẬN VÀ HƯỚNG PHÁT TRIỂN</a:t>
            </a:r>
          </a:p>
        </p:txBody>
      </p:sp>
      <p:sp>
        <p:nvSpPr>
          <p:cNvPr name="TextBox 18" id="18"/>
          <p:cNvSpPr txBox="true"/>
          <p:nvPr/>
        </p:nvSpPr>
        <p:spPr>
          <a:xfrm rot="0">
            <a:off x="293484" y="1873558"/>
            <a:ext cx="11210173" cy="571500"/>
          </a:xfrm>
          <a:prstGeom prst="rect">
            <a:avLst/>
          </a:prstGeom>
        </p:spPr>
        <p:txBody>
          <a:bodyPr anchor="t" rtlCol="false" tIns="0" lIns="0" bIns="0" rIns="0">
            <a:spAutoFit/>
          </a:bodyPr>
          <a:lstStyle/>
          <a:p>
            <a:pPr algn="l">
              <a:lnSpc>
                <a:spcPts val="4319"/>
              </a:lnSpc>
            </a:pPr>
            <a:r>
              <a:rPr lang="en-US" sz="3599" b="true">
                <a:solidFill>
                  <a:srgbClr val="FF751F"/>
                </a:solidFill>
                <a:latin typeface="Arial Bold"/>
                <a:ea typeface="Arial Bold"/>
                <a:cs typeface="Arial Bold"/>
                <a:sym typeface="Arial Bold"/>
              </a:rPr>
              <a:t>5.1. Kết quả đạt được</a:t>
            </a:r>
          </a:p>
        </p:txBody>
      </p:sp>
      <p:grpSp>
        <p:nvGrpSpPr>
          <p:cNvPr name="Group 19" id="19"/>
          <p:cNvGrpSpPr/>
          <p:nvPr/>
        </p:nvGrpSpPr>
        <p:grpSpPr>
          <a:xfrm rot="0">
            <a:off x="4414271" y="5305844"/>
            <a:ext cx="2930499" cy="3952456"/>
            <a:chOff x="0" y="0"/>
            <a:chExt cx="728014" cy="981895"/>
          </a:xfrm>
        </p:grpSpPr>
        <p:sp>
          <p:nvSpPr>
            <p:cNvPr name="Freeform 20" id="20"/>
            <p:cNvSpPr/>
            <p:nvPr/>
          </p:nvSpPr>
          <p:spPr>
            <a:xfrm flipH="false" flipV="false" rot="0">
              <a:off x="0" y="0"/>
              <a:ext cx="728014" cy="981895"/>
            </a:xfrm>
            <a:custGeom>
              <a:avLst/>
              <a:gdLst/>
              <a:ahLst/>
              <a:cxnLst/>
              <a:rect r="r" b="b" t="t" l="l"/>
              <a:pathLst>
                <a:path h="981895" w="728014">
                  <a:moveTo>
                    <a:pt x="134734" y="0"/>
                  </a:moveTo>
                  <a:lnTo>
                    <a:pt x="593280" y="0"/>
                  </a:lnTo>
                  <a:cubicBezTo>
                    <a:pt x="629013" y="0"/>
                    <a:pt x="663284" y="14195"/>
                    <a:pt x="688551" y="39463"/>
                  </a:cubicBezTo>
                  <a:cubicBezTo>
                    <a:pt x="713819" y="64730"/>
                    <a:pt x="728014" y="99000"/>
                    <a:pt x="728014" y="134734"/>
                  </a:cubicBezTo>
                  <a:lnTo>
                    <a:pt x="728014" y="847161"/>
                  </a:lnTo>
                  <a:cubicBezTo>
                    <a:pt x="728014" y="882895"/>
                    <a:pt x="713819" y="917165"/>
                    <a:pt x="688551" y="942432"/>
                  </a:cubicBezTo>
                  <a:cubicBezTo>
                    <a:pt x="663284" y="967700"/>
                    <a:pt x="629013" y="981895"/>
                    <a:pt x="593280" y="981895"/>
                  </a:cubicBezTo>
                  <a:lnTo>
                    <a:pt x="134734" y="981895"/>
                  </a:lnTo>
                  <a:cubicBezTo>
                    <a:pt x="99000" y="981895"/>
                    <a:pt x="64730" y="967700"/>
                    <a:pt x="39463" y="942432"/>
                  </a:cubicBezTo>
                  <a:cubicBezTo>
                    <a:pt x="14195" y="917165"/>
                    <a:pt x="0" y="882895"/>
                    <a:pt x="0" y="847161"/>
                  </a:cubicBezTo>
                  <a:lnTo>
                    <a:pt x="0" y="134734"/>
                  </a:lnTo>
                  <a:cubicBezTo>
                    <a:pt x="0" y="99000"/>
                    <a:pt x="14195" y="64730"/>
                    <a:pt x="39463" y="39463"/>
                  </a:cubicBezTo>
                  <a:cubicBezTo>
                    <a:pt x="64730" y="14195"/>
                    <a:pt x="99000" y="0"/>
                    <a:pt x="134734" y="0"/>
                  </a:cubicBezTo>
                  <a:close/>
                </a:path>
              </a:pathLst>
            </a:custGeom>
            <a:solidFill>
              <a:srgbClr val="FFFFFF"/>
            </a:solidFill>
            <a:ln w="38100" cap="rnd">
              <a:solidFill>
                <a:srgbClr val="000000"/>
              </a:solidFill>
              <a:prstDash val="solid"/>
              <a:round/>
            </a:ln>
          </p:spPr>
        </p:sp>
        <p:sp>
          <p:nvSpPr>
            <p:cNvPr name="TextBox 21" id="21"/>
            <p:cNvSpPr txBox="true"/>
            <p:nvPr/>
          </p:nvSpPr>
          <p:spPr>
            <a:xfrm>
              <a:off x="0" y="-76200"/>
              <a:ext cx="728014" cy="1058095"/>
            </a:xfrm>
            <a:prstGeom prst="rect">
              <a:avLst/>
            </a:prstGeom>
          </p:spPr>
          <p:txBody>
            <a:bodyPr anchor="ctr" rtlCol="false" tIns="50800" lIns="50800" bIns="50800" rIns="50800"/>
            <a:lstStyle/>
            <a:p>
              <a:pPr algn="just">
                <a:lnSpc>
                  <a:spcPts val="3299"/>
                </a:lnSpc>
              </a:pPr>
              <a:r>
                <a:rPr lang="en-US" sz="2199">
                  <a:solidFill>
                    <a:srgbClr val="000000"/>
                  </a:solidFill>
                  <a:latin typeface="Arial"/>
                  <a:ea typeface="Arial"/>
                  <a:cs typeface="Arial"/>
                  <a:sym typeface="Arial"/>
                </a:rPr>
                <a:t>Random Forest (Sốt xuất huyết) đạt R² CV = 0.9380, kiểm thử năm 2022 còn 0.9183 - vẫn rất cao.</a:t>
              </a:r>
            </a:p>
          </p:txBody>
        </p:sp>
      </p:grpSp>
      <p:grpSp>
        <p:nvGrpSpPr>
          <p:cNvPr name="Group 22" id="22"/>
          <p:cNvGrpSpPr/>
          <p:nvPr/>
        </p:nvGrpSpPr>
        <p:grpSpPr>
          <a:xfrm rot="0">
            <a:off x="7719114" y="5305844"/>
            <a:ext cx="2930499" cy="3952456"/>
            <a:chOff x="0" y="0"/>
            <a:chExt cx="728014" cy="981895"/>
          </a:xfrm>
        </p:grpSpPr>
        <p:sp>
          <p:nvSpPr>
            <p:cNvPr name="Freeform 23" id="23"/>
            <p:cNvSpPr/>
            <p:nvPr/>
          </p:nvSpPr>
          <p:spPr>
            <a:xfrm flipH="false" flipV="false" rot="0">
              <a:off x="0" y="0"/>
              <a:ext cx="728014" cy="981895"/>
            </a:xfrm>
            <a:custGeom>
              <a:avLst/>
              <a:gdLst/>
              <a:ahLst/>
              <a:cxnLst/>
              <a:rect r="r" b="b" t="t" l="l"/>
              <a:pathLst>
                <a:path h="981895" w="728014">
                  <a:moveTo>
                    <a:pt x="134734" y="0"/>
                  </a:moveTo>
                  <a:lnTo>
                    <a:pt x="593280" y="0"/>
                  </a:lnTo>
                  <a:cubicBezTo>
                    <a:pt x="629013" y="0"/>
                    <a:pt x="663284" y="14195"/>
                    <a:pt x="688551" y="39463"/>
                  </a:cubicBezTo>
                  <a:cubicBezTo>
                    <a:pt x="713819" y="64730"/>
                    <a:pt x="728014" y="99000"/>
                    <a:pt x="728014" y="134734"/>
                  </a:cubicBezTo>
                  <a:lnTo>
                    <a:pt x="728014" y="847161"/>
                  </a:lnTo>
                  <a:cubicBezTo>
                    <a:pt x="728014" y="882895"/>
                    <a:pt x="713819" y="917165"/>
                    <a:pt x="688551" y="942432"/>
                  </a:cubicBezTo>
                  <a:cubicBezTo>
                    <a:pt x="663284" y="967700"/>
                    <a:pt x="629013" y="981895"/>
                    <a:pt x="593280" y="981895"/>
                  </a:cubicBezTo>
                  <a:lnTo>
                    <a:pt x="134734" y="981895"/>
                  </a:lnTo>
                  <a:cubicBezTo>
                    <a:pt x="99000" y="981895"/>
                    <a:pt x="64730" y="967700"/>
                    <a:pt x="39463" y="942432"/>
                  </a:cubicBezTo>
                  <a:cubicBezTo>
                    <a:pt x="14195" y="917165"/>
                    <a:pt x="0" y="882895"/>
                    <a:pt x="0" y="847161"/>
                  </a:cubicBezTo>
                  <a:lnTo>
                    <a:pt x="0" y="134734"/>
                  </a:lnTo>
                  <a:cubicBezTo>
                    <a:pt x="0" y="99000"/>
                    <a:pt x="14195" y="64730"/>
                    <a:pt x="39463" y="39463"/>
                  </a:cubicBezTo>
                  <a:cubicBezTo>
                    <a:pt x="64730" y="14195"/>
                    <a:pt x="99000" y="0"/>
                    <a:pt x="134734" y="0"/>
                  </a:cubicBezTo>
                  <a:close/>
                </a:path>
              </a:pathLst>
            </a:custGeom>
            <a:solidFill>
              <a:srgbClr val="FFFFFF"/>
            </a:solidFill>
            <a:ln w="38100" cap="rnd">
              <a:solidFill>
                <a:srgbClr val="000000"/>
              </a:solidFill>
              <a:prstDash val="solid"/>
              <a:round/>
            </a:ln>
          </p:spPr>
        </p:sp>
        <p:sp>
          <p:nvSpPr>
            <p:cNvPr name="TextBox 24" id="24"/>
            <p:cNvSpPr txBox="true"/>
            <p:nvPr/>
          </p:nvSpPr>
          <p:spPr>
            <a:xfrm>
              <a:off x="0" y="-85725"/>
              <a:ext cx="728014" cy="1067620"/>
            </a:xfrm>
            <a:prstGeom prst="rect">
              <a:avLst/>
            </a:prstGeom>
          </p:spPr>
          <p:txBody>
            <a:bodyPr anchor="ctr" rtlCol="false" tIns="50800" lIns="50800" bIns="50800" rIns="50800"/>
            <a:lstStyle/>
            <a:p>
              <a:pPr algn="just">
                <a:lnSpc>
                  <a:spcPts val="3449"/>
                </a:lnSpc>
              </a:pPr>
              <a:r>
                <a:rPr lang="en-US" sz="2299">
                  <a:solidFill>
                    <a:srgbClr val="000000"/>
                  </a:solidFill>
                  <a:latin typeface="Arial"/>
                  <a:ea typeface="Arial"/>
                  <a:cs typeface="Arial"/>
                  <a:sym typeface="Arial"/>
                </a:rPr>
                <a:t>Khoảng cách Train–Val trung bình &lt; 0.02, cho thấy mô hình không bị Overfitting.</a:t>
              </a:r>
            </a:p>
          </p:txBody>
        </p:sp>
      </p:grpSp>
      <p:grpSp>
        <p:nvGrpSpPr>
          <p:cNvPr name="Group 25" id="25"/>
          <p:cNvGrpSpPr/>
          <p:nvPr/>
        </p:nvGrpSpPr>
        <p:grpSpPr>
          <a:xfrm rot="0">
            <a:off x="11023958" y="5305844"/>
            <a:ext cx="2930499" cy="3952456"/>
            <a:chOff x="0" y="0"/>
            <a:chExt cx="728014" cy="981895"/>
          </a:xfrm>
        </p:grpSpPr>
        <p:sp>
          <p:nvSpPr>
            <p:cNvPr name="Freeform 26" id="26"/>
            <p:cNvSpPr/>
            <p:nvPr/>
          </p:nvSpPr>
          <p:spPr>
            <a:xfrm flipH="false" flipV="false" rot="0">
              <a:off x="0" y="0"/>
              <a:ext cx="728014" cy="981895"/>
            </a:xfrm>
            <a:custGeom>
              <a:avLst/>
              <a:gdLst/>
              <a:ahLst/>
              <a:cxnLst/>
              <a:rect r="r" b="b" t="t" l="l"/>
              <a:pathLst>
                <a:path h="981895" w="728014">
                  <a:moveTo>
                    <a:pt x="134734" y="0"/>
                  </a:moveTo>
                  <a:lnTo>
                    <a:pt x="593280" y="0"/>
                  </a:lnTo>
                  <a:cubicBezTo>
                    <a:pt x="629013" y="0"/>
                    <a:pt x="663284" y="14195"/>
                    <a:pt x="688551" y="39463"/>
                  </a:cubicBezTo>
                  <a:cubicBezTo>
                    <a:pt x="713819" y="64730"/>
                    <a:pt x="728014" y="99000"/>
                    <a:pt x="728014" y="134734"/>
                  </a:cubicBezTo>
                  <a:lnTo>
                    <a:pt x="728014" y="847161"/>
                  </a:lnTo>
                  <a:cubicBezTo>
                    <a:pt x="728014" y="882895"/>
                    <a:pt x="713819" y="917165"/>
                    <a:pt x="688551" y="942432"/>
                  </a:cubicBezTo>
                  <a:cubicBezTo>
                    <a:pt x="663284" y="967700"/>
                    <a:pt x="629013" y="981895"/>
                    <a:pt x="593280" y="981895"/>
                  </a:cubicBezTo>
                  <a:lnTo>
                    <a:pt x="134734" y="981895"/>
                  </a:lnTo>
                  <a:cubicBezTo>
                    <a:pt x="99000" y="981895"/>
                    <a:pt x="64730" y="967700"/>
                    <a:pt x="39463" y="942432"/>
                  </a:cubicBezTo>
                  <a:cubicBezTo>
                    <a:pt x="14195" y="917165"/>
                    <a:pt x="0" y="882895"/>
                    <a:pt x="0" y="847161"/>
                  </a:cubicBezTo>
                  <a:lnTo>
                    <a:pt x="0" y="134734"/>
                  </a:lnTo>
                  <a:cubicBezTo>
                    <a:pt x="0" y="99000"/>
                    <a:pt x="14195" y="64730"/>
                    <a:pt x="39463" y="39463"/>
                  </a:cubicBezTo>
                  <a:cubicBezTo>
                    <a:pt x="64730" y="14195"/>
                    <a:pt x="99000" y="0"/>
                    <a:pt x="134734" y="0"/>
                  </a:cubicBezTo>
                  <a:close/>
                </a:path>
              </a:pathLst>
            </a:custGeom>
            <a:solidFill>
              <a:srgbClr val="FFFFFF"/>
            </a:solidFill>
            <a:ln w="38100" cap="rnd">
              <a:solidFill>
                <a:srgbClr val="000000"/>
              </a:solidFill>
              <a:prstDash val="solid"/>
              <a:round/>
            </a:ln>
          </p:spPr>
        </p:sp>
        <p:sp>
          <p:nvSpPr>
            <p:cNvPr name="TextBox 27" id="27"/>
            <p:cNvSpPr txBox="true"/>
            <p:nvPr/>
          </p:nvSpPr>
          <p:spPr>
            <a:xfrm>
              <a:off x="0" y="-76200"/>
              <a:ext cx="728014" cy="1058095"/>
            </a:xfrm>
            <a:prstGeom prst="rect">
              <a:avLst/>
            </a:prstGeom>
          </p:spPr>
          <p:txBody>
            <a:bodyPr anchor="ctr" rtlCol="false" tIns="50800" lIns="50800" bIns="50800" rIns="50800"/>
            <a:lstStyle/>
            <a:p>
              <a:pPr algn="just">
                <a:lnSpc>
                  <a:spcPts val="3299"/>
                </a:lnSpc>
              </a:pPr>
              <a:r>
                <a:rPr lang="en-US" sz="2199">
                  <a:solidFill>
                    <a:srgbClr val="000000"/>
                  </a:solidFill>
                  <a:latin typeface="Arial"/>
                  <a:ea typeface="Arial"/>
                  <a:cs typeface="Arial"/>
                  <a:sym typeface="Arial"/>
                </a:rPr>
                <a:t>Dự báo xa 1–4 tuần vẫn đạt kết quả tốt, vượt ngưỡng tham chiếu của Lowe et al.</a:t>
              </a:r>
            </a:p>
          </p:txBody>
        </p:sp>
      </p:grpSp>
      <p:grpSp>
        <p:nvGrpSpPr>
          <p:cNvPr name="Group 28" id="28"/>
          <p:cNvGrpSpPr/>
          <p:nvPr/>
        </p:nvGrpSpPr>
        <p:grpSpPr>
          <a:xfrm rot="0">
            <a:off x="14328801" y="5305844"/>
            <a:ext cx="2930499" cy="3952456"/>
            <a:chOff x="0" y="0"/>
            <a:chExt cx="728014" cy="981895"/>
          </a:xfrm>
        </p:grpSpPr>
        <p:sp>
          <p:nvSpPr>
            <p:cNvPr name="Freeform 29" id="29"/>
            <p:cNvSpPr/>
            <p:nvPr/>
          </p:nvSpPr>
          <p:spPr>
            <a:xfrm flipH="false" flipV="false" rot="0">
              <a:off x="0" y="0"/>
              <a:ext cx="728014" cy="981895"/>
            </a:xfrm>
            <a:custGeom>
              <a:avLst/>
              <a:gdLst/>
              <a:ahLst/>
              <a:cxnLst/>
              <a:rect r="r" b="b" t="t" l="l"/>
              <a:pathLst>
                <a:path h="981895" w="728014">
                  <a:moveTo>
                    <a:pt x="134734" y="0"/>
                  </a:moveTo>
                  <a:lnTo>
                    <a:pt x="593280" y="0"/>
                  </a:lnTo>
                  <a:cubicBezTo>
                    <a:pt x="629013" y="0"/>
                    <a:pt x="663284" y="14195"/>
                    <a:pt x="688551" y="39463"/>
                  </a:cubicBezTo>
                  <a:cubicBezTo>
                    <a:pt x="713819" y="64730"/>
                    <a:pt x="728014" y="99000"/>
                    <a:pt x="728014" y="134734"/>
                  </a:cubicBezTo>
                  <a:lnTo>
                    <a:pt x="728014" y="847161"/>
                  </a:lnTo>
                  <a:cubicBezTo>
                    <a:pt x="728014" y="882895"/>
                    <a:pt x="713819" y="917165"/>
                    <a:pt x="688551" y="942432"/>
                  </a:cubicBezTo>
                  <a:cubicBezTo>
                    <a:pt x="663284" y="967700"/>
                    <a:pt x="629013" y="981895"/>
                    <a:pt x="593280" y="981895"/>
                  </a:cubicBezTo>
                  <a:lnTo>
                    <a:pt x="134734" y="981895"/>
                  </a:lnTo>
                  <a:cubicBezTo>
                    <a:pt x="99000" y="981895"/>
                    <a:pt x="64730" y="967700"/>
                    <a:pt x="39463" y="942432"/>
                  </a:cubicBezTo>
                  <a:cubicBezTo>
                    <a:pt x="14195" y="917165"/>
                    <a:pt x="0" y="882895"/>
                    <a:pt x="0" y="847161"/>
                  </a:cubicBezTo>
                  <a:lnTo>
                    <a:pt x="0" y="134734"/>
                  </a:lnTo>
                  <a:cubicBezTo>
                    <a:pt x="0" y="99000"/>
                    <a:pt x="14195" y="64730"/>
                    <a:pt x="39463" y="39463"/>
                  </a:cubicBezTo>
                  <a:cubicBezTo>
                    <a:pt x="64730" y="14195"/>
                    <a:pt x="99000" y="0"/>
                    <a:pt x="134734" y="0"/>
                  </a:cubicBezTo>
                  <a:close/>
                </a:path>
              </a:pathLst>
            </a:custGeom>
            <a:solidFill>
              <a:srgbClr val="FFFFFF"/>
            </a:solidFill>
            <a:ln w="38100" cap="rnd">
              <a:solidFill>
                <a:srgbClr val="000000"/>
              </a:solidFill>
              <a:prstDash val="solid"/>
              <a:round/>
            </a:ln>
          </p:spPr>
        </p:sp>
        <p:sp>
          <p:nvSpPr>
            <p:cNvPr name="TextBox 30" id="30"/>
            <p:cNvSpPr txBox="true"/>
            <p:nvPr/>
          </p:nvSpPr>
          <p:spPr>
            <a:xfrm>
              <a:off x="0" y="-76200"/>
              <a:ext cx="728014" cy="1058095"/>
            </a:xfrm>
            <a:prstGeom prst="rect">
              <a:avLst/>
            </a:prstGeom>
          </p:spPr>
          <p:txBody>
            <a:bodyPr anchor="ctr" rtlCol="false" tIns="50800" lIns="50800" bIns="50800" rIns="50800"/>
            <a:lstStyle/>
            <a:p>
              <a:pPr algn="just">
                <a:lnSpc>
                  <a:spcPts val="3299"/>
                </a:lnSpc>
              </a:pPr>
              <a:r>
                <a:rPr lang="en-US" sz="2199">
                  <a:solidFill>
                    <a:srgbClr val="000000"/>
                  </a:solidFill>
                  <a:latin typeface="Arial"/>
                  <a:ea typeface="Arial"/>
                  <a:cs typeface="Arial"/>
                  <a:sym typeface="Arial"/>
                </a:rPr>
                <a:t>Phân loại nguy cơ đạt Macro-F1 = 0.55 (Cúm) và 0.48 (SXH), recall ở mức Cao là 0.51 / 0.63.</a:t>
              </a:r>
            </a:p>
          </p:txBody>
        </p:sp>
      </p:grpSp>
      <p:sp>
        <p:nvSpPr>
          <p:cNvPr name="AutoShape 31" id="31"/>
          <p:cNvSpPr/>
          <p:nvPr/>
        </p:nvSpPr>
        <p:spPr>
          <a:xfrm flipH="true">
            <a:off x="2574701" y="3445183"/>
            <a:ext cx="6569299" cy="1860661"/>
          </a:xfrm>
          <a:prstGeom prst="line">
            <a:avLst/>
          </a:prstGeom>
          <a:ln cap="flat" w="38100">
            <a:solidFill>
              <a:srgbClr val="FF914D"/>
            </a:solidFill>
            <a:prstDash val="solid"/>
            <a:headEnd type="none" len="sm" w="sm"/>
            <a:tailEnd type="triangle" len="med" w="lg"/>
          </a:ln>
        </p:spPr>
      </p:sp>
      <p:sp>
        <p:nvSpPr>
          <p:cNvPr name="AutoShape 32" id="32"/>
          <p:cNvSpPr/>
          <p:nvPr/>
        </p:nvSpPr>
        <p:spPr>
          <a:xfrm flipH="true">
            <a:off x="5879520" y="3445183"/>
            <a:ext cx="3264480" cy="1860661"/>
          </a:xfrm>
          <a:prstGeom prst="line">
            <a:avLst/>
          </a:prstGeom>
          <a:ln cap="flat" w="38100">
            <a:solidFill>
              <a:srgbClr val="FF914D"/>
            </a:solidFill>
            <a:prstDash val="solid"/>
            <a:headEnd type="none" len="sm" w="sm"/>
            <a:tailEnd type="triangle" len="med" w="lg"/>
          </a:ln>
        </p:spPr>
      </p:sp>
      <p:sp>
        <p:nvSpPr>
          <p:cNvPr name="AutoShape 33" id="33"/>
          <p:cNvSpPr/>
          <p:nvPr/>
        </p:nvSpPr>
        <p:spPr>
          <a:xfrm>
            <a:off x="9144000" y="3445183"/>
            <a:ext cx="40364" cy="1860661"/>
          </a:xfrm>
          <a:prstGeom prst="line">
            <a:avLst/>
          </a:prstGeom>
          <a:ln cap="flat" w="38100">
            <a:solidFill>
              <a:srgbClr val="FF914D"/>
            </a:solidFill>
            <a:prstDash val="solid"/>
            <a:headEnd type="none" len="sm" w="sm"/>
            <a:tailEnd type="triangle" len="med" w="lg"/>
          </a:ln>
        </p:spPr>
      </p:sp>
      <p:sp>
        <p:nvSpPr>
          <p:cNvPr name="AutoShape 34" id="34"/>
          <p:cNvSpPr/>
          <p:nvPr/>
        </p:nvSpPr>
        <p:spPr>
          <a:xfrm>
            <a:off x="9144000" y="3445183"/>
            <a:ext cx="3345207" cy="1860661"/>
          </a:xfrm>
          <a:prstGeom prst="line">
            <a:avLst/>
          </a:prstGeom>
          <a:ln cap="flat" w="38100">
            <a:solidFill>
              <a:srgbClr val="FF914D"/>
            </a:solidFill>
            <a:prstDash val="solid"/>
            <a:headEnd type="none" len="sm" w="sm"/>
            <a:tailEnd type="triangle" len="med" w="lg"/>
          </a:ln>
        </p:spPr>
      </p:sp>
      <p:sp>
        <p:nvSpPr>
          <p:cNvPr name="AutoShape 35" id="35"/>
          <p:cNvSpPr/>
          <p:nvPr/>
        </p:nvSpPr>
        <p:spPr>
          <a:xfrm>
            <a:off x="9144000" y="3445183"/>
            <a:ext cx="6650051" cy="1860661"/>
          </a:xfrm>
          <a:prstGeom prst="line">
            <a:avLst/>
          </a:prstGeom>
          <a:ln cap="flat" w="38100">
            <a:solidFill>
              <a:srgbClr val="FF914D"/>
            </a:solidFill>
            <a:prstDash val="solid"/>
            <a:headEnd type="none" len="sm" w="sm"/>
            <a:tailEnd type="triangle" len="med" w="lg"/>
          </a:ln>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29</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sp>
        <p:nvSpPr>
          <p:cNvPr name="TextBox 11" id="11"/>
          <p:cNvSpPr txBox="true"/>
          <p:nvPr/>
        </p:nvSpPr>
        <p:spPr>
          <a:xfrm rot="0">
            <a:off x="293484" y="573510"/>
            <a:ext cx="17303001" cy="804777"/>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V. KẾT LUẬN VÀ HƯỚNG PHÁT TRIỂN</a:t>
            </a:r>
          </a:p>
        </p:txBody>
      </p:sp>
      <p:sp>
        <p:nvSpPr>
          <p:cNvPr name="TextBox 12" id="12"/>
          <p:cNvSpPr txBox="true"/>
          <p:nvPr/>
        </p:nvSpPr>
        <p:spPr>
          <a:xfrm rot="0">
            <a:off x="293484" y="1873558"/>
            <a:ext cx="11210173" cy="571500"/>
          </a:xfrm>
          <a:prstGeom prst="rect">
            <a:avLst/>
          </a:prstGeom>
        </p:spPr>
        <p:txBody>
          <a:bodyPr anchor="t" rtlCol="false" tIns="0" lIns="0" bIns="0" rIns="0">
            <a:spAutoFit/>
          </a:bodyPr>
          <a:lstStyle/>
          <a:p>
            <a:pPr algn="l">
              <a:lnSpc>
                <a:spcPts val="4319"/>
              </a:lnSpc>
            </a:pPr>
            <a:r>
              <a:rPr lang="en-US" sz="3599" b="true">
                <a:solidFill>
                  <a:srgbClr val="FF751F"/>
                </a:solidFill>
                <a:latin typeface="Arial Bold"/>
                <a:ea typeface="Arial Bold"/>
                <a:cs typeface="Arial Bold"/>
                <a:sym typeface="Arial Bold"/>
              </a:rPr>
              <a:t>5.2. Hạn chế của đề tài</a:t>
            </a:r>
          </a:p>
        </p:txBody>
      </p:sp>
      <p:grpSp>
        <p:nvGrpSpPr>
          <p:cNvPr name="Group 13" id="13"/>
          <p:cNvGrpSpPr/>
          <p:nvPr/>
        </p:nvGrpSpPr>
        <p:grpSpPr>
          <a:xfrm rot="0">
            <a:off x="1586001" y="8792888"/>
            <a:ext cx="14717967" cy="883078"/>
            <a:chOff x="0" y="0"/>
            <a:chExt cx="19050000" cy="1143000"/>
          </a:xfrm>
        </p:grpSpPr>
        <p:sp>
          <p:nvSpPr>
            <p:cNvPr name="Freeform 14" id="14"/>
            <p:cNvSpPr/>
            <p:nvPr/>
          </p:nvSpPr>
          <p:spPr>
            <a:xfrm flipH="false" flipV="false" rot="0">
              <a:off x="0" y="0"/>
              <a:ext cx="19050000" cy="1143000"/>
            </a:xfrm>
            <a:custGeom>
              <a:avLst/>
              <a:gdLst/>
              <a:ahLst/>
              <a:cxnLst/>
              <a:rect r="r" b="b" t="t" l="l"/>
              <a:pathLst>
                <a:path h="1143000" w="19050000">
                  <a:moveTo>
                    <a:pt x="114300" y="0"/>
                  </a:moveTo>
                  <a:lnTo>
                    <a:pt x="18935700" y="0"/>
                  </a:lnTo>
                  <a:cubicBezTo>
                    <a:pt x="18998826" y="0"/>
                    <a:pt x="19050000" y="51174"/>
                    <a:pt x="19050000" y="114300"/>
                  </a:cubicBezTo>
                  <a:lnTo>
                    <a:pt x="19050000" y="1028700"/>
                  </a:lnTo>
                  <a:cubicBezTo>
                    <a:pt x="19050000" y="1091826"/>
                    <a:pt x="18998826" y="1143000"/>
                    <a:pt x="18935700" y="1143000"/>
                  </a:cubicBezTo>
                  <a:lnTo>
                    <a:pt x="114300" y="1143000"/>
                  </a:lnTo>
                  <a:cubicBezTo>
                    <a:pt x="51174" y="1143000"/>
                    <a:pt x="0" y="1091826"/>
                    <a:pt x="0" y="1028700"/>
                  </a:cubicBezTo>
                  <a:lnTo>
                    <a:pt x="0" y="114300"/>
                  </a:lnTo>
                  <a:cubicBezTo>
                    <a:pt x="0" y="51174"/>
                    <a:pt x="51174" y="0"/>
                    <a:pt x="114300" y="0"/>
                  </a:cubicBezTo>
                  <a:close/>
                </a:path>
              </a:pathLst>
            </a:custGeom>
            <a:solidFill>
              <a:srgbClr val="FFFFFF"/>
            </a:solidFill>
            <a:ln w="19050" cap="sq">
              <a:solidFill>
                <a:srgbClr val="053384"/>
              </a:solidFill>
              <a:prstDash val="solid"/>
              <a:miter/>
            </a:ln>
          </p:spPr>
        </p:sp>
        <p:sp>
          <p:nvSpPr>
            <p:cNvPr name="TextBox 15" id="15"/>
            <p:cNvSpPr txBox="true"/>
            <p:nvPr/>
          </p:nvSpPr>
          <p:spPr>
            <a:xfrm>
              <a:off x="0" y="-57150"/>
              <a:ext cx="19050000" cy="1200150"/>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000000"/>
                  </a:solidFill>
                  <a:latin typeface="Arial"/>
                  <a:ea typeface="Arial"/>
                  <a:cs typeface="Arial"/>
                  <a:sym typeface="Arial"/>
                </a:rPr>
                <a:t>ERA5 phân giải tháng; dự báo 2026 chưa có ground truth đối chứng.</a:t>
              </a:r>
            </a:p>
          </p:txBody>
        </p:sp>
      </p:grpSp>
      <p:grpSp>
        <p:nvGrpSpPr>
          <p:cNvPr name="Group 16" id="16"/>
          <p:cNvGrpSpPr/>
          <p:nvPr/>
        </p:nvGrpSpPr>
        <p:grpSpPr>
          <a:xfrm rot="0">
            <a:off x="1586001" y="7792067"/>
            <a:ext cx="14717967" cy="883078"/>
            <a:chOff x="0" y="0"/>
            <a:chExt cx="19050000" cy="1143000"/>
          </a:xfrm>
        </p:grpSpPr>
        <p:sp>
          <p:nvSpPr>
            <p:cNvPr name="Freeform 17" id="17"/>
            <p:cNvSpPr/>
            <p:nvPr/>
          </p:nvSpPr>
          <p:spPr>
            <a:xfrm flipH="false" flipV="false" rot="0">
              <a:off x="0" y="0"/>
              <a:ext cx="19050000" cy="1143000"/>
            </a:xfrm>
            <a:custGeom>
              <a:avLst/>
              <a:gdLst/>
              <a:ahLst/>
              <a:cxnLst/>
              <a:rect r="r" b="b" t="t" l="l"/>
              <a:pathLst>
                <a:path h="1143000" w="19050000">
                  <a:moveTo>
                    <a:pt x="114300" y="0"/>
                  </a:moveTo>
                  <a:lnTo>
                    <a:pt x="18935700" y="0"/>
                  </a:lnTo>
                  <a:cubicBezTo>
                    <a:pt x="18998826" y="0"/>
                    <a:pt x="19050000" y="51174"/>
                    <a:pt x="19050000" y="114300"/>
                  </a:cubicBezTo>
                  <a:lnTo>
                    <a:pt x="19050000" y="1028700"/>
                  </a:lnTo>
                  <a:cubicBezTo>
                    <a:pt x="19050000" y="1091826"/>
                    <a:pt x="18998826" y="1143000"/>
                    <a:pt x="18935700" y="1143000"/>
                  </a:cubicBezTo>
                  <a:lnTo>
                    <a:pt x="114300" y="1143000"/>
                  </a:lnTo>
                  <a:cubicBezTo>
                    <a:pt x="51174" y="1143000"/>
                    <a:pt x="0" y="1091826"/>
                    <a:pt x="0" y="1028700"/>
                  </a:cubicBezTo>
                  <a:lnTo>
                    <a:pt x="0" y="114300"/>
                  </a:lnTo>
                  <a:cubicBezTo>
                    <a:pt x="0" y="51174"/>
                    <a:pt x="51174" y="0"/>
                    <a:pt x="114300" y="0"/>
                  </a:cubicBezTo>
                  <a:close/>
                </a:path>
              </a:pathLst>
            </a:custGeom>
            <a:solidFill>
              <a:srgbClr val="FFFFFF"/>
            </a:solidFill>
            <a:ln w="19050" cap="sq">
              <a:solidFill>
                <a:srgbClr val="053384"/>
              </a:solidFill>
              <a:prstDash val="solid"/>
              <a:miter/>
            </a:ln>
          </p:spPr>
        </p:sp>
        <p:sp>
          <p:nvSpPr>
            <p:cNvPr name="TextBox 18" id="18"/>
            <p:cNvSpPr txBox="true"/>
            <p:nvPr/>
          </p:nvSpPr>
          <p:spPr>
            <a:xfrm>
              <a:off x="0" y="-57150"/>
              <a:ext cx="19050000" cy="1200150"/>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000000"/>
                  </a:solidFill>
                  <a:latin typeface="Arial"/>
                  <a:ea typeface="Arial"/>
                  <a:cs typeface="Arial"/>
                  <a:sym typeface="Arial"/>
                </a:rPr>
                <a:t>Việt Nam thiếu dữ liệu huấn luyện, dự báo kém tin cậy hơn.</a:t>
              </a:r>
            </a:p>
          </p:txBody>
        </p:sp>
      </p:grpSp>
      <p:grpSp>
        <p:nvGrpSpPr>
          <p:cNvPr name="Group 19" id="19"/>
          <p:cNvGrpSpPr/>
          <p:nvPr/>
        </p:nvGrpSpPr>
        <p:grpSpPr>
          <a:xfrm rot="0">
            <a:off x="1586001" y="6791245"/>
            <a:ext cx="14717967" cy="883078"/>
            <a:chOff x="0" y="0"/>
            <a:chExt cx="19050000" cy="1143000"/>
          </a:xfrm>
        </p:grpSpPr>
        <p:sp>
          <p:nvSpPr>
            <p:cNvPr name="Freeform 20" id="20"/>
            <p:cNvSpPr/>
            <p:nvPr/>
          </p:nvSpPr>
          <p:spPr>
            <a:xfrm flipH="false" flipV="false" rot="0">
              <a:off x="0" y="0"/>
              <a:ext cx="19050000" cy="1143000"/>
            </a:xfrm>
            <a:custGeom>
              <a:avLst/>
              <a:gdLst/>
              <a:ahLst/>
              <a:cxnLst/>
              <a:rect r="r" b="b" t="t" l="l"/>
              <a:pathLst>
                <a:path h="1143000" w="19050000">
                  <a:moveTo>
                    <a:pt x="114300" y="0"/>
                  </a:moveTo>
                  <a:lnTo>
                    <a:pt x="18935700" y="0"/>
                  </a:lnTo>
                  <a:cubicBezTo>
                    <a:pt x="18998826" y="0"/>
                    <a:pt x="19050000" y="51174"/>
                    <a:pt x="19050000" y="114300"/>
                  </a:cubicBezTo>
                  <a:lnTo>
                    <a:pt x="19050000" y="1028700"/>
                  </a:lnTo>
                  <a:cubicBezTo>
                    <a:pt x="19050000" y="1091826"/>
                    <a:pt x="18998826" y="1143000"/>
                    <a:pt x="18935700" y="1143000"/>
                  </a:cubicBezTo>
                  <a:lnTo>
                    <a:pt x="114300" y="1143000"/>
                  </a:lnTo>
                  <a:cubicBezTo>
                    <a:pt x="51174" y="1143000"/>
                    <a:pt x="0" y="1091826"/>
                    <a:pt x="0" y="1028700"/>
                  </a:cubicBezTo>
                  <a:lnTo>
                    <a:pt x="0" y="114300"/>
                  </a:lnTo>
                  <a:cubicBezTo>
                    <a:pt x="0" y="51174"/>
                    <a:pt x="51174" y="0"/>
                    <a:pt x="114300" y="0"/>
                  </a:cubicBezTo>
                  <a:close/>
                </a:path>
              </a:pathLst>
            </a:custGeom>
            <a:solidFill>
              <a:srgbClr val="FFFFFF"/>
            </a:solidFill>
            <a:ln w="19050" cap="sq">
              <a:solidFill>
                <a:srgbClr val="053384"/>
              </a:solidFill>
              <a:prstDash val="solid"/>
              <a:miter/>
            </a:ln>
          </p:spPr>
        </p:sp>
        <p:sp>
          <p:nvSpPr>
            <p:cNvPr name="TextBox 21" id="21"/>
            <p:cNvSpPr txBox="true"/>
            <p:nvPr/>
          </p:nvSpPr>
          <p:spPr>
            <a:xfrm>
              <a:off x="0" y="-57150"/>
              <a:ext cx="19050000" cy="1200150"/>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000000"/>
                  </a:solidFill>
                  <a:latin typeface="Arial"/>
                  <a:ea typeface="Arial"/>
                  <a:cs typeface="Arial"/>
                  <a:sym typeface="Arial"/>
                </a:rPr>
                <a:t>Mô hình phân loại chưa quá tốt do nhãn mất cân bằng.</a:t>
              </a:r>
            </a:p>
          </p:txBody>
        </p:sp>
      </p:grpSp>
      <p:grpSp>
        <p:nvGrpSpPr>
          <p:cNvPr name="Group 22" id="22"/>
          <p:cNvGrpSpPr/>
          <p:nvPr/>
        </p:nvGrpSpPr>
        <p:grpSpPr>
          <a:xfrm rot="0">
            <a:off x="1586001" y="5790423"/>
            <a:ext cx="14717967" cy="883078"/>
            <a:chOff x="0" y="0"/>
            <a:chExt cx="19050000" cy="1143000"/>
          </a:xfrm>
        </p:grpSpPr>
        <p:sp>
          <p:nvSpPr>
            <p:cNvPr name="Freeform 23" id="23"/>
            <p:cNvSpPr/>
            <p:nvPr/>
          </p:nvSpPr>
          <p:spPr>
            <a:xfrm flipH="false" flipV="false" rot="0">
              <a:off x="0" y="0"/>
              <a:ext cx="19050000" cy="1143000"/>
            </a:xfrm>
            <a:custGeom>
              <a:avLst/>
              <a:gdLst/>
              <a:ahLst/>
              <a:cxnLst/>
              <a:rect r="r" b="b" t="t" l="l"/>
              <a:pathLst>
                <a:path h="1143000" w="19050000">
                  <a:moveTo>
                    <a:pt x="114300" y="0"/>
                  </a:moveTo>
                  <a:lnTo>
                    <a:pt x="18935700" y="0"/>
                  </a:lnTo>
                  <a:cubicBezTo>
                    <a:pt x="18998826" y="0"/>
                    <a:pt x="19050000" y="51174"/>
                    <a:pt x="19050000" y="114300"/>
                  </a:cubicBezTo>
                  <a:lnTo>
                    <a:pt x="19050000" y="1028700"/>
                  </a:lnTo>
                  <a:cubicBezTo>
                    <a:pt x="19050000" y="1091826"/>
                    <a:pt x="18998826" y="1143000"/>
                    <a:pt x="18935700" y="1143000"/>
                  </a:cubicBezTo>
                  <a:lnTo>
                    <a:pt x="114300" y="1143000"/>
                  </a:lnTo>
                  <a:cubicBezTo>
                    <a:pt x="51174" y="1143000"/>
                    <a:pt x="0" y="1091826"/>
                    <a:pt x="0" y="1028700"/>
                  </a:cubicBezTo>
                  <a:lnTo>
                    <a:pt x="0" y="114300"/>
                  </a:lnTo>
                  <a:cubicBezTo>
                    <a:pt x="0" y="51174"/>
                    <a:pt x="51174" y="0"/>
                    <a:pt x="114300" y="0"/>
                  </a:cubicBezTo>
                  <a:close/>
                </a:path>
              </a:pathLst>
            </a:custGeom>
            <a:solidFill>
              <a:srgbClr val="FFFFFF"/>
            </a:solidFill>
            <a:ln w="19050" cap="sq">
              <a:solidFill>
                <a:srgbClr val="053384"/>
              </a:solidFill>
              <a:prstDash val="solid"/>
              <a:miter/>
            </a:ln>
          </p:spPr>
        </p:sp>
        <p:sp>
          <p:nvSpPr>
            <p:cNvPr name="TextBox 24" id="24"/>
            <p:cNvSpPr txBox="true"/>
            <p:nvPr/>
          </p:nvSpPr>
          <p:spPr>
            <a:xfrm>
              <a:off x="0" y="-57150"/>
              <a:ext cx="19050000" cy="1200150"/>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000000"/>
                  </a:solidFill>
                  <a:latin typeface="Arial"/>
                  <a:ea typeface="Arial"/>
                  <a:cs typeface="Arial"/>
                  <a:sym typeface="Arial"/>
                </a:rPr>
                <a:t>Mô hình đa bước (h=1..4) chưa có kiểm chứng độc lập.</a:t>
              </a:r>
            </a:p>
          </p:txBody>
        </p:sp>
      </p:grpSp>
      <p:grpSp>
        <p:nvGrpSpPr>
          <p:cNvPr name="Group 25" id="25"/>
          <p:cNvGrpSpPr/>
          <p:nvPr/>
        </p:nvGrpSpPr>
        <p:grpSpPr>
          <a:xfrm rot="0">
            <a:off x="1586001" y="4789601"/>
            <a:ext cx="14717967" cy="883078"/>
            <a:chOff x="0" y="0"/>
            <a:chExt cx="19050000" cy="1143000"/>
          </a:xfrm>
        </p:grpSpPr>
        <p:sp>
          <p:nvSpPr>
            <p:cNvPr name="Freeform 26" id="26"/>
            <p:cNvSpPr/>
            <p:nvPr/>
          </p:nvSpPr>
          <p:spPr>
            <a:xfrm flipH="false" flipV="false" rot="0">
              <a:off x="0" y="0"/>
              <a:ext cx="19050000" cy="1143000"/>
            </a:xfrm>
            <a:custGeom>
              <a:avLst/>
              <a:gdLst/>
              <a:ahLst/>
              <a:cxnLst/>
              <a:rect r="r" b="b" t="t" l="l"/>
              <a:pathLst>
                <a:path h="1143000" w="19050000">
                  <a:moveTo>
                    <a:pt x="114300" y="0"/>
                  </a:moveTo>
                  <a:lnTo>
                    <a:pt x="18935700" y="0"/>
                  </a:lnTo>
                  <a:cubicBezTo>
                    <a:pt x="18998826" y="0"/>
                    <a:pt x="19050000" y="51174"/>
                    <a:pt x="19050000" y="114300"/>
                  </a:cubicBezTo>
                  <a:lnTo>
                    <a:pt x="19050000" y="1028700"/>
                  </a:lnTo>
                  <a:cubicBezTo>
                    <a:pt x="19050000" y="1091826"/>
                    <a:pt x="18998826" y="1143000"/>
                    <a:pt x="18935700" y="1143000"/>
                  </a:cubicBezTo>
                  <a:lnTo>
                    <a:pt x="114300" y="1143000"/>
                  </a:lnTo>
                  <a:cubicBezTo>
                    <a:pt x="51174" y="1143000"/>
                    <a:pt x="0" y="1091826"/>
                    <a:pt x="0" y="1028700"/>
                  </a:cubicBezTo>
                  <a:lnTo>
                    <a:pt x="0" y="114300"/>
                  </a:lnTo>
                  <a:cubicBezTo>
                    <a:pt x="0" y="51174"/>
                    <a:pt x="51174" y="0"/>
                    <a:pt x="114300" y="0"/>
                  </a:cubicBezTo>
                  <a:close/>
                </a:path>
              </a:pathLst>
            </a:custGeom>
            <a:solidFill>
              <a:srgbClr val="FFFFFF"/>
            </a:solidFill>
            <a:ln w="19050" cap="sq">
              <a:solidFill>
                <a:srgbClr val="053384"/>
              </a:solidFill>
              <a:prstDash val="solid"/>
              <a:miter/>
            </a:ln>
          </p:spPr>
        </p:sp>
        <p:sp>
          <p:nvSpPr>
            <p:cNvPr name="TextBox 27" id="27"/>
            <p:cNvSpPr txBox="true"/>
            <p:nvPr/>
          </p:nvSpPr>
          <p:spPr>
            <a:xfrm>
              <a:off x="0" y="-57150"/>
              <a:ext cx="19050000" cy="1200150"/>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000000"/>
                  </a:solidFill>
                  <a:latin typeface="Arial"/>
                  <a:ea typeface="Arial"/>
                  <a:cs typeface="Arial"/>
                  <a:sym typeface="Arial"/>
                </a:rPr>
                <a:t>Đặc trưng quan trọng mới ở mức toàn cục, chưa giải thích được theo từng nước.</a:t>
              </a:r>
            </a:p>
          </p:txBody>
        </p:sp>
      </p:grpSp>
      <p:grpSp>
        <p:nvGrpSpPr>
          <p:cNvPr name="Group 28" id="28"/>
          <p:cNvGrpSpPr/>
          <p:nvPr/>
        </p:nvGrpSpPr>
        <p:grpSpPr>
          <a:xfrm rot="0">
            <a:off x="1586001" y="3788780"/>
            <a:ext cx="14717967" cy="883078"/>
            <a:chOff x="0" y="0"/>
            <a:chExt cx="19050000" cy="1143000"/>
          </a:xfrm>
        </p:grpSpPr>
        <p:sp>
          <p:nvSpPr>
            <p:cNvPr name="Freeform 29" id="29"/>
            <p:cNvSpPr/>
            <p:nvPr/>
          </p:nvSpPr>
          <p:spPr>
            <a:xfrm flipH="false" flipV="false" rot="0">
              <a:off x="0" y="0"/>
              <a:ext cx="19050000" cy="1143000"/>
            </a:xfrm>
            <a:custGeom>
              <a:avLst/>
              <a:gdLst/>
              <a:ahLst/>
              <a:cxnLst/>
              <a:rect r="r" b="b" t="t" l="l"/>
              <a:pathLst>
                <a:path h="1143000" w="19050000">
                  <a:moveTo>
                    <a:pt x="114300" y="0"/>
                  </a:moveTo>
                  <a:lnTo>
                    <a:pt x="18935700" y="0"/>
                  </a:lnTo>
                  <a:cubicBezTo>
                    <a:pt x="18998826" y="0"/>
                    <a:pt x="19050000" y="51174"/>
                    <a:pt x="19050000" y="114300"/>
                  </a:cubicBezTo>
                  <a:lnTo>
                    <a:pt x="19050000" y="1028700"/>
                  </a:lnTo>
                  <a:cubicBezTo>
                    <a:pt x="19050000" y="1091826"/>
                    <a:pt x="18998826" y="1143000"/>
                    <a:pt x="18935700" y="1143000"/>
                  </a:cubicBezTo>
                  <a:lnTo>
                    <a:pt x="114300" y="1143000"/>
                  </a:lnTo>
                  <a:cubicBezTo>
                    <a:pt x="51174" y="1143000"/>
                    <a:pt x="0" y="1091826"/>
                    <a:pt x="0" y="1028700"/>
                  </a:cubicBezTo>
                  <a:lnTo>
                    <a:pt x="0" y="114300"/>
                  </a:lnTo>
                  <a:cubicBezTo>
                    <a:pt x="0" y="51174"/>
                    <a:pt x="51174" y="0"/>
                    <a:pt x="114300" y="0"/>
                  </a:cubicBezTo>
                  <a:close/>
                </a:path>
              </a:pathLst>
            </a:custGeom>
            <a:solidFill>
              <a:srgbClr val="FFFFFF"/>
            </a:solidFill>
            <a:ln w="19050" cap="sq">
              <a:solidFill>
                <a:srgbClr val="053384"/>
              </a:solidFill>
              <a:prstDash val="solid"/>
              <a:miter/>
            </a:ln>
          </p:spPr>
        </p:sp>
        <p:sp>
          <p:nvSpPr>
            <p:cNvPr name="TextBox 30" id="30"/>
            <p:cNvSpPr txBox="true"/>
            <p:nvPr/>
          </p:nvSpPr>
          <p:spPr>
            <a:xfrm>
              <a:off x="0" y="-57150"/>
              <a:ext cx="19050000" cy="1200150"/>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000000"/>
                  </a:solidFill>
                  <a:latin typeface="Arial"/>
                  <a:ea typeface="Arial"/>
                  <a:cs typeface="Arial"/>
                  <a:sym typeface="Arial"/>
                </a:rPr>
                <a:t>Phân loại nguy cơ còn suy ra từ ngưỡng của Bortman, chưa có classifier riêng.</a:t>
              </a:r>
            </a:p>
          </p:txBody>
        </p:sp>
      </p:grpSp>
      <p:grpSp>
        <p:nvGrpSpPr>
          <p:cNvPr name="Group 31" id="31"/>
          <p:cNvGrpSpPr/>
          <p:nvPr/>
        </p:nvGrpSpPr>
        <p:grpSpPr>
          <a:xfrm rot="0">
            <a:off x="1586001" y="2787958"/>
            <a:ext cx="14717967" cy="883078"/>
            <a:chOff x="0" y="0"/>
            <a:chExt cx="19050000" cy="1143000"/>
          </a:xfrm>
        </p:grpSpPr>
        <p:sp>
          <p:nvSpPr>
            <p:cNvPr name="Freeform 32" id="32"/>
            <p:cNvSpPr/>
            <p:nvPr/>
          </p:nvSpPr>
          <p:spPr>
            <a:xfrm flipH="false" flipV="false" rot="0">
              <a:off x="0" y="0"/>
              <a:ext cx="19050000" cy="1143000"/>
            </a:xfrm>
            <a:custGeom>
              <a:avLst/>
              <a:gdLst/>
              <a:ahLst/>
              <a:cxnLst/>
              <a:rect r="r" b="b" t="t" l="l"/>
              <a:pathLst>
                <a:path h="1143000" w="19050000">
                  <a:moveTo>
                    <a:pt x="114300" y="0"/>
                  </a:moveTo>
                  <a:lnTo>
                    <a:pt x="18935700" y="0"/>
                  </a:lnTo>
                  <a:cubicBezTo>
                    <a:pt x="18998826" y="0"/>
                    <a:pt x="19050000" y="51174"/>
                    <a:pt x="19050000" y="114300"/>
                  </a:cubicBezTo>
                  <a:lnTo>
                    <a:pt x="19050000" y="1028700"/>
                  </a:lnTo>
                  <a:cubicBezTo>
                    <a:pt x="19050000" y="1091826"/>
                    <a:pt x="18998826" y="1143000"/>
                    <a:pt x="18935700" y="1143000"/>
                  </a:cubicBezTo>
                  <a:lnTo>
                    <a:pt x="114300" y="1143000"/>
                  </a:lnTo>
                  <a:cubicBezTo>
                    <a:pt x="51174" y="1143000"/>
                    <a:pt x="0" y="1091826"/>
                    <a:pt x="0" y="1028700"/>
                  </a:cubicBezTo>
                  <a:lnTo>
                    <a:pt x="0" y="114300"/>
                  </a:lnTo>
                  <a:cubicBezTo>
                    <a:pt x="0" y="51174"/>
                    <a:pt x="51174" y="0"/>
                    <a:pt x="114300" y="0"/>
                  </a:cubicBezTo>
                  <a:close/>
                </a:path>
              </a:pathLst>
            </a:custGeom>
            <a:solidFill>
              <a:srgbClr val="FFFFFF"/>
            </a:solidFill>
            <a:ln w="19050" cap="sq">
              <a:solidFill>
                <a:srgbClr val="053384"/>
              </a:solidFill>
              <a:prstDash val="solid"/>
              <a:miter/>
            </a:ln>
          </p:spPr>
        </p:sp>
        <p:sp>
          <p:nvSpPr>
            <p:cNvPr name="TextBox 33" id="33"/>
            <p:cNvSpPr txBox="true"/>
            <p:nvPr/>
          </p:nvSpPr>
          <p:spPr>
            <a:xfrm>
              <a:off x="0" y="-57150"/>
              <a:ext cx="19050000" cy="1200150"/>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000000"/>
                  </a:solidFill>
                  <a:latin typeface="Arial"/>
                  <a:ea typeface="Arial"/>
                  <a:cs typeface="Arial"/>
                  <a:sym typeface="Arial"/>
                </a:rPr>
                <a:t>Giới hạn về mặt dữ liệu: số quốc gia và độ dài chuỗi thời gian còn hạn chế.</a:t>
              </a: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30</a:t>
              </a:r>
            </a:p>
          </p:txBody>
        </p:sp>
      </p:grpSp>
      <p:grpSp>
        <p:nvGrpSpPr>
          <p:cNvPr name="Group 9" id="9"/>
          <p:cNvGrpSpPr/>
          <p:nvPr/>
        </p:nvGrpSpPr>
        <p:grpSpPr>
          <a:xfrm rot="0">
            <a:off x="0" y="1423997"/>
            <a:ext cx="4682928" cy="137160"/>
            <a:chOff x="0" y="0"/>
            <a:chExt cx="6243904" cy="182880"/>
          </a:xfrm>
        </p:grpSpPr>
        <p:sp>
          <p:nvSpPr>
            <p:cNvPr name="Freeform 10" id="10"/>
            <p:cNvSpPr/>
            <p:nvPr/>
          </p:nvSpPr>
          <p:spPr>
            <a:xfrm flipH="false" flipV="false" rot="0">
              <a:off x="0" y="0"/>
              <a:ext cx="6243955" cy="182880"/>
            </a:xfrm>
            <a:custGeom>
              <a:avLst/>
              <a:gdLst/>
              <a:ahLst/>
              <a:cxnLst/>
              <a:rect r="r" b="b" t="t" l="l"/>
              <a:pathLst>
                <a:path h="182880" w="6243955">
                  <a:moveTo>
                    <a:pt x="0" y="0"/>
                  </a:moveTo>
                  <a:lnTo>
                    <a:pt x="6243955" y="0"/>
                  </a:lnTo>
                  <a:lnTo>
                    <a:pt x="6243955" y="182880"/>
                  </a:lnTo>
                  <a:lnTo>
                    <a:pt x="0" y="182880"/>
                  </a:lnTo>
                  <a:lnTo>
                    <a:pt x="0" y="0"/>
                  </a:lnTo>
                  <a:close/>
                </a:path>
              </a:pathLst>
            </a:custGeom>
            <a:blipFill>
              <a:blip r:embed="rId6"/>
              <a:stretch>
                <a:fillRect l="0" t="6" r="-244622" b="-789145"/>
              </a:stretch>
            </a:blipFill>
          </p:spPr>
        </p:sp>
      </p:grpSp>
      <p:grpSp>
        <p:nvGrpSpPr>
          <p:cNvPr name="Group 11" id="11"/>
          <p:cNvGrpSpPr/>
          <p:nvPr/>
        </p:nvGrpSpPr>
        <p:grpSpPr>
          <a:xfrm rot="0">
            <a:off x="1586001" y="8792888"/>
            <a:ext cx="14717967" cy="883078"/>
            <a:chOff x="0" y="0"/>
            <a:chExt cx="19050000" cy="1143000"/>
          </a:xfrm>
        </p:grpSpPr>
        <p:sp>
          <p:nvSpPr>
            <p:cNvPr name="Freeform 12" id="12"/>
            <p:cNvSpPr/>
            <p:nvPr/>
          </p:nvSpPr>
          <p:spPr>
            <a:xfrm flipH="false" flipV="false" rot="0">
              <a:off x="0" y="0"/>
              <a:ext cx="19050000" cy="1143000"/>
            </a:xfrm>
            <a:custGeom>
              <a:avLst/>
              <a:gdLst/>
              <a:ahLst/>
              <a:cxnLst/>
              <a:rect r="r" b="b" t="t" l="l"/>
              <a:pathLst>
                <a:path h="1143000" w="19050000">
                  <a:moveTo>
                    <a:pt x="114300" y="0"/>
                  </a:moveTo>
                  <a:lnTo>
                    <a:pt x="18935700" y="0"/>
                  </a:lnTo>
                  <a:cubicBezTo>
                    <a:pt x="18998826" y="0"/>
                    <a:pt x="19050000" y="51174"/>
                    <a:pt x="19050000" y="114300"/>
                  </a:cubicBezTo>
                  <a:lnTo>
                    <a:pt x="19050000" y="1028700"/>
                  </a:lnTo>
                  <a:cubicBezTo>
                    <a:pt x="19050000" y="1091826"/>
                    <a:pt x="18998826" y="1143000"/>
                    <a:pt x="18935700" y="1143000"/>
                  </a:cubicBezTo>
                  <a:lnTo>
                    <a:pt x="114300" y="1143000"/>
                  </a:lnTo>
                  <a:cubicBezTo>
                    <a:pt x="51174" y="1143000"/>
                    <a:pt x="0" y="1091826"/>
                    <a:pt x="0" y="1028700"/>
                  </a:cubicBezTo>
                  <a:lnTo>
                    <a:pt x="0" y="114300"/>
                  </a:lnTo>
                  <a:cubicBezTo>
                    <a:pt x="0" y="51174"/>
                    <a:pt x="51174" y="0"/>
                    <a:pt x="114300" y="0"/>
                  </a:cubicBezTo>
                  <a:close/>
                </a:path>
              </a:pathLst>
            </a:custGeom>
            <a:solidFill>
              <a:srgbClr val="FFFFFF"/>
            </a:solidFill>
            <a:ln w="19050" cap="sq">
              <a:solidFill>
                <a:srgbClr val="053384"/>
              </a:solidFill>
              <a:prstDash val="solid"/>
              <a:miter/>
            </a:ln>
          </p:spPr>
        </p:sp>
        <p:sp>
          <p:nvSpPr>
            <p:cNvPr name="TextBox 13" id="13"/>
            <p:cNvSpPr txBox="true"/>
            <p:nvPr/>
          </p:nvSpPr>
          <p:spPr>
            <a:xfrm>
              <a:off x="0" y="-57150"/>
              <a:ext cx="19050000" cy="1200150"/>
            </a:xfrm>
            <a:prstGeom prst="rect">
              <a:avLst/>
            </a:prstGeom>
          </p:spPr>
          <p:txBody>
            <a:bodyPr anchor="ctr" rtlCol="false" tIns="50800" lIns="50800" bIns="50800" rIns="50800"/>
            <a:lstStyle/>
            <a:p>
              <a:pPr algn="ctr" marL="0" indent="0" lvl="0">
                <a:lnSpc>
                  <a:spcPts val="3499"/>
                </a:lnSpc>
                <a:spcBef>
                  <a:spcPct val="0"/>
                </a:spcBef>
              </a:pPr>
              <a:r>
                <a:rPr lang="en-US" sz="2499">
                  <a:solidFill>
                    <a:srgbClr val="000000"/>
                  </a:solidFill>
                  <a:latin typeface="Arial"/>
                  <a:ea typeface="Arial"/>
                  <a:cs typeface="Arial"/>
                  <a:sym typeface="Arial"/>
                </a:rPr>
                <a:t>Mở</a:t>
              </a:r>
              <a:r>
                <a:rPr lang="en-US" sz="2499" strike="noStrike" u="none">
                  <a:solidFill>
                    <a:srgbClr val="000000"/>
                  </a:solidFill>
                  <a:latin typeface="Arial"/>
                  <a:ea typeface="Arial"/>
                  <a:cs typeface="Arial"/>
                  <a:sym typeface="Arial"/>
                </a:rPr>
                <a:t> </a:t>
              </a:r>
              <a:r>
                <a:rPr lang="en-US" sz="2499" strike="noStrike" u="none">
                  <a:solidFill>
                    <a:srgbClr val="000000"/>
                  </a:solidFill>
                  <a:latin typeface="Arial"/>
                  <a:ea typeface="Arial"/>
                  <a:cs typeface="Arial"/>
                  <a:sym typeface="Arial"/>
                </a:rPr>
                <a:t>rộ</a:t>
              </a:r>
              <a:r>
                <a:rPr lang="en-US" sz="2499" strike="noStrike" u="none">
                  <a:solidFill>
                    <a:srgbClr val="000000"/>
                  </a:solidFill>
                  <a:latin typeface="Arial"/>
                  <a:ea typeface="Arial"/>
                  <a:cs typeface="Arial"/>
                  <a:sym typeface="Arial"/>
                </a:rPr>
                <a:t>ng </a:t>
              </a:r>
              <a:r>
                <a:rPr lang="en-US" sz="2499" strike="noStrike" u="none">
                  <a:solidFill>
                    <a:srgbClr val="000000"/>
                  </a:solidFill>
                  <a:latin typeface="Arial"/>
                  <a:ea typeface="Arial"/>
                  <a:cs typeface="Arial"/>
                  <a:sym typeface="Arial"/>
                </a:rPr>
                <a:t>sa</a:t>
              </a:r>
              <a:r>
                <a:rPr lang="en-US" sz="2499" strike="noStrike" u="none">
                  <a:solidFill>
                    <a:srgbClr val="000000"/>
                  </a:solidFill>
                  <a:latin typeface="Arial"/>
                  <a:ea typeface="Arial"/>
                  <a:cs typeface="Arial"/>
                  <a:sym typeface="Arial"/>
                </a:rPr>
                <a:t>ng </a:t>
              </a:r>
              <a:r>
                <a:rPr lang="en-US" sz="2499" strike="noStrike" u="none">
                  <a:solidFill>
                    <a:srgbClr val="000000"/>
                  </a:solidFill>
                  <a:latin typeface="Arial"/>
                  <a:ea typeface="Arial"/>
                  <a:cs typeface="Arial"/>
                  <a:sym typeface="Arial"/>
                </a:rPr>
                <a:t>RSV, sốt</a:t>
              </a:r>
              <a:r>
                <a:rPr lang="en-US" sz="2499" strike="noStrike" u="none">
                  <a:solidFill>
                    <a:srgbClr val="000000"/>
                  </a:solidFill>
                  <a:latin typeface="Arial"/>
                  <a:ea typeface="Arial"/>
                  <a:cs typeface="Arial"/>
                  <a:sym typeface="Arial"/>
                </a:rPr>
                <a:t> </a:t>
              </a:r>
              <a:r>
                <a:rPr lang="en-US" sz="2499" strike="noStrike" u="none">
                  <a:solidFill>
                    <a:srgbClr val="000000"/>
                  </a:solidFill>
                  <a:latin typeface="Arial"/>
                  <a:ea typeface="Arial"/>
                  <a:cs typeface="Arial"/>
                  <a:sym typeface="Arial"/>
                </a:rPr>
                <a:t>rét</a:t>
              </a:r>
              <a:r>
                <a:rPr lang="en-US" sz="2499" strike="noStrike" u="none">
                  <a:solidFill>
                    <a:srgbClr val="000000"/>
                  </a:solidFill>
                  <a:latin typeface="Arial"/>
                  <a:ea typeface="Arial"/>
                  <a:cs typeface="Arial"/>
                  <a:sym typeface="Arial"/>
                </a:rPr>
                <a:t> </a:t>
              </a:r>
              <a:r>
                <a:rPr lang="en-US" sz="2499" strike="noStrike" u="none">
                  <a:solidFill>
                    <a:srgbClr val="000000"/>
                  </a:solidFill>
                  <a:latin typeface="Arial"/>
                  <a:ea typeface="Arial"/>
                  <a:cs typeface="Arial"/>
                  <a:sym typeface="Arial"/>
                </a:rPr>
                <a:t>n</a:t>
              </a:r>
              <a:r>
                <a:rPr lang="en-US" sz="2499" strike="noStrike" u="none">
                  <a:solidFill>
                    <a:srgbClr val="000000"/>
                  </a:solidFill>
                  <a:latin typeface="Arial"/>
                  <a:ea typeface="Arial"/>
                  <a:cs typeface="Arial"/>
                  <a:sym typeface="Arial"/>
                </a:rPr>
                <a:t>h</a:t>
              </a:r>
              <a:r>
                <a:rPr lang="en-US" sz="2499" strike="noStrike" u="none">
                  <a:solidFill>
                    <a:srgbClr val="000000"/>
                  </a:solidFill>
                  <a:latin typeface="Arial"/>
                  <a:ea typeface="Arial"/>
                  <a:cs typeface="Arial"/>
                  <a:sym typeface="Arial"/>
                </a:rPr>
                <a:t>ờ</a:t>
              </a:r>
              <a:r>
                <a:rPr lang="en-US" sz="2499" strike="noStrike" u="none">
                  <a:solidFill>
                    <a:srgbClr val="000000"/>
                  </a:solidFill>
                  <a:latin typeface="Arial"/>
                  <a:ea typeface="Arial"/>
                  <a:cs typeface="Arial"/>
                  <a:sym typeface="Arial"/>
                </a:rPr>
                <a:t> c</a:t>
              </a:r>
              <a:r>
                <a:rPr lang="en-US" sz="2499" strike="noStrike" u="none">
                  <a:solidFill>
                    <a:srgbClr val="000000"/>
                  </a:solidFill>
                  <a:latin typeface="Arial"/>
                  <a:ea typeface="Arial"/>
                  <a:cs typeface="Arial"/>
                  <a:sym typeface="Arial"/>
                </a:rPr>
                <a:t>atal</a:t>
              </a:r>
              <a:r>
                <a:rPr lang="en-US" sz="2499" strike="noStrike" u="none">
                  <a:solidFill>
                    <a:srgbClr val="000000"/>
                  </a:solidFill>
                  <a:latin typeface="Arial"/>
                  <a:ea typeface="Arial"/>
                  <a:cs typeface="Arial"/>
                  <a:sym typeface="Arial"/>
                </a:rPr>
                <a:t>o</a:t>
              </a:r>
              <a:r>
                <a:rPr lang="en-US" sz="2499" strike="noStrike" u="none">
                  <a:solidFill>
                    <a:srgbClr val="000000"/>
                  </a:solidFill>
                  <a:latin typeface="Arial"/>
                  <a:ea typeface="Arial"/>
                  <a:cs typeface="Arial"/>
                  <a:sym typeface="Arial"/>
                </a:rPr>
                <a:t>g-</a:t>
              </a:r>
              <a:r>
                <a:rPr lang="en-US" sz="2499" strike="noStrike" u="none">
                  <a:solidFill>
                    <a:srgbClr val="000000"/>
                  </a:solidFill>
                  <a:latin typeface="Arial"/>
                  <a:ea typeface="Arial"/>
                  <a:cs typeface="Arial"/>
                  <a:sym typeface="Arial"/>
                </a:rPr>
                <a:t>dri</a:t>
              </a:r>
              <a:r>
                <a:rPr lang="en-US" sz="2499" strike="noStrike" u="none">
                  <a:solidFill>
                    <a:srgbClr val="000000"/>
                  </a:solidFill>
                  <a:latin typeface="Arial"/>
                  <a:ea typeface="Arial"/>
                  <a:cs typeface="Arial"/>
                  <a:sym typeface="Arial"/>
                </a:rPr>
                <a:t>ve</a:t>
              </a:r>
              <a:r>
                <a:rPr lang="en-US" sz="2499" strike="noStrike" u="none">
                  <a:solidFill>
                    <a:srgbClr val="000000"/>
                  </a:solidFill>
                  <a:latin typeface="Arial"/>
                  <a:ea typeface="Arial"/>
                  <a:cs typeface="Arial"/>
                  <a:sym typeface="Arial"/>
                </a:rPr>
                <a:t>n.</a:t>
              </a:r>
            </a:p>
          </p:txBody>
        </p:sp>
      </p:grpSp>
      <p:grpSp>
        <p:nvGrpSpPr>
          <p:cNvPr name="Group 14" id="14"/>
          <p:cNvGrpSpPr/>
          <p:nvPr/>
        </p:nvGrpSpPr>
        <p:grpSpPr>
          <a:xfrm rot="0">
            <a:off x="1586001" y="7792067"/>
            <a:ext cx="14717967" cy="883078"/>
            <a:chOff x="0" y="0"/>
            <a:chExt cx="19050000" cy="1143000"/>
          </a:xfrm>
        </p:grpSpPr>
        <p:sp>
          <p:nvSpPr>
            <p:cNvPr name="Freeform 15" id="15"/>
            <p:cNvSpPr/>
            <p:nvPr/>
          </p:nvSpPr>
          <p:spPr>
            <a:xfrm flipH="false" flipV="false" rot="0">
              <a:off x="0" y="0"/>
              <a:ext cx="19050000" cy="1143000"/>
            </a:xfrm>
            <a:custGeom>
              <a:avLst/>
              <a:gdLst/>
              <a:ahLst/>
              <a:cxnLst/>
              <a:rect r="r" b="b" t="t" l="l"/>
              <a:pathLst>
                <a:path h="1143000" w="19050000">
                  <a:moveTo>
                    <a:pt x="114300" y="0"/>
                  </a:moveTo>
                  <a:lnTo>
                    <a:pt x="18935700" y="0"/>
                  </a:lnTo>
                  <a:cubicBezTo>
                    <a:pt x="18998826" y="0"/>
                    <a:pt x="19050000" y="51174"/>
                    <a:pt x="19050000" y="114300"/>
                  </a:cubicBezTo>
                  <a:lnTo>
                    <a:pt x="19050000" y="1028700"/>
                  </a:lnTo>
                  <a:cubicBezTo>
                    <a:pt x="19050000" y="1091826"/>
                    <a:pt x="18998826" y="1143000"/>
                    <a:pt x="18935700" y="1143000"/>
                  </a:cubicBezTo>
                  <a:lnTo>
                    <a:pt x="114300" y="1143000"/>
                  </a:lnTo>
                  <a:cubicBezTo>
                    <a:pt x="51174" y="1143000"/>
                    <a:pt x="0" y="1091826"/>
                    <a:pt x="0" y="1028700"/>
                  </a:cubicBezTo>
                  <a:lnTo>
                    <a:pt x="0" y="114300"/>
                  </a:lnTo>
                  <a:cubicBezTo>
                    <a:pt x="0" y="51174"/>
                    <a:pt x="51174" y="0"/>
                    <a:pt x="114300" y="0"/>
                  </a:cubicBezTo>
                  <a:close/>
                </a:path>
              </a:pathLst>
            </a:custGeom>
            <a:solidFill>
              <a:srgbClr val="FFFFFF"/>
            </a:solidFill>
            <a:ln w="19050" cap="sq">
              <a:solidFill>
                <a:srgbClr val="053384"/>
              </a:solidFill>
              <a:prstDash val="solid"/>
              <a:miter/>
            </a:ln>
          </p:spPr>
        </p:sp>
        <p:sp>
          <p:nvSpPr>
            <p:cNvPr name="TextBox 16" id="16"/>
            <p:cNvSpPr txBox="true"/>
            <p:nvPr/>
          </p:nvSpPr>
          <p:spPr>
            <a:xfrm>
              <a:off x="0" y="-57150"/>
              <a:ext cx="19050000" cy="1200150"/>
            </a:xfrm>
            <a:prstGeom prst="rect">
              <a:avLst/>
            </a:prstGeom>
          </p:spPr>
          <p:txBody>
            <a:bodyPr anchor="ctr" rtlCol="false" tIns="50800" lIns="50800" bIns="50800" rIns="50800"/>
            <a:lstStyle/>
            <a:p>
              <a:pPr algn="ctr" marL="0" indent="0" lvl="0">
                <a:lnSpc>
                  <a:spcPts val="3499"/>
                </a:lnSpc>
                <a:spcBef>
                  <a:spcPct val="0"/>
                </a:spcBef>
              </a:pPr>
              <a:r>
                <a:rPr lang="en-US" sz="2499">
                  <a:solidFill>
                    <a:srgbClr val="000000"/>
                  </a:solidFill>
                  <a:latin typeface="Arial"/>
                  <a:ea typeface="Arial"/>
                  <a:cs typeface="Arial"/>
                  <a:sym typeface="Arial"/>
                </a:rPr>
                <a:t>T</a:t>
              </a:r>
              <a:r>
                <a:rPr lang="en-US" sz="2499" strike="noStrike" u="none">
                  <a:solidFill>
                    <a:srgbClr val="000000"/>
                  </a:solidFill>
                  <a:latin typeface="Arial"/>
                  <a:ea typeface="Arial"/>
                  <a:cs typeface="Arial"/>
                  <a:sym typeface="Arial"/>
                </a:rPr>
                <a:t>h</a:t>
              </a:r>
              <a:r>
                <a:rPr lang="en-US" sz="2499" strike="noStrike" u="none">
                  <a:solidFill>
                    <a:srgbClr val="000000"/>
                  </a:solidFill>
                  <a:latin typeface="Arial"/>
                  <a:ea typeface="Arial"/>
                  <a:cs typeface="Arial"/>
                  <a:sym typeface="Arial"/>
                </a:rPr>
                <a:t>ử</a:t>
              </a:r>
              <a:r>
                <a:rPr lang="en-US" sz="2499" strike="noStrike" u="none">
                  <a:solidFill>
                    <a:srgbClr val="000000"/>
                  </a:solidFill>
                  <a:latin typeface="Arial"/>
                  <a:ea typeface="Arial"/>
                  <a:cs typeface="Arial"/>
                  <a:sym typeface="Arial"/>
                </a:rPr>
                <a:t> </a:t>
              </a:r>
              <a:r>
                <a:rPr lang="en-US" sz="2499" strike="noStrike" u="none">
                  <a:solidFill>
                    <a:srgbClr val="000000"/>
                  </a:solidFill>
                  <a:latin typeface="Arial"/>
                  <a:ea typeface="Arial"/>
                  <a:cs typeface="Arial"/>
                  <a:sym typeface="Arial"/>
                </a:rPr>
                <a:t>ngh</a:t>
              </a:r>
              <a:r>
                <a:rPr lang="en-US" sz="2499" strike="noStrike" u="none">
                  <a:solidFill>
                    <a:srgbClr val="000000"/>
                  </a:solidFill>
                  <a:latin typeface="Arial"/>
                  <a:ea typeface="Arial"/>
                  <a:cs typeface="Arial"/>
                  <a:sym typeface="Arial"/>
                </a:rPr>
                <a:t>iệ</a:t>
              </a:r>
              <a:r>
                <a:rPr lang="en-US" sz="2499" strike="noStrike" u="none">
                  <a:solidFill>
                    <a:srgbClr val="000000"/>
                  </a:solidFill>
                  <a:latin typeface="Arial"/>
                  <a:ea typeface="Arial"/>
                  <a:cs typeface="Arial"/>
                  <a:sym typeface="Arial"/>
                </a:rPr>
                <a:t>m</a:t>
              </a:r>
              <a:r>
                <a:rPr lang="en-US" sz="2499" strike="noStrike" u="none">
                  <a:solidFill>
                    <a:srgbClr val="000000"/>
                  </a:solidFill>
                  <a:latin typeface="Arial"/>
                  <a:ea typeface="Arial"/>
                  <a:cs typeface="Arial"/>
                  <a:sym typeface="Arial"/>
                </a:rPr>
                <a:t> </a:t>
              </a:r>
              <a:r>
                <a:rPr lang="en-US" sz="2499" strike="noStrike" u="none">
                  <a:solidFill>
                    <a:srgbClr val="000000"/>
                  </a:solidFill>
                  <a:latin typeface="Arial"/>
                  <a:ea typeface="Arial"/>
                  <a:cs typeface="Arial"/>
                  <a:sym typeface="Arial"/>
                </a:rPr>
                <a:t>LSTM</a:t>
              </a:r>
              <a:r>
                <a:rPr lang="en-US" sz="2499" strike="noStrike" u="none">
                  <a:solidFill>
                    <a:srgbClr val="000000"/>
                  </a:solidFill>
                  <a:latin typeface="Arial"/>
                  <a:ea typeface="Arial"/>
                  <a:cs typeface="Arial"/>
                  <a:sym typeface="Arial"/>
                </a:rPr>
                <a:t> </a:t>
              </a:r>
              <a:r>
                <a:rPr lang="en-US" sz="2499" strike="noStrike" u="none">
                  <a:solidFill>
                    <a:srgbClr val="000000"/>
                  </a:solidFill>
                  <a:latin typeface="Arial"/>
                  <a:ea typeface="Arial"/>
                  <a:cs typeface="Arial"/>
                  <a:sym typeface="Arial"/>
                </a:rPr>
                <a:t>để</a:t>
              </a:r>
              <a:r>
                <a:rPr lang="en-US" sz="2499" strike="noStrike" u="none">
                  <a:solidFill>
                    <a:srgbClr val="000000"/>
                  </a:solidFill>
                  <a:latin typeface="Arial"/>
                  <a:ea typeface="Arial"/>
                  <a:cs typeface="Arial"/>
                  <a:sym typeface="Arial"/>
                </a:rPr>
                <a:t> </a:t>
              </a:r>
              <a:r>
                <a:rPr lang="en-US" sz="2499" strike="noStrike" u="none">
                  <a:solidFill>
                    <a:srgbClr val="000000"/>
                  </a:solidFill>
                  <a:latin typeface="Arial"/>
                  <a:ea typeface="Arial"/>
                  <a:cs typeface="Arial"/>
                  <a:sym typeface="Arial"/>
                </a:rPr>
                <a:t>so</a:t>
              </a:r>
              <a:r>
                <a:rPr lang="en-US" sz="2499" strike="noStrike" u="none">
                  <a:solidFill>
                    <a:srgbClr val="000000"/>
                  </a:solidFill>
                  <a:latin typeface="Arial"/>
                  <a:ea typeface="Arial"/>
                  <a:cs typeface="Arial"/>
                  <a:sym typeface="Arial"/>
                </a:rPr>
                <a:t> </a:t>
              </a:r>
              <a:r>
                <a:rPr lang="en-US" sz="2499" strike="noStrike" u="none">
                  <a:solidFill>
                    <a:srgbClr val="000000"/>
                  </a:solidFill>
                  <a:latin typeface="Arial"/>
                  <a:ea typeface="Arial"/>
                  <a:cs typeface="Arial"/>
                  <a:sym typeface="Arial"/>
                </a:rPr>
                <a:t>s</a:t>
              </a:r>
              <a:r>
                <a:rPr lang="en-US" sz="2499" strike="noStrike" u="none">
                  <a:solidFill>
                    <a:srgbClr val="000000"/>
                  </a:solidFill>
                  <a:latin typeface="Arial"/>
                  <a:ea typeface="Arial"/>
                  <a:cs typeface="Arial"/>
                  <a:sym typeface="Arial"/>
                </a:rPr>
                <a:t>á</a:t>
              </a:r>
              <a:r>
                <a:rPr lang="en-US" sz="2499" strike="noStrike" u="none">
                  <a:solidFill>
                    <a:srgbClr val="000000"/>
                  </a:solidFill>
                  <a:latin typeface="Arial"/>
                  <a:ea typeface="Arial"/>
                  <a:cs typeface="Arial"/>
                  <a:sym typeface="Arial"/>
                </a:rPr>
                <a:t>nh</a:t>
              </a:r>
              <a:r>
                <a:rPr lang="en-US" sz="2499" strike="noStrike" u="none">
                  <a:solidFill>
                    <a:srgbClr val="000000"/>
                  </a:solidFill>
                  <a:latin typeface="Arial"/>
                  <a:ea typeface="Arial"/>
                  <a:cs typeface="Arial"/>
                  <a:sym typeface="Arial"/>
                </a:rPr>
                <a:t> </a:t>
              </a:r>
              <a:r>
                <a:rPr lang="en-US" sz="2499" strike="noStrike" u="none">
                  <a:solidFill>
                    <a:srgbClr val="000000"/>
                  </a:solidFill>
                  <a:latin typeface="Arial"/>
                  <a:ea typeface="Arial"/>
                  <a:cs typeface="Arial"/>
                  <a:sym typeface="Arial"/>
                </a:rPr>
                <a:t>với </a:t>
              </a:r>
              <a:r>
                <a:rPr lang="en-US" sz="2499" strike="noStrike" u="none">
                  <a:solidFill>
                    <a:srgbClr val="000000"/>
                  </a:solidFill>
                  <a:latin typeface="Arial"/>
                  <a:ea typeface="Arial"/>
                  <a:cs typeface="Arial"/>
                  <a:sym typeface="Arial"/>
                </a:rPr>
                <a:t>m</a:t>
              </a:r>
              <a:r>
                <a:rPr lang="en-US" sz="2499" strike="noStrike" u="none">
                  <a:solidFill>
                    <a:srgbClr val="000000"/>
                  </a:solidFill>
                  <a:latin typeface="Arial"/>
                  <a:ea typeface="Arial"/>
                  <a:cs typeface="Arial"/>
                  <a:sym typeface="Arial"/>
                </a:rPr>
                <a:t>ô</a:t>
              </a:r>
              <a:r>
                <a:rPr lang="en-US" sz="2499" strike="noStrike" u="none">
                  <a:solidFill>
                    <a:srgbClr val="000000"/>
                  </a:solidFill>
                  <a:latin typeface="Arial"/>
                  <a:ea typeface="Arial"/>
                  <a:cs typeface="Arial"/>
                  <a:sym typeface="Arial"/>
                </a:rPr>
                <a:t> </a:t>
              </a:r>
              <a:r>
                <a:rPr lang="en-US" sz="2499" strike="noStrike" u="none">
                  <a:solidFill>
                    <a:srgbClr val="000000"/>
                  </a:solidFill>
                  <a:latin typeface="Arial"/>
                  <a:ea typeface="Arial"/>
                  <a:cs typeface="Arial"/>
                  <a:sym typeface="Arial"/>
                </a:rPr>
                <a:t>hì</a:t>
              </a:r>
              <a:r>
                <a:rPr lang="en-US" sz="2499" strike="noStrike" u="none">
                  <a:solidFill>
                    <a:srgbClr val="000000"/>
                  </a:solidFill>
                  <a:latin typeface="Arial"/>
                  <a:ea typeface="Arial"/>
                  <a:cs typeface="Arial"/>
                  <a:sym typeface="Arial"/>
                </a:rPr>
                <a:t>n</a:t>
              </a:r>
              <a:r>
                <a:rPr lang="en-US" sz="2499" strike="noStrike" u="none">
                  <a:solidFill>
                    <a:srgbClr val="000000"/>
                  </a:solidFill>
                  <a:latin typeface="Arial"/>
                  <a:ea typeface="Arial"/>
                  <a:cs typeface="Arial"/>
                  <a:sym typeface="Arial"/>
                </a:rPr>
                <a:t>h</a:t>
              </a:r>
              <a:r>
                <a:rPr lang="en-US" sz="2499" strike="noStrike" u="none">
                  <a:solidFill>
                    <a:srgbClr val="000000"/>
                  </a:solidFill>
                  <a:latin typeface="Arial"/>
                  <a:ea typeface="Arial"/>
                  <a:cs typeface="Arial"/>
                  <a:sym typeface="Arial"/>
                </a:rPr>
                <a:t> h</a:t>
              </a:r>
              <a:r>
                <a:rPr lang="en-US" sz="2499" strike="noStrike" u="none">
                  <a:solidFill>
                    <a:srgbClr val="000000"/>
                  </a:solidFill>
                  <a:latin typeface="Arial"/>
                  <a:ea typeface="Arial"/>
                  <a:cs typeface="Arial"/>
                  <a:sym typeface="Arial"/>
                </a:rPr>
                <a:t>iệ</a:t>
              </a:r>
              <a:r>
                <a:rPr lang="en-US" sz="2499" strike="noStrike" u="none">
                  <a:solidFill>
                    <a:srgbClr val="000000"/>
                  </a:solidFill>
                  <a:latin typeface="Arial"/>
                  <a:ea typeface="Arial"/>
                  <a:cs typeface="Arial"/>
                  <a:sym typeface="Arial"/>
                </a:rPr>
                <a:t>n</a:t>
              </a:r>
              <a:r>
                <a:rPr lang="en-US" sz="2499" strike="noStrike" u="none">
                  <a:solidFill>
                    <a:srgbClr val="000000"/>
                  </a:solidFill>
                  <a:latin typeface="Arial"/>
                  <a:ea typeface="Arial"/>
                  <a:cs typeface="Arial"/>
                  <a:sym typeface="Arial"/>
                </a:rPr>
                <a:t> tại</a:t>
              </a:r>
              <a:r>
                <a:rPr lang="en-US" sz="2499" strike="noStrike" u="none">
                  <a:solidFill>
                    <a:srgbClr val="000000"/>
                  </a:solidFill>
                  <a:latin typeface="Arial"/>
                  <a:ea typeface="Arial"/>
                  <a:cs typeface="Arial"/>
                  <a:sym typeface="Arial"/>
                </a:rPr>
                <a:t>.</a:t>
              </a:r>
            </a:p>
          </p:txBody>
        </p:sp>
      </p:grpSp>
      <p:grpSp>
        <p:nvGrpSpPr>
          <p:cNvPr name="Group 17" id="17"/>
          <p:cNvGrpSpPr/>
          <p:nvPr/>
        </p:nvGrpSpPr>
        <p:grpSpPr>
          <a:xfrm rot="0">
            <a:off x="1586001" y="6791245"/>
            <a:ext cx="14717967" cy="883078"/>
            <a:chOff x="0" y="0"/>
            <a:chExt cx="19050000" cy="1143000"/>
          </a:xfrm>
        </p:grpSpPr>
        <p:sp>
          <p:nvSpPr>
            <p:cNvPr name="Freeform 18" id="18"/>
            <p:cNvSpPr/>
            <p:nvPr/>
          </p:nvSpPr>
          <p:spPr>
            <a:xfrm flipH="false" flipV="false" rot="0">
              <a:off x="0" y="0"/>
              <a:ext cx="19050000" cy="1143000"/>
            </a:xfrm>
            <a:custGeom>
              <a:avLst/>
              <a:gdLst/>
              <a:ahLst/>
              <a:cxnLst/>
              <a:rect r="r" b="b" t="t" l="l"/>
              <a:pathLst>
                <a:path h="1143000" w="19050000">
                  <a:moveTo>
                    <a:pt x="114300" y="0"/>
                  </a:moveTo>
                  <a:lnTo>
                    <a:pt x="18935700" y="0"/>
                  </a:lnTo>
                  <a:cubicBezTo>
                    <a:pt x="18998826" y="0"/>
                    <a:pt x="19050000" y="51174"/>
                    <a:pt x="19050000" y="114300"/>
                  </a:cubicBezTo>
                  <a:lnTo>
                    <a:pt x="19050000" y="1028700"/>
                  </a:lnTo>
                  <a:cubicBezTo>
                    <a:pt x="19050000" y="1091826"/>
                    <a:pt x="18998826" y="1143000"/>
                    <a:pt x="18935700" y="1143000"/>
                  </a:cubicBezTo>
                  <a:lnTo>
                    <a:pt x="114300" y="1143000"/>
                  </a:lnTo>
                  <a:cubicBezTo>
                    <a:pt x="51174" y="1143000"/>
                    <a:pt x="0" y="1091826"/>
                    <a:pt x="0" y="1028700"/>
                  </a:cubicBezTo>
                  <a:lnTo>
                    <a:pt x="0" y="114300"/>
                  </a:lnTo>
                  <a:cubicBezTo>
                    <a:pt x="0" y="51174"/>
                    <a:pt x="51174" y="0"/>
                    <a:pt x="114300" y="0"/>
                  </a:cubicBezTo>
                  <a:close/>
                </a:path>
              </a:pathLst>
            </a:custGeom>
            <a:solidFill>
              <a:srgbClr val="FFFFFF"/>
            </a:solidFill>
            <a:ln w="19050" cap="sq">
              <a:solidFill>
                <a:srgbClr val="053384"/>
              </a:solidFill>
              <a:prstDash val="solid"/>
              <a:miter/>
            </a:ln>
          </p:spPr>
        </p:sp>
        <p:sp>
          <p:nvSpPr>
            <p:cNvPr name="TextBox 19" id="19"/>
            <p:cNvSpPr txBox="true"/>
            <p:nvPr/>
          </p:nvSpPr>
          <p:spPr>
            <a:xfrm>
              <a:off x="0" y="-57150"/>
              <a:ext cx="19050000" cy="1200150"/>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000000"/>
                  </a:solidFill>
                  <a:latin typeface="Arial"/>
                  <a:ea typeface="Arial"/>
                  <a:cs typeface="Arial"/>
                  <a:sym typeface="Arial"/>
                </a:rPr>
                <a:t>Giám sát data drift, tự động retrain khi sai số tăng.</a:t>
              </a:r>
            </a:p>
          </p:txBody>
        </p:sp>
      </p:grpSp>
      <p:grpSp>
        <p:nvGrpSpPr>
          <p:cNvPr name="Group 20" id="20"/>
          <p:cNvGrpSpPr/>
          <p:nvPr/>
        </p:nvGrpSpPr>
        <p:grpSpPr>
          <a:xfrm rot="0">
            <a:off x="1586001" y="5790423"/>
            <a:ext cx="14717967" cy="883078"/>
            <a:chOff x="0" y="0"/>
            <a:chExt cx="19050000" cy="1143000"/>
          </a:xfrm>
        </p:grpSpPr>
        <p:sp>
          <p:nvSpPr>
            <p:cNvPr name="Freeform 21" id="21"/>
            <p:cNvSpPr/>
            <p:nvPr/>
          </p:nvSpPr>
          <p:spPr>
            <a:xfrm flipH="false" flipV="false" rot="0">
              <a:off x="0" y="0"/>
              <a:ext cx="19050000" cy="1143000"/>
            </a:xfrm>
            <a:custGeom>
              <a:avLst/>
              <a:gdLst/>
              <a:ahLst/>
              <a:cxnLst/>
              <a:rect r="r" b="b" t="t" l="l"/>
              <a:pathLst>
                <a:path h="1143000" w="19050000">
                  <a:moveTo>
                    <a:pt x="114300" y="0"/>
                  </a:moveTo>
                  <a:lnTo>
                    <a:pt x="18935700" y="0"/>
                  </a:lnTo>
                  <a:cubicBezTo>
                    <a:pt x="18998826" y="0"/>
                    <a:pt x="19050000" y="51174"/>
                    <a:pt x="19050000" y="114300"/>
                  </a:cubicBezTo>
                  <a:lnTo>
                    <a:pt x="19050000" y="1028700"/>
                  </a:lnTo>
                  <a:cubicBezTo>
                    <a:pt x="19050000" y="1091826"/>
                    <a:pt x="18998826" y="1143000"/>
                    <a:pt x="18935700" y="1143000"/>
                  </a:cubicBezTo>
                  <a:lnTo>
                    <a:pt x="114300" y="1143000"/>
                  </a:lnTo>
                  <a:cubicBezTo>
                    <a:pt x="51174" y="1143000"/>
                    <a:pt x="0" y="1091826"/>
                    <a:pt x="0" y="1028700"/>
                  </a:cubicBezTo>
                  <a:lnTo>
                    <a:pt x="0" y="114300"/>
                  </a:lnTo>
                  <a:cubicBezTo>
                    <a:pt x="0" y="51174"/>
                    <a:pt x="51174" y="0"/>
                    <a:pt x="114300" y="0"/>
                  </a:cubicBezTo>
                  <a:close/>
                </a:path>
              </a:pathLst>
            </a:custGeom>
            <a:solidFill>
              <a:srgbClr val="FFFFFF"/>
            </a:solidFill>
            <a:ln w="19050" cap="sq">
              <a:solidFill>
                <a:srgbClr val="053384"/>
              </a:solidFill>
              <a:prstDash val="solid"/>
              <a:miter/>
            </a:ln>
          </p:spPr>
        </p:sp>
        <p:sp>
          <p:nvSpPr>
            <p:cNvPr name="TextBox 22" id="22"/>
            <p:cNvSpPr txBox="true"/>
            <p:nvPr/>
          </p:nvSpPr>
          <p:spPr>
            <a:xfrm>
              <a:off x="0" y="-57150"/>
              <a:ext cx="19050000" cy="1200150"/>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000000"/>
                  </a:solidFill>
                  <a:latin typeface="Arial"/>
                  <a:ea typeface="Arial"/>
                  <a:cs typeface="Arial"/>
                  <a:sym typeface="Arial"/>
                </a:rPr>
                <a:t>Tích hợp ECDC để cải thiện dữ liệu SXH và cúm Việt Nam.</a:t>
              </a:r>
            </a:p>
          </p:txBody>
        </p:sp>
      </p:grpSp>
      <p:grpSp>
        <p:nvGrpSpPr>
          <p:cNvPr name="Group 23" id="23"/>
          <p:cNvGrpSpPr/>
          <p:nvPr/>
        </p:nvGrpSpPr>
        <p:grpSpPr>
          <a:xfrm rot="0">
            <a:off x="1586001" y="4789601"/>
            <a:ext cx="14717967" cy="883078"/>
            <a:chOff x="0" y="0"/>
            <a:chExt cx="19050000" cy="1143000"/>
          </a:xfrm>
        </p:grpSpPr>
        <p:sp>
          <p:nvSpPr>
            <p:cNvPr name="Freeform 24" id="24"/>
            <p:cNvSpPr/>
            <p:nvPr/>
          </p:nvSpPr>
          <p:spPr>
            <a:xfrm flipH="false" flipV="false" rot="0">
              <a:off x="0" y="0"/>
              <a:ext cx="19050000" cy="1143000"/>
            </a:xfrm>
            <a:custGeom>
              <a:avLst/>
              <a:gdLst/>
              <a:ahLst/>
              <a:cxnLst/>
              <a:rect r="r" b="b" t="t" l="l"/>
              <a:pathLst>
                <a:path h="1143000" w="19050000">
                  <a:moveTo>
                    <a:pt x="114300" y="0"/>
                  </a:moveTo>
                  <a:lnTo>
                    <a:pt x="18935700" y="0"/>
                  </a:lnTo>
                  <a:cubicBezTo>
                    <a:pt x="18998826" y="0"/>
                    <a:pt x="19050000" y="51174"/>
                    <a:pt x="19050000" y="114300"/>
                  </a:cubicBezTo>
                  <a:lnTo>
                    <a:pt x="19050000" y="1028700"/>
                  </a:lnTo>
                  <a:cubicBezTo>
                    <a:pt x="19050000" y="1091826"/>
                    <a:pt x="18998826" y="1143000"/>
                    <a:pt x="18935700" y="1143000"/>
                  </a:cubicBezTo>
                  <a:lnTo>
                    <a:pt x="114300" y="1143000"/>
                  </a:lnTo>
                  <a:cubicBezTo>
                    <a:pt x="51174" y="1143000"/>
                    <a:pt x="0" y="1091826"/>
                    <a:pt x="0" y="1028700"/>
                  </a:cubicBezTo>
                  <a:lnTo>
                    <a:pt x="0" y="114300"/>
                  </a:lnTo>
                  <a:cubicBezTo>
                    <a:pt x="0" y="51174"/>
                    <a:pt x="51174" y="0"/>
                    <a:pt x="114300" y="0"/>
                  </a:cubicBezTo>
                  <a:close/>
                </a:path>
              </a:pathLst>
            </a:custGeom>
            <a:solidFill>
              <a:srgbClr val="FFFFFF"/>
            </a:solidFill>
            <a:ln w="19050" cap="sq">
              <a:solidFill>
                <a:srgbClr val="053384"/>
              </a:solidFill>
              <a:prstDash val="solid"/>
              <a:miter/>
            </a:ln>
          </p:spPr>
        </p:sp>
        <p:sp>
          <p:nvSpPr>
            <p:cNvPr name="TextBox 25" id="25"/>
            <p:cNvSpPr txBox="true"/>
            <p:nvPr/>
          </p:nvSpPr>
          <p:spPr>
            <a:xfrm>
              <a:off x="0" y="-57150"/>
              <a:ext cx="19050000" cy="1200150"/>
            </a:xfrm>
            <a:prstGeom prst="rect">
              <a:avLst/>
            </a:prstGeom>
          </p:spPr>
          <p:txBody>
            <a:bodyPr anchor="ctr" rtlCol="false" tIns="50800" lIns="50800" bIns="50800" rIns="50800"/>
            <a:lstStyle/>
            <a:p>
              <a:pPr algn="ctr" marL="0" indent="0" lvl="0">
                <a:lnSpc>
                  <a:spcPts val="3499"/>
                </a:lnSpc>
                <a:spcBef>
                  <a:spcPct val="0"/>
                </a:spcBef>
              </a:pPr>
              <a:r>
                <a:rPr lang="en-US" sz="2499">
                  <a:solidFill>
                    <a:srgbClr val="000000"/>
                  </a:solidFill>
                  <a:latin typeface="Arial"/>
                  <a:ea typeface="Arial"/>
                  <a:cs typeface="Arial"/>
                  <a:sym typeface="Arial"/>
                </a:rPr>
                <a:t>Bổ</a:t>
              </a:r>
              <a:r>
                <a:rPr lang="en-US" sz="2499" strike="noStrike" u="none">
                  <a:solidFill>
                    <a:srgbClr val="000000"/>
                  </a:solidFill>
                  <a:latin typeface="Arial"/>
                  <a:ea typeface="Arial"/>
                  <a:cs typeface="Arial"/>
                  <a:sym typeface="Arial"/>
                </a:rPr>
                <a:t> </a:t>
              </a:r>
              <a:r>
                <a:rPr lang="en-US" sz="2499" strike="noStrike" u="none">
                  <a:solidFill>
                    <a:srgbClr val="000000"/>
                  </a:solidFill>
                  <a:latin typeface="Arial"/>
                  <a:ea typeface="Arial"/>
                  <a:cs typeface="Arial"/>
                  <a:sym typeface="Arial"/>
                </a:rPr>
                <a:t>su</a:t>
              </a:r>
              <a:r>
                <a:rPr lang="en-US" sz="2499" strike="noStrike" u="none">
                  <a:solidFill>
                    <a:srgbClr val="000000"/>
                  </a:solidFill>
                  <a:latin typeface="Arial"/>
                  <a:ea typeface="Arial"/>
                  <a:cs typeface="Arial"/>
                  <a:sym typeface="Arial"/>
                </a:rPr>
                <a:t>ng </a:t>
              </a:r>
              <a:r>
                <a:rPr lang="en-US" sz="2499" strike="noStrike" u="none">
                  <a:solidFill>
                    <a:srgbClr val="000000"/>
                  </a:solidFill>
                  <a:latin typeface="Arial"/>
                  <a:ea typeface="Arial"/>
                  <a:cs typeface="Arial"/>
                  <a:sym typeface="Arial"/>
                </a:rPr>
                <a:t>hold-o</a:t>
              </a:r>
              <a:r>
                <a:rPr lang="en-US" sz="2499" strike="noStrike" u="none">
                  <a:solidFill>
                    <a:srgbClr val="000000"/>
                  </a:solidFill>
                  <a:latin typeface="Arial"/>
                  <a:ea typeface="Arial"/>
                  <a:cs typeface="Arial"/>
                  <a:sym typeface="Arial"/>
                </a:rPr>
                <a:t>ut </a:t>
              </a:r>
              <a:r>
                <a:rPr lang="en-US" sz="2499" strike="noStrike" u="none">
                  <a:solidFill>
                    <a:srgbClr val="000000"/>
                  </a:solidFill>
                  <a:latin typeface="Arial"/>
                  <a:ea typeface="Arial"/>
                  <a:cs typeface="Arial"/>
                  <a:sym typeface="Arial"/>
                </a:rPr>
                <a:t>2022</a:t>
              </a:r>
              <a:r>
                <a:rPr lang="en-US" sz="2499" strike="noStrike" u="none">
                  <a:solidFill>
                    <a:srgbClr val="000000"/>
                  </a:solidFill>
                  <a:latin typeface="Arial"/>
                  <a:ea typeface="Arial"/>
                  <a:cs typeface="Arial"/>
                  <a:sym typeface="Arial"/>
                </a:rPr>
                <a:t> </a:t>
              </a:r>
              <a:r>
                <a:rPr lang="en-US" sz="2499" strike="noStrike" u="none">
                  <a:solidFill>
                    <a:srgbClr val="000000"/>
                  </a:solidFill>
                  <a:latin typeface="Arial"/>
                  <a:ea typeface="Arial"/>
                  <a:cs typeface="Arial"/>
                  <a:sym typeface="Arial"/>
                </a:rPr>
                <a:t>riê</a:t>
              </a:r>
              <a:r>
                <a:rPr lang="en-US" sz="2499" strike="noStrike" u="none">
                  <a:solidFill>
                    <a:srgbClr val="000000"/>
                  </a:solidFill>
                  <a:latin typeface="Arial"/>
                  <a:ea typeface="Arial"/>
                  <a:cs typeface="Arial"/>
                  <a:sym typeface="Arial"/>
                </a:rPr>
                <a:t>n</a:t>
              </a:r>
              <a:r>
                <a:rPr lang="en-US" sz="2499" strike="noStrike" u="none">
                  <a:solidFill>
                    <a:srgbClr val="000000"/>
                  </a:solidFill>
                  <a:latin typeface="Arial"/>
                  <a:ea typeface="Arial"/>
                  <a:cs typeface="Arial"/>
                  <a:sym typeface="Arial"/>
                </a:rPr>
                <a:t>g</a:t>
              </a:r>
              <a:r>
                <a:rPr lang="en-US" sz="2499" strike="noStrike" u="none">
                  <a:solidFill>
                    <a:srgbClr val="000000"/>
                  </a:solidFill>
                  <a:latin typeface="Arial"/>
                  <a:ea typeface="Arial"/>
                  <a:cs typeface="Arial"/>
                  <a:sym typeface="Arial"/>
                </a:rPr>
                <a:t> ch</a:t>
              </a:r>
              <a:r>
                <a:rPr lang="en-US" sz="2499" strike="noStrike" u="none">
                  <a:solidFill>
                    <a:srgbClr val="000000"/>
                  </a:solidFill>
                  <a:latin typeface="Arial"/>
                  <a:ea typeface="Arial"/>
                  <a:cs typeface="Arial"/>
                  <a:sym typeface="Arial"/>
                </a:rPr>
                <a:t>o</a:t>
              </a:r>
              <a:r>
                <a:rPr lang="en-US" sz="2499" strike="noStrike" u="none">
                  <a:solidFill>
                    <a:srgbClr val="000000"/>
                  </a:solidFill>
                  <a:latin typeface="Arial"/>
                  <a:ea typeface="Arial"/>
                  <a:cs typeface="Arial"/>
                  <a:sym typeface="Arial"/>
                </a:rPr>
                <a:t> </a:t>
              </a:r>
              <a:r>
                <a:rPr lang="en-US" sz="2499" strike="noStrike" u="none">
                  <a:solidFill>
                    <a:srgbClr val="000000"/>
                  </a:solidFill>
                  <a:latin typeface="Arial"/>
                  <a:ea typeface="Arial"/>
                  <a:cs typeface="Arial"/>
                  <a:sym typeface="Arial"/>
                </a:rPr>
                <a:t>mô</a:t>
              </a:r>
              <a:r>
                <a:rPr lang="en-US" sz="2499" strike="noStrike" u="none">
                  <a:solidFill>
                    <a:srgbClr val="000000"/>
                  </a:solidFill>
                  <a:latin typeface="Arial"/>
                  <a:ea typeface="Arial"/>
                  <a:cs typeface="Arial"/>
                  <a:sym typeface="Arial"/>
                </a:rPr>
                <a:t> h</a:t>
              </a:r>
              <a:r>
                <a:rPr lang="en-US" sz="2499" strike="noStrike" u="none">
                  <a:solidFill>
                    <a:srgbClr val="000000"/>
                  </a:solidFill>
                  <a:latin typeface="Arial"/>
                  <a:ea typeface="Arial"/>
                  <a:cs typeface="Arial"/>
                  <a:sym typeface="Arial"/>
                </a:rPr>
                <a:t>ìn</a:t>
              </a:r>
              <a:r>
                <a:rPr lang="en-US" sz="2499" strike="noStrike" u="none">
                  <a:solidFill>
                    <a:srgbClr val="000000"/>
                  </a:solidFill>
                  <a:latin typeface="Arial"/>
                  <a:ea typeface="Arial"/>
                  <a:cs typeface="Arial"/>
                  <a:sym typeface="Arial"/>
                </a:rPr>
                <a:t>h đ</a:t>
              </a:r>
              <a:r>
                <a:rPr lang="en-US" sz="2499" strike="noStrike" u="none">
                  <a:solidFill>
                    <a:srgbClr val="000000"/>
                  </a:solidFill>
                  <a:latin typeface="Arial"/>
                  <a:ea typeface="Arial"/>
                  <a:cs typeface="Arial"/>
                  <a:sym typeface="Arial"/>
                </a:rPr>
                <a:t>a</a:t>
              </a:r>
              <a:r>
                <a:rPr lang="en-US" sz="2499" strike="noStrike" u="none">
                  <a:solidFill>
                    <a:srgbClr val="000000"/>
                  </a:solidFill>
                  <a:latin typeface="Arial"/>
                  <a:ea typeface="Arial"/>
                  <a:cs typeface="Arial"/>
                  <a:sym typeface="Arial"/>
                </a:rPr>
                <a:t> </a:t>
              </a:r>
              <a:r>
                <a:rPr lang="en-US" sz="2499" strike="noStrike" u="none">
                  <a:solidFill>
                    <a:srgbClr val="000000"/>
                  </a:solidFill>
                  <a:latin typeface="Arial"/>
                  <a:ea typeface="Arial"/>
                  <a:cs typeface="Arial"/>
                  <a:sym typeface="Arial"/>
                </a:rPr>
                <a:t>b</a:t>
              </a:r>
              <a:r>
                <a:rPr lang="en-US" sz="2499" strike="noStrike" u="none">
                  <a:solidFill>
                    <a:srgbClr val="000000"/>
                  </a:solidFill>
                  <a:latin typeface="Arial"/>
                  <a:ea typeface="Arial"/>
                  <a:cs typeface="Arial"/>
                  <a:sym typeface="Arial"/>
                </a:rPr>
                <a:t>ước.</a:t>
              </a:r>
            </a:p>
          </p:txBody>
        </p:sp>
      </p:grpSp>
      <p:grpSp>
        <p:nvGrpSpPr>
          <p:cNvPr name="Group 26" id="26"/>
          <p:cNvGrpSpPr/>
          <p:nvPr/>
        </p:nvGrpSpPr>
        <p:grpSpPr>
          <a:xfrm rot="0">
            <a:off x="1586001" y="3788780"/>
            <a:ext cx="14717967" cy="883078"/>
            <a:chOff x="0" y="0"/>
            <a:chExt cx="19050000" cy="1143000"/>
          </a:xfrm>
        </p:grpSpPr>
        <p:sp>
          <p:nvSpPr>
            <p:cNvPr name="Freeform 27" id="27"/>
            <p:cNvSpPr/>
            <p:nvPr/>
          </p:nvSpPr>
          <p:spPr>
            <a:xfrm flipH="false" flipV="false" rot="0">
              <a:off x="0" y="0"/>
              <a:ext cx="19050000" cy="1143000"/>
            </a:xfrm>
            <a:custGeom>
              <a:avLst/>
              <a:gdLst/>
              <a:ahLst/>
              <a:cxnLst/>
              <a:rect r="r" b="b" t="t" l="l"/>
              <a:pathLst>
                <a:path h="1143000" w="19050000">
                  <a:moveTo>
                    <a:pt x="114300" y="0"/>
                  </a:moveTo>
                  <a:lnTo>
                    <a:pt x="18935700" y="0"/>
                  </a:lnTo>
                  <a:cubicBezTo>
                    <a:pt x="18998826" y="0"/>
                    <a:pt x="19050000" y="51174"/>
                    <a:pt x="19050000" y="114300"/>
                  </a:cubicBezTo>
                  <a:lnTo>
                    <a:pt x="19050000" y="1028700"/>
                  </a:lnTo>
                  <a:cubicBezTo>
                    <a:pt x="19050000" y="1091826"/>
                    <a:pt x="18998826" y="1143000"/>
                    <a:pt x="18935700" y="1143000"/>
                  </a:cubicBezTo>
                  <a:lnTo>
                    <a:pt x="114300" y="1143000"/>
                  </a:lnTo>
                  <a:cubicBezTo>
                    <a:pt x="51174" y="1143000"/>
                    <a:pt x="0" y="1091826"/>
                    <a:pt x="0" y="1028700"/>
                  </a:cubicBezTo>
                  <a:lnTo>
                    <a:pt x="0" y="114300"/>
                  </a:lnTo>
                  <a:cubicBezTo>
                    <a:pt x="0" y="51174"/>
                    <a:pt x="51174" y="0"/>
                    <a:pt x="114300" y="0"/>
                  </a:cubicBezTo>
                  <a:close/>
                </a:path>
              </a:pathLst>
            </a:custGeom>
            <a:solidFill>
              <a:srgbClr val="FFFFFF"/>
            </a:solidFill>
            <a:ln w="19050" cap="sq">
              <a:solidFill>
                <a:srgbClr val="053384"/>
              </a:solidFill>
              <a:prstDash val="solid"/>
              <a:miter/>
            </a:ln>
          </p:spPr>
        </p:sp>
        <p:sp>
          <p:nvSpPr>
            <p:cNvPr name="TextBox 28" id="28"/>
            <p:cNvSpPr txBox="true"/>
            <p:nvPr/>
          </p:nvSpPr>
          <p:spPr>
            <a:xfrm>
              <a:off x="0" y="-57150"/>
              <a:ext cx="19050000" cy="1200150"/>
            </a:xfrm>
            <a:prstGeom prst="rect">
              <a:avLst/>
            </a:prstGeom>
          </p:spPr>
          <p:txBody>
            <a:bodyPr anchor="ctr" rtlCol="false" tIns="50800" lIns="50800" bIns="50800" rIns="50800"/>
            <a:lstStyle/>
            <a:p>
              <a:pPr algn="ctr" marL="0" indent="0" lvl="0">
                <a:lnSpc>
                  <a:spcPts val="3499"/>
                </a:lnSpc>
                <a:spcBef>
                  <a:spcPct val="0"/>
                </a:spcBef>
              </a:pPr>
              <a:r>
                <a:rPr lang="en-US" sz="2499">
                  <a:solidFill>
                    <a:srgbClr val="000000"/>
                  </a:solidFill>
                  <a:latin typeface="Arial"/>
                  <a:ea typeface="Arial"/>
                  <a:cs typeface="Arial"/>
                  <a:sym typeface="Arial"/>
                </a:rPr>
                <a:t>Tích hợp XAI để giải thích kết quả theo từng quốc gia.</a:t>
              </a:r>
            </a:p>
          </p:txBody>
        </p:sp>
      </p:grpSp>
      <p:grpSp>
        <p:nvGrpSpPr>
          <p:cNvPr name="Group 29" id="29"/>
          <p:cNvGrpSpPr/>
          <p:nvPr/>
        </p:nvGrpSpPr>
        <p:grpSpPr>
          <a:xfrm rot="0">
            <a:off x="1586001" y="2787958"/>
            <a:ext cx="14717967" cy="883078"/>
            <a:chOff x="0" y="0"/>
            <a:chExt cx="19050000" cy="1143000"/>
          </a:xfrm>
        </p:grpSpPr>
        <p:sp>
          <p:nvSpPr>
            <p:cNvPr name="Freeform 30" id="30"/>
            <p:cNvSpPr/>
            <p:nvPr/>
          </p:nvSpPr>
          <p:spPr>
            <a:xfrm flipH="false" flipV="false" rot="0">
              <a:off x="0" y="0"/>
              <a:ext cx="19050000" cy="1143000"/>
            </a:xfrm>
            <a:custGeom>
              <a:avLst/>
              <a:gdLst/>
              <a:ahLst/>
              <a:cxnLst/>
              <a:rect r="r" b="b" t="t" l="l"/>
              <a:pathLst>
                <a:path h="1143000" w="19050000">
                  <a:moveTo>
                    <a:pt x="114300" y="0"/>
                  </a:moveTo>
                  <a:lnTo>
                    <a:pt x="18935700" y="0"/>
                  </a:lnTo>
                  <a:cubicBezTo>
                    <a:pt x="18998826" y="0"/>
                    <a:pt x="19050000" y="51174"/>
                    <a:pt x="19050000" y="114300"/>
                  </a:cubicBezTo>
                  <a:lnTo>
                    <a:pt x="19050000" y="1028700"/>
                  </a:lnTo>
                  <a:cubicBezTo>
                    <a:pt x="19050000" y="1091826"/>
                    <a:pt x="18998826" y="1143000"/>
                    <a:pt x="18935700" y="1143000"/>
                  </a:cubicBezTo>
                  <a:lnTo>
                    <a:pt x="114300" y="1143000"/>
                  </a:lnTo>
                  <a:cubicBezTo>
                    <a:pt x="51174" y="1143000"/>
                    <a:pt x="0" y="1091826"/>
                    <a:pt x="0" y="1028700"/>
                  </a:cubicBezTo>
                  <a:lnTo>
                    <a:pt x="0" y="114300"/>
                  </a:lnTo>
                  <a:cubicBezTo>
                    <a:pt x="0" y="51174"/>
                    <a:pt x="51174" y="0"/>
                    <a:pt x="114300" y="0"/>
                  </a:cubicBezTo>
                  <a:close/>
                </a:path>
              </a:pathLst>
            </a:custGeom>
            <a:solidFill>
              <a:srgbClr val="FFFFFF"/>
            </a:solidFill>
            <a:ln w="19050" cap="sq">
              <a:solidFill>
                <a:srgbClr val="053384"/>
              </a:solidFill>
              <a:prstDash val="solid"/>
              <a:miter/>
            </a:ln>
          </p:spPr>
        </p:sp>
        <p:sp>
          <p:nvSpPr>
            <p:cNvPr name="TextBox 31" id="31"/>
            <p:cNvSpPr txBox="true"/>
            <p:nvPr/>
          </p:nvSpPr>
          <p:spPr>
            <a:xfrm>
              <a:off x="0" y="-57150"/>
              <a:ext cx="19050000" cy="1200150"/>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000000"/>
                  </a:solidFill>
                  <a:latin typeface="Arial"/>
                  <a:ea typeface="Arial"/>
                  <a:cs typeface="Arial"/>
                  <a:sym typeface="Arial"/>
                </a:rPr>
                <a:t>  </a:t>
              </a:r>
              <a:r>
                <a:rPr lang="en-US" sz="2499" strike="noStrike" u="none">
                  <a:solidFill>
                    <a:srgbClr val="000000"/>
                  </a:solidFill>
                  <a:latin typeface="Arial"/>
                  <a:ea typeface="Arial"/>
                  <a:cs typeface="Arial"/>
                  <a:sym typeface="Arial"/>
                </a:rPr>
                <a:t>Xây</a:t>
              </a:r>
              <a:r>
                <a:rPr lang="en-US" sz="2499" strike="noStrike" u="none">
                  <a:solidFill>
                    <a:srgbClr val="000000"/>
                  </a:solidFill>
                  <a:latin typeface="Arial"/>
                  <a:ea typeface="Arial"/>
                  <a:cs typeface="Arial"/>
                  <a:sym typeface="Arial"/>
                </a:rPr>
                <a:t> </a:t>
              </a:r>
              <a:r>
                <a:rPr lang="en-US" sz="2499" strike="noStrike" u="none">
                  <a:solidFill>
                    <a:srgbClr val="000000"/>
                  </a:solidFill>
                  <a:latin typeface="Arial"/>
                  <a:ea typeface="Arial"/>
                  <a:cs typeface="Arial"/>
                  <a:sym typeface="Arial"/>
                </a:rPr>
                <a:t>c</a:t>
              </a:r>
              <a:r>
                <a:rPr lang="en-US" sz="2499" strike="noStrike" u="none">
                  <a:solidFill>
                    <a:srgbClr val="000000"/>
                  </a:solidFill>
                  <a:latin typeface="Arial"/>
                  <a:ea typeface="Arial"/>
                  <a:cs typeface="Arial"/>
                  <a:sym typeface="Arial"/>
                </a:rPr>
                <a:t>l</a:t>
              </a:r>
              <a:r>
                <a:rPr lang="en-US" sz="2499" strike="noStrike" u="none">
                  <a:solidFill>
                    <a:srgbClr val="000000"/>
                  </a:solidFill>
                  <a:latin typeface="Arial"/>
                  <a:ea typeface="Arial"/>
                  <a:cs typeface="Arial"/>
                  <a:sym typeface="Arial"/>
                </a:rPr>
                <a:t>ass</a:t>
              </a:r>
              <a:r>
                <a:rPr lang="en-US" sz="2499" strike="noStrike" u="none">
                  <a:solidFill>
                    <a:srgbClr val="000000"/>
                  </a:solidFill>
                  <a:latin typeface="Arial"/>
                  <a:ea typeface="Arial"/>
                  <a:cs typeface="Arial"/>
                  <a:sym typeface="Arial"/>
                </a:rPr>
                <a:t>i</a:t>
              </a:r>
              <a:r>
                <a:rPr lang="en-US" sz="2499" strike="noStrike" u="none">
                  <a:solidFill>
                    <a:srgbClr val="000000"/>
                  </a:solidFill>
                  <a:latin typeface="Arial"/>
                  <a:ea typeface="Arial"/>
                  <a:cs typeface="Arial"/>
                  <a:sym typeface="Arial"/>
                </a:rPr>
                <a:t>f</a:t>
              </a:r>
              <a:r>
                <a:rPr lang="en-US" sz="2499" strike="noStrike" u="none">
                  <a:solidFill>
                    <a:srgbClr val="000000"/>
                  </a:solidFill>
                  <a:latin typeface="Arial"/>
                  <a:ea typeface="Arial"/>
                  <a:cs typeface="Arial"/>
                  <a:sym typeface="Arial"/>
                </a:rPr>
                <a:t>i</a:t>
              </a:r>
              <a:r>
                <a:rPr lang="en-US" sz="2499" strike="noStrike" u="none">
                  <a:solidFill>
                    <a:srgbClr val="000000"/>
                  </a:solidFill>
                  <a:latin typeface="Arial"/>
                  <a:ea typeface="Arial"/>
                  <a:cs typeface="Arial"/>
                  <a:sym typeface="Arial"/>
                </a:rPr>
                <a:t>er</a:t>
              </a:r>
              <a:r>
                <a:rPr lang="en-US" sz="2499" strike="noStrike" u="none">
                  <a:solidFill>
                    <a:srgbClr val="000000"/>
                  </a:solidFill>
                  <a:latin typeface="Arial"/>
                  <a:ea typeface="Arial"/>
                  <a:cs typeface="Arial"/>
                  <a:sym typeface="Arial"/>
                </a:rPr>
                <a:t> </a:t>
              </a:r>
              <a:r>
                <a:rPr lang="en-US" sz="2499" strike="noStrike" u="none">
                  <a:solidFill>
                    <a:srgbClr val="000000"/>
                  </a:solidFill>
                  <a:latin typeface="Arial"/>
                  <a:ea typeface="Arial"/>
                  <a:cs typeface="Arial"/>
                  <a:sym typeface="Arial"/>
                </a:rPr>
                <a:t>r</a:t>
              </a:r>
              <a:r>
                <a:rPr lang="en-US" sz="2499" strike="noStrike" u="none">
                  <a:solidFill>
                    <a:srgbClr val="000000"/>
                  </a:solidFill>
                  <a:latin typeface="Arial"/>
                  <a:ea typeface="Arial"/>
                  <a:cs typeface="Arial"/>
                  <a:sym typeface="Arial"/>
                </a:rPr>
                <a:t>i</a:t>
              </a:r>
              <a:r>
                <a:rPr lang="en-US" sz="2499" strike="noStrike" u="none">
                  <a:solidFill>
                    <a:srgbClr val="000000"/>
                  </a:solidFill>
                  <a:latin typeface="Arial"/>
                  <a:ea typeface="Arial"/>
                  <a:cs typeface="Arial"/>
                  <a:sym typeface="Arial"/>
                </a:rPr>
                <a:t>êng</a:t>
              </a:r>
              <a:r>
                <a:rPr lang="en-US" sz="2499" strike="noStrike" u="none">
                  <a:solidFill>
                    <a:srgbClr val="000000"/>
                  </a:solidFill>
                  <a:latin typeface="Arial"/>
                  <a:ea typeface="Arial"/>
                  <a:cs typeface="Arial"/>
                  <a:sym typeface="Arial"/>
                </a:rPr>
                <a:t> ch</a:t>
              </a:r>
              <a:r>
                <a:rPr lang="en-US" sz="2499" strike="noStrike" u="none">
                  <a:solidFill>
                    <a:srgbClr val="000000"/>
                  </a:solidFill>
                  <a:latin typeface="Arial"/>
                  <a:ea typeface="Arial"/>
                  <a:cs typeface="Arial"/>
                  <a:sym typeface="Arial"/>
                </a:rPr>
                <a:t>o</a:t>
              </a:r>
              <a:r>
                <a:rPr lang="en-US" sz="2499" strike="noStrike" u="none">
                  <a:solidFill>
                    <a:srgbClr val="000000"/>
                  </a:solidFill>
                  <a:latin typeface="Arial"/>
                  <a:ea typeface="Arial"/>
                  <a:cs typeface="Arial"/>
                  <a:sym typeface="Arial"/>
                </a:rPr>
                <a:t> t</a:t>
              </a:r>
              <a:r>
                <a:rPr lang="en-US" sz="2499" strike="noStrike" u="none">
                  <a:solidFill>
                    <a:srgbClr val="000000"/>
                  </a:solidFill>
                  <a:latin typeface="Arial"/>
                  <a:ea typeface="Arial"/>
                  <a:cs typeface="Arial"/>
                  <a:sym typeface="Arial"/>
                </a:rPr>
                <a:t>ừn</a:t>
              </a:r>
              <a:r>
                <a:rPr lang="en-US" sz="2499" strike="noStrike" u="none">
                  <a:solidFill>
                    <a:srgbClr val="000000"/>
                  </a:solidFill>
                  <a:latin typeface="Arial"/>
                  <a:ea typeface="Arial"/>
                  <a:cs typeface="Arial"/>
                  <a:sym typeface="Arial"/>
                </a:rPr>
                <a:t>g </a:t>
              </a:r>
              <a:r>
                <a:rPr lang="en-US" sz="2499" strike="noStrike" u="none">
                  <a:solidFill>
                    <a:srgbClr val="000000"/>
                  </a:solidFill>
                  <a:latin typeface="Arial"/>
                  <a:ea typeface="Arial"/>
                  <a:cs typeface="Arial"/>
                  <a:sym typeface="Arial"/>
                </a:rPr>
                <a:t>bướ</a:t>
              </a:r>
              <a:r>
                <a:rPr lang="en-US" sz="2499" strike="noStrike" u="none">
                  <a:solidFill>
                    <a:srgbClr val="000000"/>
                  </a:solidFill>
                  <a:latin typeface="Arial"/>
                  <a:ea typeface="Arial"/>
                  <a:cs typeface="Arial"/>
                  <a:sym typeface="Arial"/>
                </a:rPr>
                <a:t>c </a:t>
              </a:r>
              <a:r>
                <a:rPr lang="en-US" sz="2499" strike="noStrike" u="none">
                  <a:solidFill>
                    <a:srgbClr val="000000"/>
                  </a:solidFill>
                  <a:latin typeface="Arial"/>
                  <a:ea typeface="Arial"/>
                  <a:cs typeface="Arial"/>
                  <a:sym typeface="Arial"/>
                </a:rPr>
                <a:t>dự</a:t>
              </a:r>
              <a:r>
                <a:rPr lang="en-US" sz="2499" strike="noStrike" u="none">
                  <a:solidFill>
                    <a:srgbClr val="000000"/>
                  </a:solidFill>
                  <a:latin typeface="Arial"/>
                  <a:ea typeface="Arial"/>
                  <a:cs typeface="Arial"/>
                  <a:sym typeface="Arial"/>
                </a:rPr>
                <a:t> </a:t>
              </a:r>
              <a:r>
                <a:rPr lang="en-US" sz="2499" strike="noStrike" u="none">
                  <a:solidFill>
                    <a:srgbClr val="000000"/>
                  </a:solidFill>
                  <a:latin typeface="Arial"/>
                  <a:ea typeface="Arial"/>
                  <a:cs typeface="Arial"/>
                  <a:sym typeface="Arial"/>
                </a:rPr>
                <a:t>báo (</a:t>
              </a:r>
              <a:r>
                <a:rPr lang="en-US" sz="2499" strike="noStrike" u="none">
                  <a:solidFill>
                    <a:srgbClr val="000000"/>
                  </a:solidFill>
                  <a:latin typeface="Arial"/>
                  <a:ea typeface="Arial"/>
                  <a:cs typeface="Arial"/>
                  <a:sym typeface="Arial"/>
                </a:rPr>
                <a:t>h</a:t>
              </a:r>
              <a:r>
                <a:rPr lang="en-US" sz="2499" strike="noStrike" u="none">
                  <a:solidFill>
                    <a:srgbClr val="000000"/>
                  </a:solidFill>
                  <a:latin typeface="Arial"/>
                  <a:ea typeface="Arial"/>
                  <a:cs typeface="Arial"/>
                  <a:sym typeface="Arial"/>
                </a:rPr>
                <a:t>=1..4)</a:t>
              </a:r>
              <a:r>
                <a:rPr lang="en-US" sz="2499" strike="noStrike" u="none">
                  <a:solidFill>
                    <a:srgbClr val="000000"/>
                  </a:solidFill>
                  <a:latin typeface="Arial"/>
                  <a:ea typeface="Arial"/>
                  <a:cs typeface="Arial"/>
                  <a:sym typeface="Arial"/>
                </a:rPr>
                <a:t>.</a:t>
              </a:r>
            </a:p>
          </p:txBody>
        </p:sp>
      </p:grpSp>
      <p:sp>
        <p:nvSpPr>
          <p:cNvPr name="Freeform 32" id="32"/>
          <p:cNvSpPr/>
          <p:nvPr/>
        </p:nvSpPr>
        <p:spPr>
          <a:xfrm flipH="false" flipV="false" rot="0">
            <a:off x="1586001" y="2830082"/>
            <a:ext cx="971221" cy="798829"/>
          </a:xfrm>
          <a:custGeom>
            <a:avLst/>
            <a:gdLst/>
            <a:ahLst/>
            <a:cxnLst/>
            <a:rect r="r" b="b" t="t" l="l"/>
            <a:pathLst>
              <a:path h="798829" w="971221">
                <a:moveTo>
                  <a:pt x="0" y="0"/>
                </a:moveTo>
                <a:lnTo>
                  <a:pt x="971221" y="0"/>
                </a:lnTo>
                <a:lnTo>
                  <a:pt x="971221" y="798830"/>
                </a:lnTo>
                <a:lnTo>
                  <a:pt x="0" y="7988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3" id="33"/>
          <p:cNvSpPr/>
          <p:nvPr/>
        </p:nvSpPr>
        <p:spPr>
          <a:xfrm flipH="false" flipV="false" rot="0">
            <a:off x="1586001" y="3876472"/>
            <a:ext cx="971221" cy="798829"/>
          </a:xfrm>
          <a:custGeom>
            <a:avLst/>
            <a:gdLst/>
            <a:ahLst/>
            <a:cxnLst/>
            <a:rect r="r" b="b" t="t" l="l"/>
            <a:pathLst>
              <a:path h="798829" w="971221">
                <a:moveTo>
                  <a:pt x="0" y="0"/>
                </a:moveTo>
                <a:lnTo>
                  <a:pt x="971221" y="0"/>
                </a:lnTo>
                <a:lnTo>
                  <a:pt x="971221" y="798829"/>
                </a:lnTo>
                <a:lnTo>
                  <a:pt x="0" y="79882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4" id="34"/>
          <p:cNvSpPr/>
          <p:nvPr/>
        </p:nvSpPr>
        <p:spPr>
          <a:xfrm flipH="false" flipV="false" rot="0">
            <a:off x="1596284" y="4835954"/>
            <a:ext cx="960939" cy="790372"/>
          </a:xfrm>
          <a:custGeom>
            <a:avLst/>
            <a:gdLst/>
            <a:ahLst/>
            <a:cxnLst/>
            <a:rect r="r" b="b" t="t" l="l"/>
            <a:pathLst>
              <a:path h="790372" w="960939">
                <a:moveTo>
                  <a:pt x="0" y="0"/>
                </a:moveTo>
                <a:lnTo>
                  <a:pt x="960938" y="0"/>
                </a:lnTo>
                <a:lnTo>
                  <a:pt x="960938" y="790372"/>
                </a:lnTo>
                <a:lnTo>
                  <a:pt x="0" y="79037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5" id="35"/>
          <p:cNvSpPr/>
          <p:nvPr/>
        </p:nvSpPr>
        <p:spPr>
          <a:xfrm flipH="false" flipV="false" rot="0">
            <a:off x="1596284" y="5790423"/>
            <a:ext cx="960939" cy="790372"/>
          </a:xfrm>
          <a:custGeom>
            <a:avLst/>
            <a:gdLst/>
            <a:ahLst/>
            <a:cxnLst/>
            <a:rect r="r" b="b" t="t" l="l"/>
            <a:pathLst>
              <a:path h="790372" w="960939">
                <a:moveTo>
                  <a:pt x="0" y="0"/>
                </a:moveTo>
                <a:lnTo>
                  <a:pt x="960938" y="0"/>
                </a:lnTo>
                <a:lnTo>
                  <a:pt x="960938" y="790372"/>
                </a:lnTo>
                <a:lnTo>
                  <a:pt x="0" y="7903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6" id="36"/>
          <p:cNvSpPr/>
          <p:nvPr/>
        </p:nvSpPr>
        <p:spPr>
          <a:xfrm flipH="false" flipV="false" rot="0">
            <a:off x="1596284" y="6835426"/>
            <a:ext cx="960939" cy="790372"/>
          </a:xfrm>
          <a:custGeom>
            <a:avLst/>
            <a:gdLst/>
            <a:ahLst/>
            <a:cxnLst/>
            <a:rect r="r" b="b" t="t" l="l"/>
            <a:pathLst>
              <a:path h="790372" w="960939">
                <a:moveTo>
                  <a:pt x="0" y="0"/>
                </a:moveTo>
                <a:lnTo>
                  <a:pt x="960938" y="0"/>
                </a:lnTo>
                <a:lnTo>
                  <a:pt x="960938" y="790372"/>
                </a:lnTo>
                <a:lnTo>
                  <a:pt x="0" y="79037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7" id="37"/>
          <p:cNvSpPr/>
          <p:nvPr/>
        </p:nvSpPr>
        <p:spPr>
          <a:xfrm flipH="false" flipV="false" rot="0">
            <a:off x="1596284" y="7825162"/>
            <a:ext cx="960939" cy="790372"/>
          </a:xfrm>
          <a:custGeom>
            <a:avLst/>
            <a:gdLst/>
            <a:ahLst/>
            <a:cxnLst/>
            <a:rect r="r" b="b" t="t" l="l"/>
            <a:pathLst>
              <a:path h="790372" w="960939">
                <a:moveTo>
                  <a:pt x="0" y="0"/>
                </a:moveTo>
                <a:lnTo>
                  <a:pt x="960938" y="0"/>
                </a:lnTo>
                <a:lnTo>
                  <a:pt x="960938" y="790372"/>
                </a:lnTo>
                <a:lnTo>
                  <a:pt x="0" y="79037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38" id="38"/>
          <p:cNvSpPr/>
          <p:nvPr/>
        </p:nvSpPr>
        <p:spPr>
          <a:xfrm flipH="false" flipV="false" rot="0">
            <a:off x="1596284" y="8827545"/>
            <a:ext cx="960939" cy="790372"/>
          </a:xfrm>
          <a:custGeom>
            <a:avLst/>
            <a:gdLst/>
            <a:ahLst/>
            <a:cxnLst/>
            <a:rect r="r" b="b" t="t" l="l"/>
            <a:pathLst>
              <a:path h="790372" w="960939">
                <a:moveTo>
                  <a:pt x="0" y="0"/>
                </a:moveTo>
                <a:lnTo>
                  <a:pt x="960938" y="0"/>
                </a:lnTo>
                <a:lnTo>
                  <a:pt x="960938" y="790372"/>
                </a:lnTo>
                <a:lnTo>
                  <a:pt x="0" y="790372"/>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39" id="39"/>
          <p:cNvSpPr txBox="true"/>
          <p:nvPr/>
        </p:nvSpPr>
        <p:spPr>
          <a:xfrm rot="0">
            <a:off x="293484" y="573510"/>
            <a:ext cx="17303001" cy="804777"/>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V. KẾT LUẬN VÀ HƯỚNG PHÁT TRIỂN</a:t>
            </a:r>
          </a:p>
        </p:txBody>
      </p:sp>
      <p:sp>
        <p:nvSpPr>
          <p:cNvPr name="TextBox 40" id="40"/>
          <p:cNvSpPr txBox="true"/>
          <p:nvPr/>
        </p:nvSpPr>
        <p:spPr>
          <a:xfrm rot="0">
            <a:off x="293484" y="1873558"/>
            <a:ext cx="11210173" cy="571500"/>
          </a:xfrm>
          <a:prstGeom prst="rect">
            <a:avLst/>
          </a:prstGeom>
        </p:spPr>
        <p:txBody>
          <a:bodyPr anchor="t" rtlCol="false" tIns="0" lIns="0" bIns="0" rIns="0">
            <a:spAutoFit/>
          </a:bodyPr>
          <a:lstStyle/>
          <a:p>
            <a:pPr algn="l">
              <a:lnSpc>
                <a:spcPts val="4319"/>
              </a:lnSpc>
            </a:pPr>
            <a:r>
              <a:rPr lang="en-US" sz="3599" b="true">
                <a:solidFill>
                  <a:srgbClr val="FF751F"/>
                </a:solidFill>
                <a:latin typeface="Arial Bold"/>
                <a:ea typeface="Arial Bold"/>
                <a:cs typeface="Arial Bold"/>
                <a:sym typeface="Arial Bold"/>
              </a:rPr>
              <a:t>5.3. Hướng phát triển</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43400" y="342900"/>
            <a:ext cx="9601200" cy="9601200"/>
            <a:chOff x="0" y="0"/>
            <a:chExt cx="12801600" cy="12801600"/>
          </a:xfrm>
        </p:grpSpPr>
        <p:sp>
          <p:nvSpPr>
            <p:cNvPr name="Freeform 3" id="3"/>
            <p:cNvSpPr/>
            <p:nvPr/>
          </p:nvSpPr>
          <p:spPr>
            <a:xfrm flipH="false" flipV="false" rot="0">
              <a:off x="0" y="0"/>
              <a:ext cx="12801600" cy="12801600"/>
            </a:xfrm>
            <a:custGeom>
              <a:avLst/>
              <a:gdLst/>
              <a:ahLst/>
              <a:cxnLst/>
              <a:rect r="r" b="b" t="t" l="l"/>
              <a:pathLst>
                <a:path h="12801600" w="12801600">
                  <a:moveTo>
                    <a:pt x="0" y="0"/>
                  </a:moveTo>
                  <a:lnTo>
                    <a:pt x="12801600" y="0"/>
                  </a:lnTo>
                  <a:lnTo>
                    <a:pt x="12801600" y="12801600"/>
                  </a:lnTo>
                  <a:lnTo>
                    <a:pt x="0" y="12801600"/>
                  </a:lnTo>
                  <a:close/>
                </a:path>
              </a:pathLst>
            </a:custGeom>
            <a:blipFill>
              <a:blip r:embed="rId3">
                <a:alphaModFix amt="3000"/>
              </a:blip>
              <a:stretch>
                <a:fillRect l="0" t="0" r="0" b="0"/>
              </a:stretch>
            </a:blipFill>
          </p:spPr>
        </p:sp>
      </p:grpSp>
      <p:grpSp>
        <p:nvGrpSpPr>
          <p:cNvPr name="Group 4" id="4"/>
          <p:cNvGrpSpPr/>
          <p:nvPr/>
        </p:nvGrpSpPr>
        <p:grpSpPr>
          <a:xfrm rot="0">
            <a:off x="0" y="10148888"/>
            <a:ext cx="18288000" cy="138112"/>
            <a:chOff x="0" y="0"/>
            <a:chExt cx="24384000" cy="184150"/>
          </a:xfrm>
        </p:grpSpPr>
        <p:sp>
          <p:nvSpPr>
            <p:cNvPr name="Freeform 5" id="5"/>
            <p:cNvSpPr/>
            <p:nvPr/>
          </p:nvSpPr>
          <p:spPr>
            <a:xfrm flipH="false" flipV="false" rot="0">
              <a:off x="0" y="0"/>
              <a:ext cx="24384000" cy="184150"/>
            </a:xfrm>
            <a:custGeom>
              <a:avLst/>
              <a:gdLst/>
              <a:ahLst/>
              <a:cxnLst/>
              <a:rect r="r" b="b" t="t" l="l"/>
              <a:pathLst>
                <a:path h="184150" w="24384000">
                  <a:moveTo>
                    <a:pt x="0" y="0"/>
                  </a:moveTo>
                  <a:lnTo>
                    <a:pt x="24384000" y="0"/>
                  </a:lnTo>
                  <a:lnTo>
                    <a:pt x="24384000" y="184150"/>
                  </a:lnTo>
                  <a:lnTo>
                    <a:pt x="0" y="184150"/>
                  </a:lnTo>
                  <a:lnTo>
                    <a:pt x="0" y="0"/>
                  </a:lnTo>
                  <a:close/>
                </a:path>
              </a:pathLst>
            </a:custGeom>
            <a:blipFill>
              <a:blip r:embed="rId4"/>
              <a:stretch>
                <a:fillRect l="0" t="0" r="-26638" b="-1079386"/>
              </a:stretch>
            </a:blipFill>
          </p:spPr>
        </p:sp>
      </p:grpSp>
      <p:grpSp>
        <p:nvGrpSpPr>
          <p:cNvPr name="Group 6" id="6"/>
          <p:cNvGrpSpPr/>
          <p:nvPr/>
        </p:nvGrpSpPr>
        <p:grpSpPr>
          <a:xfrm rot="0">
            <a:off x="12915900" y="9534525"/>
            <a:ext cx="4114800" cy="547688"/>
            <a:chOff x="0" y="0"/>
            <a:chExt cx="5486400" cy="730250"/>
          </a:xfrm>
        </p:grpSpPr>
        <p:sp>
          <p:nvSpPr>
            <p:cNvPr name="Freeform 7" id="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5">
                <a:alphaModFix amt="0"/>
              </a:blip>
              <a:stretch>
                <a:fillRect l="0" t="-96391" r="0" b="-96391"/>
              </a:stretch>
            </a:blipFill>
          </p:spPr>
        </p:sp>
        <p:sp>
          <p:nvSpPr>
            <p:cNvPr name="TextBox 8" id="8"/>
            <p:cNvSpPr txBox="true"/>
            <p:nvPr/>
          </p:nvSpPr>
          <p:spPr>
            <a:xfrm>
              <a:off x="0" y="0"/>
              <a:ext cx="5486400" cy="730250"/>
            </a:xfrm>
            <a:prstGeom prst="rect">
              <a:avLst/>
            </a:prstGeom>
          </p:spPr>
          <p:txBody>
            <a:bodyPr anchor="ctr" rtlCol="false" tIns="0" lIns="0" bIns="0" rIns="0"/>
            <a:lstStyle/>
            <a:p>
              <a:pPr algn="r">
                <a:lnSpc>
                  <a:spcPts val="2160"/>
                </a:lnSpc>
              </a:pPr>
              <a:r>
                <a:rPr lang="en-US" sz="1800">
                  <a:solidFill>
                    <a:srgbClr val="767676"/>
                  </a:solidFill>
                  <a:latin typeface="Aptos"/>
                  <a:ea typeface="Aptos"/>
                  <a:cs typeface="Aptos"/>
                  <a:sym typeface="Aptos"/>
                </a:rPr>
                <a:t>31</a:t>
              </a:r>
            </a:p>
          </p:txBody>
        </p:sp>
      </p:grpSp>
      <p:grpSp>
        <p:nvGrpSpPr>
          <p:cNvPr name="Group 9" id="9"/>
          <p:cNvGrpSpPr/>
          <p:nvPr/>
        </p:nvGrpSpPr>
        <p:grpSpPr>
          <a:xfrm rot="0">
            <a:off x="3176935" y="2937449"/>
            <a:ext cx="11934130" cy="4412103"/>
            <a:chOff x="0" y="0"/>
            <a:chExt cx="15912173" cy="5882804"/>
          </a:xfrm>
        </p:grpSpPr>
        <p:sp>
          <p:nvSpPr>
            <p:cNvPr name="Freeform 10" id="10"/>
            <p:cNvSpPr/>
            <p:nvPr/>
          </p:nvSpPr>
          <p:spPr>
            <a:xfrm flipH="false" flipV="false" rot="0">
              <a:off x="0" y="0"/>
              <a:ext cx="15912171" cy="5882809"/>
            </a:xfrm>
            <a:custGeom>
              <a:avLst/>
              <a:gdLst/>
              <a:ahLst/>
              <a:cxnLst/>
              <a:rect r="r" b="b" t="t" l="l"/>
              <a:pathLst>
                <a:path h="5882809" w="15912171">
                  <a:moveTo>
                    <a:pt x="0" y="0"/>
                  </a:moveTo>
                  <a:lnTo>
                    <a:pt x="15912171" y="0"/>
                  </a:lnTo>
                  <a:lnTo>
                    <a:pt x="15912171" y="5882809"/>
                  </a:lnTo>
                  <a:lnTo>
                    <a:pt x="0" y="5882809"/>
                  </a:lnTo>
                  <a:close/>
                </a:path>
              </a:pathLst>
            </a:custGeom>
            <a:blipFill>
              <a:blip r:embed="rId5">
                <a:alphaModFix amt="0"/>
              </a:blip>
              <a:stretch>
                <a:fillRect l="0" t="-27915" r="0" b="22506"/>
              </a:stretch>
            </a:blipFill>
          </p:spPr>
        </p:sp>
        <p:sp>
          <p:nvSpPr>
            <p:cNvPr name="TextBox 11" id="11"/>
            <p:cNvSpPr txBox="true"/>
            <p:nvPr/>
          </p:nvSpPr>
          <p:spPr>
            <a:xfrm>
              <a:off x="0" y="-257175"/>
              <a:ext cx="15912173" cy="6139979"/>
            </a:xfrm>
            <a:prstGeom prst="rect">
              <a:avLst/>
            </a:prstGeom>
          </p:spPr>
          <p:txBody>
            <a:bodyPr anchor="ctr" rtlCol="false" tIns="0" lIns="0" bIns="0" rIns="0"/>
            <a:lstStyle/>
            <a:p>
              <a:pPr algn="ctr">
                <a:lnSpc>
                  <a:spcPts val="11250"/>
                </a:lnSpc>
              </a:pPr>
              <a:r>
                <a:rPr lang="en-US" sz="7500" b="true">
                  <a:solidFill>
                    <a:srgbClr val="053384"/>
                  </a:solidFill>
                  <a:latin typeface="Arial Bold"/>
                  <a:ea typeface="Arial Bold"/>
                  <a:cs typeface="Arial Bold"/>
                  <a:sym typeface="Arial Bold"/>
                </a:rPr>
                <a:t>TRÂN TRỌNG CẢM ƠN QUÝ THẦY CÔ VÀ HỘI ĐỒNG ĐÃ LẮNG NGHE!</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DAHOJNoTHmk</dc:identifier>
  <dcterms:modified xsi:type="dcterms:W3CDTF">2011-08-01T06:04:30Z</dcterms:modified>
  <cp:revision>1</cp:revision>
  <dc:title>Phạm Hữu Luân_110122016_DA22TTA</dc:title>
</cp:coreProperties>
</file>